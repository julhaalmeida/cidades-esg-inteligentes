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ba845f71-deb9-9b58-6ed8-0a51637d97bb}">
          <p14:sldIdLst>
            <p14:sldId id="256"/>
          </p14:sldIdLst>
        </p14:section>
        <p14:section name="Projeto e arquitetura" id="{df9b6535-9b1e-196d-df01-9b3259061733}">
          <p14:sldIdLst>
            <p14:sldId id="257"/>
            <p14:sldId id="258"/>
          </p14:sldIdLst>
        </p14:section>
        <p14:section name="Pipeline CI/CD" id="{ce1d3f73-2d55-86db-608a-ff394a090154}">
          <p14:sldIdLst>
            <p14:sldId id="259"/>
            <p14:sldId id="260"/>
            <p14:sldId id="261"/>
          </p14:sldIdLst>
        </p14:section>
        <p14:section name="Docker" id="{c3724296-68bd-751d-67e9-f171573f9055}">
          <p14:sldIdLst>
            <p14:sldId id="262"/>
            <p14:sldId id="263"/>
            <p14:sldId id="264"/>
          </p14:sldIdLst>
        </p14:section>
        <p14:section name="Evidências" id="{c4d9af03-1d23-4a14-36eb-69b7c8cad839}">
          <p14:sldIdLst>
            <p14:sldId id="265"/>
            <p14:sldId id="266"/>
            <p14:sldId id="267"/>
            <p14:sldId id="268"/>
            <p14:sldId id="269"/>
            <p14:sldId id="270"/>
          </p14:sldIdLst>
        </p14:section>
        <p14:section name="Desafios e checklist" id="{24da6c9a-cb0b-5c74-7d89-02321f282dca}">
          <p14:sldIdLst>
            <p14:sldId id="271"/>
            <p14:sldId id="272"/>
          </p14:sldIdLst>
        </p14:section>
        <p14:section name="Encerramento" id="{15323059-0335-255a-a390-443ec9c6f073}">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8241E"/>
                </a:solidFill>
                <a:latin typeface="+mn-lt"/>
              </a:defRPr>
            </a:pPr>
            <a:r>
              <a:rPr sz="1300" b="0" i="0" u="none" strike="noStrike">
                <a:solidFill>
                  <a:srgbClr val="18241E"/>
                </a:solidFill>
                <a:latin typeface="+mn-lt"/>
              </a:rPr>
              <a:t>Ranking ESG com os dados de demonstração (ilustrativos)</a:t>
            </a:r>
          </a:p>
        </c:rich>
      </c:tx>
      <c:layout/>
      <c:overlay val="0"/>
    </c:title>
    <c:autoTitleDeleted val="0"/>
    <c:plotArea>
      <c:layout/>
      <c:barChart>
        <c:barDir val="bar"/>
        <c:grouping val="clustered"/>
        <c:varyColors val="0"/>
        <c:ser>
          <c:idx val="0"/>
          <c:order val="0"/>
          <c:tx>
            <c:strRef>
              <c:f>Sheet1!$B$1</c:f>
              <c:strCache>
                <c:ptCount val="1"/>
                <c:pt idx="0">
                  <c:v>Score ESG</c:v>
                </c:pt>
              </c:strCache>
            </c:strRef>
          </c:tx>
          <c:spPr>
            <a:solidFill>
              <a:srgbClr val="2E8A57"/>
            </a:solidFill>
            <a:effectLst/>
          </c:spPr>
          <c:invertIfNegative val="0"/>
          <c:dLbls>
            <c:numFmt formatCode="0.0" sourceLinked="0"/>
            <c:txPr>
              <a:bodyPr/>
              <a:lstStyle/>
              <a:p>
                <a:pPr>
                  <a:defRPr b="0" i="0" strike="noStrike" sz="1200" u="none">
                    <a:solidFill>
                      <a:srgbClr val="18241E"/>
                    </a:solidFill>
                    <a:latin typeface="+mn-lt"/>
                  </a:defRPr>
                </a:pPr>
              </a:p>
            </c:txPr>
            <c:showLegendKey val="0"/>
            <c:showVal val="1"/>
            <c:showCatName val="0"/>
            <c:showSerName val="0"/>
            <c:showPercent val="0"/>
            <c:showBubbleSize val="0"/>
            <c:showLeaderLines val="0"/>
          </c:dLbls>
          <c:cat>
            <c:multiLvlStrRef>
              <c:f>Sheet1!$A$2:$A$7</c:f>
              <c:multiLvlStrCache>
                <c:ptCount val="6"/>
                <c:lvl>
                  <c:pt idx="0">
                    <c:v>Curitiba (PR)</c:v>
                  </c:pt>
                  <c:pt idx="1">
                    <c:v>Florianópolis (SC)</c:v>
                  </c:pt>
                  <c:pt idx="2">
                    <c:v>Belo Horizonte (MG)</c:v>
                  </c:pt>
                  <c:pt idx="3">
                    <c:v>São Paulo (SP)</c:v>
                  </c:pt>
                  <c:pt idx="4">
                    <c:v>Recife (PE)</c:v>
                  </c:pt>
                  <c:pt idx="5">
                    <c:v>Belém (PA)</c:v>
                  </c:pt>
                </c:lvl>
              </c:multiLvlStrCache>
            </c:multiLvlStrRef>
          </c:cat>
          <c:val>
            <c:numRef>
              <c:f>Sheet1!$B$2:$B$7</c:f>
              <c:numCache>
                <c:formatCode>General</c:formatCode>
                <c:ptCount val="6"/>
                <c:pt idx="0">
                  <c:v>83</c:v>
                </c:pt>
                <c:pt idx="1">
                  <c:v>69.8</c:v>
                </c:pt>
                <c:pt idx="2">
                  <c:v>66.5</c:v>
                </c:pt>
                <c:pt idx="3">
                  <c:v>64.6</c:v>
                </c:pt>
                <c:pt idx="4">
                  <c:v>56.7</c:v>
                </c:pt>
                <c:pt idx="5">
                  <c:v>50</c:v>
                </c:pt>
              </c:numCache>
            </c:numRef>
          </c:val>
        </c:ser>
        <c:dLbls>
          <c:numFmt formatCode="0.0" sourceLinked="0"/>
          <c:txPr>
            <a:bodyPr/>
            <a:lstStyle/>
            <a:p>
              <a:pPr>
                <a:defRPr b="0" i="0" strike="noStrike" sz="1200" u="none">
                  <a:solidFill>
                    <a:srgbClr val="18241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852"/>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Apresentação do projeto Cidades ESG Inteligentes e dos integrantes. A proposta: aplicar práticas completas de DevOps (CI/CD, Docker, orquestração e deploy em dois ambientes) a uma API Java com tema ESG.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API tem 15 endpoints (CRUD de cidades e medições, score, ranking, info e health check), documentados no Swagger. O gráfico mostra o ranking gerado pelos dados de demonstração da migração V2, que são ilustrativos.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desenvolvedor faz push na main e o GitHub Actions executa o pipeline. A etapa Docker publica a imagem versionada no GitHub Container Registry. As etapas de deploy acionam os serviços do Render (infraestrutura definida no render.yaml), que usam um PostgreSQL gerenciado com um schema isolado para cada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cinco jobs aparecem como um grafo na aba Actions. O ambiente production do GitHub tem revisores obrigatórios, então o último job espera a aprovação de um integrante.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com o que cada job faz e o critério para o pipeline seguir. Qualquer falha interrompe o fluxo antes do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ponto central é a rastreabilidade: o pipeline só considera o deploy concluído quando a aplicação responde com o commit esperado. Assim, produção recebe exatamente o que foi validado em staging.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Multi-stage: o compilador e o Maven ficam só na etapa de build. As camadas do Spring Boot fazem um novo deploy enviar só a camada do código. A imagem roda sem root, tem health check e a JVM está ajustada para os 512 MB do plano gratuito.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banco fica isolado em uma rede interna, sem porta exposta. Os dados ficam no volume pgdata e sobrevivem a reinícios. Todas as configurações vêm de variáveis de ambiente do arquivo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Comandos usados no dia a dia e no pipeline. A imagem publicada no GitHub Container Registry recebe a tag com o commit, o que permite saber exatamente qual versão está em cada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Execução #3 do pipeline (commit 6677280), disparada por push na main: Build, Testes, Docker, Deploy Staging e Deploy Produção concluídos. À direita, os passos do job de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job Testes roda os 40 testes unitários e os 4 de integração contra um PostgreSQL real. O job Docker constrói a imagem, sobe aplicação e banco com o Compose, roda os smoke tests e publica a imagem no GitHub Container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deploy em staging só termina quando /api/info responde com o commit da execução; depois rodam os smoke tests. O ambiente production do GitHub exige a aprovação de um revisor.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Após a aprovação, o mesmo commit validado em staging foi publicado em produção. A imagem versionada fica no GitHub Container Registry, com a tag do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dois ambientes no ar no Render. A cor da faixa identifica o ambiente; versão e commit mostram que staging e produção rodam exatamente a mesma versão, com o banco conectado.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esquerda, os recursos criados pelo Blueprint render.yaml. À direita, o docker compose up executado no pipeline: cria as duas redes e os dois volumes, sobe o banco e a aplicação e espera os health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Principais desafios do projeto e as soluções adotadas. Outros detalhes (fim de linha no Windows, HTTPS atrás do proxy do Render) estão no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obrigatório da atividade, também anexado ao final do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do repositório e dos dois ambientes no Render. No plano gratuito, o primeiro acesso depois de 15 minutos parado leva cerca de 1 minuto, enquanto o serviço acorda.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rgbClr val="173D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874520"/>
            <a:ext cx="6949440" cy="1417320"/>
          </a:xfrm>
          <a:prstGeom prst="rect">
            <a:avLst/>
          </a:prstGeom>
          <a:noFill/>
          <a:ln/>
        </p:spPr>
        <p:txBody>
          <a:bodyPr wrap="square" rtlCol="0"/>
          <a:lstStyle>
            <a:lvl1pPr indent="0" marL="0">
              <a:buNone/>
              <a:defRPr lang="en-US" sz="5200" b="1" dirty="0">
                <a:solidFill>
                  <a:schemeClr val="bg1"/>
                </a:solidFill>
              </a:defRPr>
            </a:lvl1pPr>
          </a:lstStyle>
          <a:p>
            <a:pPr indent="0" marL="0">
              <a:buNone/>
            </a:pPr>
            <a:endParaRPr lang="en-US" sz="5200" dirty="0"/>
          </a:p>
        </p:txBody>
      </p:sp>
      <p:sp>
        <p:nvSpPr>
          <p:cNvPr id="3" name="Text 0"/>
          <p:cNvSpPr/>
          <p:nvPr>
            <p:ph idx="101" type="body" hasCustomPrompt="1"/>
          </p:nvPr>
        </p:nvSpPr>
        <p:spPr>
          <a:xfrm>
            <a:off x="685800" y="3429000"/>
            <a:ext cx="667512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U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4A5852"/>
                </a:solidFill>
              </a:rPr>
              <a:t>Cidades ESG Inteligentes | DevOps</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ECHAMENTO">
    <p:bg>
      <p:bgPr>
        <a:solidFill>
          <a:srgbClr val="173D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640080"/>
            <a:ext cx="10789920" cy="91440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Julhaalmeida/cidades-esg-inteligentes" TargetMode="External"/><Relationship Id="rId4" Type="http://schemas.openxmlformats.org/officeDocument/2006/relationships/hyperlink" Target="https://cidades-esg-staging.onrender.com" TargetMode="External"/><Relationship Id="rId6" Type="http://schemas.openxmlformats.org/officeDocument/2006/relationships/hyperlink" Target="https://cidades-esg-production.onrender.com" TargetMode="External"/><Relationship Id="rId8" Type="http://schemas.openxmlformats.org/officeDocument/2006/relationships/hyperlink" Target="https://cidades-esg-production.onrender.com/swagger-ui.html" TargetMode="External"/><Relationship Id="rId1" Type="http://schemas.openxmlformats.org/officeDocument/2006/relationships/image" Target="../media/image-18-1.png"/><Relationship Id="rId3" Type="http://schemas.openxmlformats.org/officeDocument/2006/relationships/image" Target="../media/image-18-2.png"/><Relationship Id="rId5" Type="http://schemas.openxmlformats.org/officeDocument/2006/relationships/image" Target="../media/image-18-3.png"/><Relationship Id="rId7" Type="http://schemas.openxmlformats.org/officeDocument/2006/relationships/image" Target="../media/image-18-4.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640080"/>
            <a:ext cx="7315200" cy="365760"/>
          </a:xfrm>
          <a:prstGeom prst="rect">
            <a:avLst/>
          </a:prstGeom>
          <a:noFill/>
          <a:ln/>
        </p:spPr>
        <p:txBody>
          <a:bodyPr wrap="square" lIns="0" tIns="0" rIns="0" bIns="0" rtlCol="0" anchor="t"/>
          <a:lstStyle/>
          <a:p>
            <a:pPr indent="0" marL="0">
              <a:buNone/>
            </a:pPr>
            <a:r>
              <a:rPr lang="en-US" sz="1400" b="1" dirty="0">
                <a:solidFill>
                  <a:schemeClr val="accent4"/>
                </a:solidFill>
              </a:rPr>
              <a:t>Atividade avaliativa | Navegando pelo mundo DevOps</a:t>
            </a:r>
            <a:endParaRPr lang="en-US" sz="1400" dirty="0"/>
          </a:p>
        </p:txBody>
      </p:sp>
      <p:sp>
        <p:nvSpPr>
          <p:cNvPr id="3" name="Text 0"/>
          <p:cNvSpPr/>
          <p:nvPr>
            <p:ph idx="100" type="title" hasCustomPrompt="1"/>
          </p:nvPr>
        </p:nvSpPr>
        <p:spPr>
          <a:xfrm>
            <a:off x="685800" y="1874520"/>
            <a:ext cx="6949440" cy="1417320"/>
          </a:xfrm>
          <a:prstGeom prst="rect">
            <a:avLst/>
          </a:prstGeom>
          <a:noFill/>
          <a:ln/>
        </p:spPr>
        <p:txBody>
          <a:bodyPr wrap="square" lIns="0" tIns="0" rIns="0" bIns="0" rtlCol="0" anchor="b"/>
          <a:lstStyle/>
          <a:p>
            <a:pPr algn="l" indent="0" marL="0">
              <a:buNone/>
            </a:pPr>
            <a:r>
              <a:rPr lang="en-US" sz="5200" b="1" dirty="0">
                <a:solidFill>
                  <a:schemeClr val="bg1"/>
                </a:solidFill>
              </a:rPr>
              <a:t>Cidades ESG Inteligentes</a:t>
            </a:r>
            <a:endParaRPr lang="en-US" sz="5200" dirty="0"/>
          </a:p>
        </p:txBody>
      </p:sp>
      <p:sp>
        <p:nvSpPr>
          <p:cNvPr id="4" name="Text 0"/>
          <p:cNvSpPr/>
          <p:nvPr>
            <p:ph idx="101" type="body" hasCustomPrompt="1"/>
          </p:nvPr>
        </p:nvSpPr>
        <p:spPr>
          <a:xfrm>
            <a:off x="685800" y="3429000"/>
            <a:ext cx="6675120" cy="914400"/>
          </a:xfrm>
          <a:prstGeom prst="rect">
            <a:avLst/>
          </a:prstGeom>
          <a:noFill/>
          <a:ln/>
        </p:spPr>
        <p:txBody>
          <a:bodyPr wrap="square" lIns="0" tIns="0" rIns="0" bIns="0" rtlCol="0" anchor="t"/>
          <a:lstStyle/>
          <a:p>
            <a:pPr algn="l" indent="0" marL="0">
              <a:buNone/>
            </a:pPr>
            <a:r>
              <a:rPr lang="en-US" sz="2200" dirty="0">
                <a:solidFill>
                  <a:schemeClr val="bg2"/>
                </a:solidFill>
              </a:rPr>
              <a:t>Pipeline CI/CD, containerização com Docker e deploy automatizado em staging e produção</a:t>
            </a:r>
            <a:endParaRPr lang="en-US" sz="2200" dirty="0"/>
          </a:p>
        </p:txBody>
      </p:sp>
      <p:sp>
        <p:nvSpPr>
          <p:cNvPr id="5" name="Text 3"/>
          <p:cNvSpPr txBox="1"/>
          <p:nvPr/>
        </p:nvSpPr>
        <p:spPr>
          <a:xfrm>
            <a:off x="685800" y="4754880"/>
            <a:ext cx="6400800" cy="1143000"/>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Integrantes</a:t>
            </a:r>
            <a:endParaRPr lang="en-US" sz="1800" dirty="0"/>
          </a:p>
          <a:p>
            <a:pPr indent="0" marL="0">
              <a:spcAft>
                <a:spcPts val="400"/>
              </a:spcAft>
              <a:buNone/>
            </a:pPr>
            <a:r>
              <a:rPr lang="en-US" sz="1800" dirty="0">
                <a:solidFill>
                  <a:schemeClr val="bg1"/>
                </a:solidFill>
              </a:rPr>
              <a:t>Julha Almeida Araujo, RM 562697</a:t>
            </a:r>
            <a:endParaRPr lang="en-US" sz="1800" dirty="0"/>
          </a:p>
          <a:p>
            <a:pPr indent="0" marL="0">
              <a:spcAft>
                <a:spcPts val="400"/>
              </a:spcAft>
              <a:buNone/>
            </a:pPr>
            <a:r>
              <a:rPr lang="en-US" sz="1800" dirty="0">
                <a:solidFill>
                  <a:schemeClr val="bg1"/>
                </a:solidFill>
              </a:rPr>
              <a:t>Walter Seixas Nogueira, RM 565533</a:t>
            </a:r>
            <a:endParaRPr lang="en-US" sz="1800" dirty="0"/>
          </a:p>
        </p:txBody>
      </p:sp>
      <p:sp>
        <p:nvSpPr>
          <p:cNvPr id="6" name="Pilar ambiental"/>
          <p:cNvSpPr/>
          <p:nvPr/>
        </p:nvSpPr>
        <p:spPr>
          <a:xfrm>
            <a:off x="8549640" y="1234440"/>
            <a:ext cx="1600200" cy="1600200"/>
          </a:xfrm>
          <a:prstGeom prst="ellipse">
            <a:avLst/>
          </a:prstGeom>
          <a:solidFill>
            <a:schemeClr val="accent1"/>
          </a:solidFill>
          <a:ln w="12700">
            <a:solidFill>
              <a:schemeClr val="accent1"/>
            </a:solidFill>
            <a:prstDash val="solid"/>
          </a:ln>
        </p:spPr>
      </p:sp>
      <p:pic>
        <p:nvPicPr>
          <p:cNvPr id="7" name="Pilar ambiental (ícone)" descr="preencoded.png">    </p:cNvPr>
          <p:cNvPicPr>
            <a:picLocks noChangeAspect="1"/>
          </p:cNvPicPr>
          <p:nvPr/>
        </p:nvPicPr>
        <p:blipFill>
          <a:blip r:embed="rId1"/>
          <a:stretch>
            <a:fillRect/>
          </a:stretch>
        </p:blipFill>
        <p:spPr>
          <a:xfrm>
            <a:off x="8949690" y="1634490"/>
            <a:ext cx="800100" cy="800100"/>
          </a:xfrm>
          <a:prstGeom prst="rect">
            <a:avLst/>
          </a:prstGeom>
        </p:spPr>
      </p:pic>
      <p:sp>
        <p:nvSpPr>
          <p:cNvPr id="8" name="Pilar social"/>
          <p:cNvSpPr/>
          <p:nvPr/>
        </p:nvSpPr>
        <p:spPr>
          <a:xfrm>
            <a:off x="9829800" y="2697480"/>
            <a:ext cx="1600200" cy="1600200"/>
          </a:xfrm>
          <a:prstGeom prst="ellipse">
            <a:avLst/>
          </a:prstGeom>
          <a:solidFill>
            <a:schemeClr val="accent2"/>
          </a:solidFill>
          <a:ln w="12700">
            <a:solidFill>
              <a:schemeClr val="accent2"/>
            </a:solidFill>
            <a:prstDash val="solid"/>
          </a:ln>
        </p:spPr>
      </p:sp>
      <p:pic>
        <p:nvPicPr>
          <p:cNvPr id="9" name="Pilar social (ícone)" descr="preencoded.png">    </p:cNvPr>
          <p:cNvPicPr>
            <a:picLocks noChangeAspect="1"/>
          </p:cNvPicPr>
          <p:nvPr/>
        </p:nvPicPr>
        <p:blipFill>
          <a:blip r:embed="rId2"/>
          <a:stretch>
            <a:fillRect/>
          </a:stretch>
        </p:blipFill>
        <p:spPr>
          <a:xfrm>
            <a:off x="10229850" y="3097530"/>
            <a:ext cx="800100" cy="800100"/>
          </a:xfrm>
          <a:prstGeom prst="rect">
            <a:avLst/>
          </a:prstGeom>
        </p:spPr>
      </p:pic>
      <p:sp>
        <p:nvSpPr>
          <p:cNvPr id="10" name="Pilar de governança"/>
          <p:cNvSpPr/>
          <p:nvPr/>
        </p:nvSpPr>
        <p:spPr>
          <a:xfrm>
            <a:off x="8549640" y="4160520"/>
            <a:ext cx="1600200" cy="1600200"/>
          </a:xfrm>
          <a:prstGeom prst="ellipse">
            <a:avLst/>
          </a:prstGeom>
          <a:solidFill>
            <a:schemeClr val="accent3"/>
          </a:solidFill>
          <a:ln w="12700">
            <a:solidFill>
              <a:schemeClr val="accent3"/>
            </a:solidFill>
            <a:prstDash val="solid"/>
          </a:ln>
        </p:spPr>
      </p:sp>
      <p:pic>
        <p:nvPicPr>
          <p:cNvPr id="11" name="Pilar de governança (ícone)" descr="preencoded.png">    </p:cNvPr>
          <p:cNvPicPr>
            <a:picLocks noChangeAspect="1"/>
          </p:cNvPicPr>
          <p:nvPr/>
        </p:nvPicPr>
        <p:blipFill>
          <a:blip r:embed="rId3"/>
          <a:stretch>
            <a:fillRect/>
          </a:stretch>
        </p:blipFill>
        <p:spPr>
          <a:xfrm>
            <a:off x="8949690" y="4560570"/>
            <a:ext cx="800100" cy="800100"/>
          </a:xfrm>
          <a:prstGeom prst="rect">
            <a:avLst/>
          </a:prstGeom>
        </p:spPr>
      </p:pic>
      <p:sp>
        <p:nvSpPr>
          <p:cNvPr id="12" name="Text 7"/>
          <p:cNvSpPr txBox="1"/>
          <p:nvPr/>
        </p:nvSpPr>
        <p:spPr>
          <a:xfrm>
            <a:off x="10241280" y="1691640"/>
            <a:ext cx="548640" cy="640080"/>
          </a:xfrm>
          <a:prstGeom prst="rect">
            <a:avLst/>
          </a:prstGeom>
          <a:noFill/>
          <a:ln/>
        </p:spPr>
        <p:txBody>
          <a:bodyPr wrap="square" lIns="0" tIns="0" rIns="0" bIns="0" rtlCol="0" anchor="t"/>
          <a:lstStyle/>
          <a:p>
            <a:pPr indent="0" marL="0">
              <a:buNone/>
            </a:pPr>
            <a:r>
              <a:rPr lang="en-US" sz="3200" b="1" dirty="0">
                <a:solidFill>
                  <a:schemeClr val="bg1"/>
                </a:solidFill>
              </a:rPr>
              <a:t>E</a:t>
            </a:r>
            <a:endParaRPr lang="en-US" sz="3200" dirty="0"/>
          </a:p>
        </p:txBody>
      </p:sp>
      <p:sp>
        <p:nvSpPr>
          <p:cNvPr id="13" name="Text 8"/>
          <p:cNvSpPr txBox="1"/>
          <p:nvPr/>
        </p:nvSpPr>
        <p:spPr>
          <a:xfrm>
            <a:off x="9326880" y="3154680"/>
            <a:ext cx="548640" cy="640080"/>
          </a:xfrm>
          <a:prstGeom prst="rect">
            <a:avLst/>
          </a:prstGeom>
          <a:noFill/>
          <a:ln/>
        </p:spPr>
        <p:txBody>
          <a:bodyPr wrap="square" lIns="0" tIns="0" rIns="0" bIns="0" rtlCol="0" anchor="t"/>
          <a:lstStyle/>
          <a:p>
            <a:pPr indent="0" marL="0">
              <a:buNone/>
            </a:pPr>
            <a:r>
              <a:rPr lang="en-US" sz="3200" b="1" dirty="0">
                <a:solidFill>
                  <a:schemeClr val="bg1"/>
                </a:solidFill>
              </a:rPr>
              <a:t>S</a:t>
            </a:r>
            <a:endParaRPr lang="en-US" sz="3200" dirty="0"/>
          </a:p>
        </p:txBody>
      </p:sp>
      <p:sp>
        <p:nvSpPr>
          <p:cNvPr id="14" name="Text 9"/>
          <p:cNvSpPr txBox="1"/>
          <p:nvPr/>
        </p:nvSpPr>
        <p:spPr>
          <a:xfrm>
            <a:off x="10241280" y="4617720"/>
            <a:ext cx="548640" cy="640080"/>
          </a:xfrm>
          <a:prstGeom prst="rect">
            <a:avLst/>
          </a:prstGeom>
          <a:noFill/>
          <a:ln/>
        </p:spPr>
        <p:txBody>
          <a:bodyPr wrap="square" lIns="0" tIns="0" rIns="0" bIns="0" rtlCol="0" anchor="t"/>
          <a:lstStyle/>
          <a:p>
            <a:pPr indent="0" marL="0">
              <a:buNone/>
            </a:pPr>
            <a:r>
              <a:rPr lang="en-US" sz="3200" b="1" dirty="0">
                <a:solidFill>
                  <a:schemeClr val="bg1"/>
                </a:solidFill>
              </a:rPr>
              <a:t>G</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Uma API que mede cidades pelos três pilares ESG</a:t>
            </a:r>
            <a:endParaRPr lang="en-US" sz="3000" dirty="0"/>
          </a:p>
        </p:txBody>
      </p:sp>
      <p:sp>
        <p:nvSpPr>
          <p:cNvPr id="3" name="Text 1"/>
          <p:cNvSpPr txBox="1"/>
          <p:nvPr/>
        </p:nvSpPr>
        <p:spPr>
          <a:xfrm>
            <a:off x="548640" y="1325880"/>
            <a:ext cx="5760720" cy="914400"/>
          </a:xfrm>
          <a:prstGeom prst="rect">
            <a:avLst/>
          </a:prstGeom>
          <a:noFill/>
          <a:ln/>
        </p:spPr>
        <p:txBody>
          <a:bodyPr wrap="square" lIns="0" tIns="0" rIns="0" bIns="0" rtlCol="0" anchor="t"/>
          <a:lstStyle/>
          <a:p>
            <a:pPr indent="0" marL="0">
              <a:buNone/>
            </a:pPr>
            <a:r>
              <a:rPr lang="en-US" sz="1500" dirty="0">
                <a:solidFill>
                  <a:schemeClr val="accent5"/>
                </a:solidFill>
              </a:rPr>
              <a:t>API REST em Java 21 e Spring Boot 4.1 que cadastra cidades, recebe medições de 9 indicadores e calcula um score ESG de 0 a 100 com ranking. Vale sempre a medição mais recente de cada indicador.</a:t>
            </a:r>
            <a:endParaRPr lang="en-US" sz="1500" dirty="0"/>
          </a:p>
        </p:txBody>
      </p:sp>
      <p:sp>
        <p:nvSpPr>
          <p:cNvPr id="4" name="Ambiental, peso 40%"/>
          <p:cNvSpPr/>
          <p:nvPr/>
        </p:nvSpPr>
        <p:spPr>
          <a:xfrm>
            <a:off x="548640" y="2423160"/>
            <a:ext cx="822960" cy="822960"/>
          </a:xfrm>
          <a:prstGeom prst="ellipse">
            <a:avLst/>
          </a:prstGeom>
          <a:solidFill>
            <a:schemeClr val="accent1"/>
          </a:solidFill>
          <a:ln w="12700">
            <a:solidFill>
              <a:schemeClr val="accent1"/>
            </a:solidFill>
            <a:prstDash val="solid"/>
          </a:ln>
        </p:spPr>
      </p:sp>
      <p:pic>
        <p:nvPicPr>
          <p:cNvPr id="5" name="Ambiental, peso 40% (ícone)" descr="preencoded.png">    </p:cNvPr>
          <p:cNvPicPr>
            <a:picLocks noChangeAspect="1"/>
          </p:cNvPicPr>
          <p:nvPr/>
        </p:nvPicPr>
        <p:blipFill>
          <a:blip r:embed="rId1"/>
          <a:stretch>
            <a:fillRect/>
          </a:stretch>
        </p:blipFill>
        <p:spPr>
          <a:xfrm>
            <a:off x="754380" y="2628900"/>
            <a:ext cx="411480" cy="411480"/>
          </a:xfrm>
          <a:prstGeom prst="rect">
            <a:avLst/>
          </a:prstGeom>
        </p:spPr>
      </p:pic>
      <p:sp>
        <p:nvSpPr>
          <p:cNvPr id="6" name="Text 3"/>
          <p:cNvSpPr txBox="1"/>
          <p:nvPr/>
        </p:nvSpPr>
        <p:spPr>
          <a:xfrm>
            <a:off x="1600200" y="2441448"/>
            <a:ext cx="4754880" cy="914400"/>
          </a:xfrm>
          <a:prstGeom prst="rect">
            <a:avLst/>
          </a:prstGeom>
          <a:noFill/>
          <a:ln/>
        </p:spPr>
        <p:txBody>
          <a:bodyPr wrap="square" lIns="0" tIns="0" rIns="0" bIns="0" rtlCol="0" anchor="t"/>
          <a:lstStyle/>
          <a:p>
            <a:pPr indent="0" marL="0">
              <a:buNone/>
            </a:pPr>
            <a:r>
              <a:rPr lang="en-US" sz="1700" b="1" dirty="0">
                <a:solidFill>
                  <a:schemeClr val="tx1"/>
                </a:solidFill>
              </a:rPr>
              <a:t>Ambiental, peso 40%</a:t>
            </a:r>
            <a:endParaRPr lang="en-US" sz="1400" dirty="0"/>
          </a:p>
          <a:p>
            <a:pPr indent="0" marL="0">
              <a:buNone/>
            </a:pPr>
            <a:r>
              <a:rPr lang="en-US" sz="1400" dirty="0">
                <a:solidFill>
                  <a:schemeClr val="accent5"/>
                </a:solidFill>
              </a:rPr>
              <a:t>Emissões de CO₂ per capita, energia renovável e reciclagem de resíduos</a:t>
            </a:r>
            <a:endParaRPr lang="en-US" sz="1400" dirty="0"/>
          </a:p>
        </p:txBody>
      </p:sp>
      <p:sp>
        <p:nvSpPr>
          <p:cNvPr id="7" name="Social, peso 30%"/>
          <p:cNvSpPr/>
          <p:nvPr/>
        </p:nvSpPr>
        <p:spPr>
          <a:xfrm>
            <a:off x="548640" y="3611880"/>
            <a:ext cx="822960" cy="822960"/>
          </a:xfrm>
          <a:prstGeom prst="ellipse">
            <a:avLst/>
          </a:prstGeom>
          <a:solidFill>
            <a:schemeClr val="accent2"/>
          </a:solidFill>
          <a:ln w="12700">
            <a:solidFill>
              <a:schemeClr val="accent2"/>
            </a:solidFill>
            <a:prstDash val="solid"/>
          </a:ln>
        </p:spPr>
      </p:sp>
      <p:pic>
        <p:nvPicPr>
          <p:cNvPr id="8" name="Social, peso 30% (ícone)" descr="preencoded.png">    </p:cNvPr>
          <p:cNvPicPr>
            <a:picLocks noChangeAspect="1"/>
          </p:cNvPicPr>
          <p:nvPr/>
        </p:nvPicPr>
        <p:blipFill>
          <a:blip r:embed="rId2"/>
          <a:stretch>
            <a:fillRect/>
          </a:stretch>
        </p:blipFill>
        <p:spPr>
          <a:xfrm>
            <a:off x="754380" y="3817620"/>
            <a:ext cx="411480" cy="411480"/>
          </a:xfrm>
          <a:prstGeom prst="rect">
            <a:avLst/>
          </a:prstGeom>
        </p:spPr>
      </p:pic>
      <p:sp>
        <p:nvSpPr>
          <p:cNvPr id="9" name="Text 5"/>
          <p:cNvSpPr txBox="1"/>
          <p:nvPr/>
        </p:nvSpPr>
        <p:spPr>
          <a:xfrm>
            <a:off x="1600200" y="3630168"/>
            <a:ext cx="4754880" cy="914400"/>
          </a:xfrm>
          <a:prstGeom prst="rect">
            <a:avLst/>
          </a:prstGeom>
          <a:noFill/>
          <a:ln/>
        </p:spPr>
        <p:txBody>
          <a:bodyPr wrap="square" lIns="0" tIns="0" rIns="0" bIns="0" rtlCol="0" anchor="t"/>
          <a:lstStyle/>
          <a:p>
            <a:pPr indent="0" marL="0">
              <a:buNone/>
            </a:pPr>
            <a:r>
              <a:rPr lang="en-US" sz="1700" b="1" dirty="0">
                <a:solidFill>
                  <a:schemeClr val="tx1"/>
                </a:solidFill>
              </a:rPr>
              <a:t>Social, peso 30%</a:t>
            </a:r>
            <a:endParaRPr lang="en-US" sz="1400" dirty="0"/>
          </a:p>
          <a:p>
            <a:pPr indent="0" marL="0">
              <a:buNone/>
            </a:pPr>
            <a:r>
              <a:rPr lang="en-US" sz="1400" dirty="0">
                <a:solidFill>
                  <a:schemeClr val="accent5"/>
                </a:solidFill>
              </a:rPr>
              <a:t>Coleta de esgoto, acesso a transporte público e mortalidade infantil</a:t>
            </a:r>
            <a:endParaRPr lang="en-US" sz="1400" dirty="0"/>
          </a:p>
        </p:txBody>
      </p:sp>
      <p:sp>
        <p:nvSpPr>
          <p:cNvPr id="10" name="Governança, peso 30%"/>
          <p:cNvSpPr/>
          <p:nvPr/>
        </p:nvSpPr>
        <p:spPr>
          <a:xfrm>
            <a:off x="548640" y="4800600"/>
            <a:ext cx="822960" cy="822960"/>
          </a:xfrm>
          <a:prstGeom prst="ellipse">
            <a:avLst/>
          </a:prstGeom>
          <a:solidFill>
            <a:schemeClr val="accent3"/>
          </a:solidFill>
          <a:ln w="12700">
            <a:solidFill>
              <a:schemeClr val="accent3"/>
            </a:solidFill>
            <a:prstDash val="solid"/>
          </a:ln>
        </p:spPr>
      </p:sp>
      <p:pic>
        <p:nvPicPr>
          <p:cNvPr id="11" name="Governança, peso 30% (ícone)" descr="preencoded.png">    </p:cNvPr>
          <p:cNvPicPr>
            <a:picLocks noChangeAspect="1"/>
          </p:cNvPicPr>
          <p:nvPr/>
        </p:nvPicPr>
        <p:blipFill>
          <a:blip r:embed="rId3"/>
          <a:stretch>
            <a:fillRect/>
          </a:stretch>
        </p:blipFill>
        <p:spPr>
          <a:xfrm>
            <a:off x="754380" y="5006340"/>
            <a:ext cx="411480" cy="411480"/>
          </a:xfrm>
          <a:prstGeom prst="rect">
            <a:avLst/>
          </a:prstGeom>
        </p:spPr>
      </p:pic>
      <p:sp>
        <p:nvSpPr>
          <p:cNvPr id="12" name="Text 7"/>
          <p:cNvSpPr txBox="1"/>
          <p:nvPr/>
        </p:nvSpPr>
        <p:spPr>
          <a:xfrm>
            <a:off x="1600200" y="4818888"/>
            <a:ext cx="4754880" cy="914400"/>
          </a:xfrm>
          <a:prstGeom prst="rect">
            <a:avLst/>
          </a:prstGeom>
          <a:noFill/>
          <a:ln/>
        </p:spPr>
        <p:txBody>
          <a:bodyPr wrap="square" lIns="0" tIns="0" rIns="0" bIns="0" rtlCol="0" anchor="t"/>
          <a:lstStyle/>
          <a:p>
            <a:pPr indent="0" marL="0">
              <a:buNone/>
            </a:pPr>
            <a:r>
              <a:rPr lang="en-US" sz="1700" b="1" dirty="0">
                <a:solidFill>
                  <a:schemeClr val="tx1"/>
                </a:solidFill>
              </a:rPr>
              <a:t>Governança, peso 30%</a:t>
            </a:r>
            <a:endParaRPr lang="en-US" sz="1400" dirty="0"/>
          </a:p>
          <a:p>
            <a:pPr indent="0" marL="0">
              <a:buNone/>
            </a:pPr>
            <a:r>
              <a:rPr lang="en-US" sz="1400" dirty="0">
                <a:solidFill>
                  <a:schemeClr val="accent5"/>
                </a:solidFill>
              </a:rPr>
              <a:t>Transparência pública, serviços digitais e participação cidadã</a:t>
            </a:r>
            <a:endParaRPr lang="en-US" sz="1400" dirty="0"/>
          </a:p>
        </p:txBody>
      </p:sp>
      <p:graphicFrame>
        <p:nvGraphicFramePr>
          <p:cNvPr id="13" name="Chart 0" descr=""/>
          <p:cNvGraphicFramePr/>
          <p:nvPr/>
        </p:nvGraphicFramePr>
        <p:xfrm>
          <a:off x="6720840" y="1280160"/>
          <a:ext cx="4937760" cy="484632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Arquitetura: do push à produção</a:t>
            </a:r>
            <a:endParaRPr lang="en-US" sz="3000" dirty="0"/>
          </a:p>
        </p:txBody>
      </p:sp>
      <p:sp>
        <p:nvSpPr>
          <p:cNvPr id="3" name="Shape 1"/>
          <p:cNvSpPr/>
          <p:nvPr/>
        </p:nvSpPr>
        <p:spPr>
          <a:xfrm>
            <a:off x="548640" y="1417320"/>
            <a:ext cx="2240280" cy="1051560"/>
          </a:xfrm>
          <a:prstGeom prst="roundRect">
            <a:avLst>
              <a:gd name="adj" fmla="val 8696"/>
            </a:avLst>
          </a:prstGeom>
          <a:solidFill>
            <a:schemeClr val="bg2"/>
          </a:solidFill>
          <a:ln w="12700">
            <a:solidFill>
              <a:schemeClr val="bg2"/>
            </a:solidFill>
            <a:prstDash val="solid"/>
          </a:ln>
        </p:spPr>
      </p:sp>
      <p:sp>
        <p:nvSpPr>
          <p:cNvPr id="4" name="Desenvolvedor"/>
          <p:cNvSpPr/>
          <p:nvPr/>
        </p:nvSpPr>
        <p:spPr>
          <a:xfrm>
            <a:off x="713232" y="1627632"/>
            <a:ext cx="640080" cy="640080"/>
          </a:xfrm>
          <a:prstGeom prst="ellipse">
            <a:avLst/>
          </a:prstGeom>
          <a:solidFill>
            <a:schemeClr val="accent5"/>
          </a:solidFill>
          <a:ln w="12700">
            <a:solidFill>
              <a:schemeClr val="accent5"/>
            </a:solidFill>
            <a:prstDash val="solid"/>
          </a:ln>
        </p:spPr>
      </p:sp>
      <p:pic>
        <p:nvPicPr>
          <p:cNvPr id="5" name="Desenvolvedor (ícone)" descr="preencoded.png">    </p:cNvPr>
          <p:cNvPicPr>
            <a:picLocks noChangeAspect="1"/>
          </p:cNvPicPr>
          <p:nvPr/>
        </p:nvPicPr>
        <p:blipFill>
          <a:blip r:embed="rId1"/>
          <a:stretch>
            <a:fillRect/>
          </a:stretch>
        </p:blipFill>
        <p:spPr>
          <a:xfrm>
            <a:off x="873252" y="1787652"/>
            <a:ext cx="320040" cy="320040"/>
          </a:xfrm>
          <a:prstGeom prst="rect">
            <a:avLst/>
          </a:prstGeom>
        </p:spPr>
      </p:pic>
      <p:sp>
        <p:nvSpPr>
          <p:cNvPr id="6" name="Text 3"/>
          <p:cNvSpPr txBox="1"/>
          <p:nvPr/>
        </p:nvSpPr>
        <p:spPr>
          <a:xfrm>
            <a:off x="1463040" y="1664208"/>
            <a:ext cx="1280160" cy="731520"/>
          </a:xfrm>
          <a:prstGeom prst="rect">
            <a:avLst/>
          </a:prstGeom>
          <a:noFill/>
          <a:ln/>
        </p:spPr>
        <p:txBody>
          <a:bodyPr wrap="square" lIns="0" tIns="0" rIns="0" bIns="0" rtlCol="0" anchor="t"/>
          <a:lstStyle/>
          <a:p>
            <a:pPr indent="0" marL="0">
              <a:buNone/>
            </a:pPr>
            <a:r>
              <a:rPr lang="en-US" sz="1500" b="1" dirty="0">
                <a:solidFill>
                  <a:schemeClr val="tx1"/>
                </a:solidFill>
              </a:rPr>
              <a:t>Desenvolvedor</a:t>
            </a:r>
            <a:endParaRPr lang="en-US" sz="1400" dirty="0"/>
          </a:p>
          <a:p>
            <a:pPr indent="0" marL="0">
              <a:buNone/>
            </a:pPr>
            <a:r>
              <a:rPr lang="en-US" sz="1200" dirty="0">
                <a:solidFill>
                  <a:schemeClr val="accent5"/>
                </a:solidFill>
              </a:rPr>
              <a:t>git push na main</a:t>
            </a:r>
            <a:endParaRPr lang="en-US" sz="1400" dirty="0"/>
          </a:p>
        </p:txBody>
      </p:sp>
      <p:sp>
        <p:nvSpPr>
          <p:cNvPr id="7" name="Shape 4"/>
          <p:cNvSpPr/>
          <p:nvPr/>
        </p:nvSpPr>
        <p:spPr>
          <a:xfrm>
            <a:off x="548640" y="3246120"/>
            <a:ext cx="2240280" cy="1051560"/>
          </a:xfrm>
          <a:prstGeom prst="roundRect">
            <a:avLst>
              <a:gd name="adj" fmla="val 8696"/>
            </a:avLst>
          </a:prstGeom>
          <a:solidFill>
            <a:schemeClr val="bg2"/>
          </a:solidFill>
          <a:ln w="12700">
            <a:solidFill>
              <a:schemeClr val="bg2"/>
            </a:solidFill>
            <a:prstDash val="solid"/>
          </a:ln>
        </p:spPr>
      </p:sp>
      <p:sp>
        <p:nvSpPr>
          <p:cNvPr id="8" name="GitHub"/>
          <p:cNvSpPr/>
          <p:nvPr/>
        </p:nvSpPr>
        <p:spPr>
          <a:xfrm>
            <a:off x="713232" y="3456432"/>
            <a:ext cx="640080" cy="640080"/>
          </a:xfrm>
          <a:prstGeom prst="ellipse">
            <a:avLst/>
          </a:prstGeom>
          <a:solidFill>
            <a:schemeClr val="tx1"/>
          </a:solidFill>
          <a:ln w="12700">
            <a:solidFill>
              <a:schemeClr val="tx1"/>
            </a:solidFill>
            <a:prstDash val="solid"/>
          </a:ln>
        </p:spPr>
      </p:sp>
      <p:pic>
        <p:nvPicPr>
          <p:cNvPr id="9" name="GitHub (ícone)" descr="preencoded.png">    </p:cNvPr>
          <p:cNvPicPr>
            <a:picLocks noChangeAspect="1"/>
          </p:cNvPicPr>
          <p:nvPr/>
        </p:nvPicPr>
        <p:blipFill>
          <a:blip r:embed="rId2"/>
          <a:stretch>
            <a:fillRect/>
          </a:stretch>
        </p:blipFill>
        <p:spPr>
          <a:xfrm>
            <a:off x="873252" y="3616452"/>
            <a:ext cx="320040" cy="320040"/>
          </a:xfrm>
          <a:prstGeom prst="rect">
            <a:avLst/>
          </a:prstGeom>
        </p:spPr>
      </p:pic>
      <p:sp>
        <p:nvSpPr>
          <p:cNvPr id="10" name="Text 6"/>
          <p:cNvSpPr txBox="1"/>
          <p:nvPr/>
        </p:nvSpPr>
        <p:spPr>
          <a:xfrm>
            <a:off x="1463040" y="3493008"/>
            <a:ext cx="1280160" cy="731520"/>
          </a:xfrm>
          <a:prstGeom prst="rect">
            <a:avLst/>
          </a:prstGeom>
          <a:noFill/>
          <a:ln/>
        </p:spPr>
        <p:txBody>
          <a:bodyPr wrap="square" lIns="0" tIns="0" rIns="0" bIns="0" rtlCol="0" anchor="t"/>
          <a:lstStyle/>
          <a:p>
            <a:pPr indent="0" marL="0">
              <a:buNone/>
            </a:pPr>
            <a:r>
              <a:rPr lang="en-US" sz="1500" b="1" dirty="0">
                <a:solidFill>
                  <a:schemeClr val="tx1"/>
                </a:solidFill>
              </a:rPr>
              <a:t>GitHub</a:t>
            </a:r>
            <a:endParaRPr lang="en-US" sz="1400" dirty="0"/>
          </a:p>
          <a:p>
            <a:pPr indent="0" marL="0">
              <a:buNone/>
            </a:pPr>
            <a:r>
              <a:rPr lang="en-US" sz="1200" dirty="0">
                <a:solidFill>
                  <a:schemeClr val="accent5"/>
                </a:solidFill>
              </a:rPr>
              <a:t>repositório público</a:t>
            </a:r>
            <a:endParaRPr lang="en-US" sz="1400" dirty="0"/>
          </a:p>
        </p:txBody>
      </p:sp>
      <p:sp>
        <p:nvSpPr>
          <p:cNvPr id="11" name="Shape 7"/>
          <p:cNvSpPr/>
          <p:nvPr/>
        </p:nvSpPr>
        <p:spPr>
          <a:xfrm>
            <a:off x="1673352" y="2468880"/>
            <a:ext cx="914" cy="777240"/>
          </a:xfrm>
          <a:prstGeom prst="line">
            <a:avLst/>
          </a:prstGeom>
          <a:noFill/>
          <a:ln w="22225">
            <a:solidFill>
              <a:srgbClr val="4A5852"/>
            </a:solidFill>
            <a:prstDash val="solid"/>
            <a:tailEnd type="triangle"/>
          </a:ln>
        </p:spPr>
      </p:sp>
      <p:sp>
        <p:nvSpPr>
          <p:cNvPr id="12" name="Shape 8"/>
          <p:cNvSpPr/>
          <p:nvPr/>
        </p:nvSpPr>
        <p:spPr>
          <a:xfrm>
            <a:off x="2788920" y="3767328"/>
            <a:ext cx="502920" cy="914"/>
          </a:xfrm>
          <a:prstGeom prst="line">
            <a:avLst/>
          </a:prstGeom>
          <a:noFill/>
          <a:ln w="22225">
            <a:solidFill>
              <a:srgbClr val="4A5852"/>
            </a:solidFill>
            <a:prstDash val="solid"/>
            <a:tailEnd type="triangle"/>
          </a:ln>
        </p:spPr>
      </p:sp>
      <p:sp>
        <p:nvSpPr>
          <p:cNvPr id="13" name="Shape 9"/>
          <p:cNvSpPr/>
          <p:nvPr/>
        </p:nvSpPr>
        <p:spPr>
          <a:xfrm>
            <a:off x="3291840" y="1325880"/>
            <a:ext cx="3703320" cy="4846320"/>
          </a:xfrm>
          <a:prstGeom prst="roundRect">
            <a:avLst>
              <a:gd name="adj" fmla="val 2469"/>
            </a:avLst>
          </a:prstGeom>
          <a:solidFill>
            <a:schemeClr val="bg2"/>
          </a:solidFill>
          <a:ln w="12700">
            <a:solidFill>
              <a:schemeClr val="bg2"/>
            </a:solidFill>
            <a:prstDash val="solid"/>
          </a:ln>
        </p:spPr>
      </p:sp>
      <p:sp>
        <p:nvSpPr>
          <p:cNvPr id="14" name="Text 10"/>
          <p:cNvSpPr txBox="1"/>
          <p:nvPr/>
        </p:nvSpPr>
        <p:spPr>
          <a:xfrm>
            <a:off x="3520440" y="1463040"/>
            <a:ext cx="3291840" cy="365760"/>
          </a:xfrm>
          <a:prstGeom prst="rect">
            <a:avLst/>
          </a:prstGeom>
          <a:noFill/>
          <a:ln/>
        </p:spPr>
        <p:txBody>
          <a:bodyPr wrap="square" lIns="0" tIns="0" rIns="0" bIns="0" rtlCol="0" anchor="t"/>
          <a:lstStyle/>
          <a:p>
            <a:pPr indent="0" marL="0">
              <a:buNone/>
            </a:pPr>
            <a:r>
              <a:rPr lang="en-US" sz="1500" b="1" dirty="0">
                <a:solidFill>
                  <a:schemeClr val="tx2"/>
                </a:solidFill>
              </a:rPr>
              <a:t>Pipeline no GitHub Actions</a:t>
            </a:r>
            <a:endParaRPr lang="en-US" sz="1500" dirty="0"/>
          </a:p>
        </p:txBody>
      </p:sp>
      <p:sp>
        <p:nvSpPr>
          <p:cNvPr id="15" name="Etapa 1  Build"/>
          <p:cNvSpPr/>
          <p:nvPr/>
        </p:nvSpPr>
        <p:spPr>
          <a:xfrm>
            <a:off x="3520440" y="1965960"/>
            <a:ext cx="3246120" cy="548640"/>
          </a:xfrm>
          <a:prstGeom prst="roundRect">
            <a:avLst>
              <a:gd name="adj" fmla="val 50000"/>
            </a:avLst>
          </a:prstGeom>
          <a:solidFill>
            <a:schemeClr val="accent5"/>
          </a:solidFill>
          <a:ln w="12700">
            <a:solidFill>
              <a:schemeClr val="accent5"/>
            </a:solidFill>
            <a:prstDash val="solid"/>
          </a:ln>
        </p:spPr>
      </p:sp>
      <p:sp>
        <p:nvSpPr>
          <p:cNvPr id="16" name="Text 12"/>
          <p:cNvSpPr txBox="1"/>
          <p:nvPr/>
        </p:nvSpPr>
        <p:spPr>
          <a:xfrm>
            <a:off x="3749040" y="2075688"/>
            <a:ext cx="2926080" cy="329184"/>
          </a:xfrm>
          <a:prstGeom prst="rect">
            <a:avLst/>
          </a:prstGeom>
          <a:noFill/>
          <a:ln/>
        </p:spPr>
        <p:txBody>
          <a:bodyPr wrap="square" lIns="0" tIns="0" rIns="0" bIns="0" rtlCol="0" anchor="t"/>
          <a:lstStyle/>
          <a:p>
            <a:pPr indent="0" marL="0">
              <a:buNone/>
            </a:pPr>
            <a:r>
              <a:rPr lang="en-US" sz="1500" b="1" dirty="0">
                <a:solidFill>
                  <a:schemeClr val="bg1"/>
                </a:solidFill>
              </a:rPr>
              <a:t>1  Build</a:t>
            </a:r>
            <a:endParaRPr lang="en-US" sz="1500" dirty="0"/>
          </a:p>
        </p:txBody>
      </p:sp>
      <p:sp>
        <p:nvSpPr>
          <p:cNvPr id="17" name="Etapa 2  Testes"/>
          <p:cNvSpPr/>
          <p:nvPr/>
        </p:nvSpPr>
        <p:spPr>
          <a:xfrm>
            <a:off x="3520440" y="2788920"/>
            <a:ext cx="3246120" cy="548640"/>
          </a:xfrm>
          <a:prstGeom prst="roundRect">
            <a:avLst>
              <a:gd name="adj" fmla="val 50000"/>
            </a:avLst>
          </a:prstGeom>
          <a:solidFill>
            <a:schemeClr val="accent5"/>
          </a:solidFill>
          <a:ln w="12700">
            <a:solidFill>
              <a:schemeClr val="accent5"/>
            </a:solidFill>
            <a:prstDash val="solid"/>
          </a:ln>
        </p:spPr>
      </p:sp>
      <p:sp>
        <p:nvSpPr>
          <p:cNvPr id="18" name="Text 14"/>
          <p:cNvSpPr txBox="1"/>
          <p:nvPr/>
        </p:nvSpPr>
        <p:spPr>
          <a:xfrm>
            <a:off x="3749040" y="2898648"/>
            <a:ext cx="2926080" cy="329184"/>
          </a:xfrm>
          <a:prstGeom prst="rect">
            <a:avLst/>
          </a:prstGeom>
          <a:noFill/>
          <a:ln/>
        </p:spPr>
        <p:txBody>
          <a:bodyPr wrap="square" lIns="0" tIns="0" rIns="0" bIns="0" rtlCol="0" anchor="t"/>
          <a:lstStyle/>
          <a:p>
            <a:pPr indent="0" marL="0">
              <a:buNone/>
            </a:pPr>
            <a:r>
              <a:rPr lang="en-US" sz="1500" b="1" dirty="0">
                <a:solidFill>
                  <a:schemeClr val="bg1"/>
                </a:solidFill>
              </a:rPr>
              <a:t>2  Testes</a:t>
            </a:r>
            <a:endParaRPr lang="en-US" sz="1500" dirty="0"/>
          </a:p>
        </p:txBody>
      </p:sp>
      <p:sp>
        <p:nvSpPr>
          <p:cNvPr id="19" name="Etapa 3  Docker"/>
          <p:cNvSpPr/>
          <p:nvPr/>
        </p:nvSpPr>
        <p:spPr>
          <a:xfrm>
            <a:off x="3520440" y="3611880"/>
            <a:ext cx="3246120" cy="548640"/>
          </a:xfrm>
          <a:prstGeom prst="roundRect">
            <a:avLst>
              <a:gd name="adj" fmla="val 50000"/>
            </a:avLst>
          </a:prstGeom>
          <a:solidFill>
            <a:schemeClr val="accent3"/>
          </a:solidFill>
          <a:ln w="12700">
            <a:solidFill>
              <a:schemeClr val="accent3"/>
            </a:solidFill>
            <a:prstDash val="solid"/>
          </a:ln>
        </p:spPr>
      </p:sp>
      <p:sp>
        <p:nvSpPr>
          <p:cNvPr id="20" name="Text 16"/>
          <p:cNvSpPr txBox="1"/>
          <p:nvPr/>
        </p:nvSpPr>
        <p:spPr>
          <a:xfrm>
            <a:off x="3749040" y="3721608"/>
            <a:ext cx="2926080" cy="329184"/>
          </a:xfrm>
          <a:prstGeom prst="rect">
            <a:avLst/>
          </a:prstGeom>
          <a:noFill/>
          <a:ln/>
        </p:spPr>
        <p:txBody>
          <a:bodyPr wrap="square" lIns="0" tIns="0" rIns="0" bIns="0" rtlCol="0" anchor="t"/>
          <a:lstStyle/>
          <a:p>
            <a:pPr indent="0" marL="0">
              <a:buNone/>
            </a:pPr>
            <a:r>
              <a:rPr lang="en-US" sz="1500" b="1" dirty="0">
                <a:solidFill>
                  <a:schemeClr val="bg1"/>
                </a:solidFill>
              </a:rPr>
              <a:t>3  Docker</a:t>
            </a:r>
            <a:endParaRPr lang="en-US" sz="1500" dirty="0"/>
          </a:p>
        </p:txBody>
      </p:sp>
      <p:sp>
        <p:nvSpPr>
          <p:cNvPr id="21" name="Etapa 4  Deploy staging"/>
          <p:cNvSpPr/>
          <p:nvPr/>
        </p:nvSpPr>
        <p:spPr>
          <a:xfrm>
            <a:off x="3520440" y="4434840"/>
            <a:ext cx="3246120" cy="548640"/>
          </a:xfrm>
          <a:prstGeom prst="roundRect">
            <a:avLst>
              <a:gd name="adj" fmla="val 50000"/>
            </a:avLst>
          </a:prstGeom>
          <a:solidFill>
            <a:schemeClr val="accent2"/>
          </a:solidFill>
          <a:ln w="12700">
            <a:solidFill>
              <a:schemeClr val="accent2"/>
            </a:solidFill>
            <a:prstDash val="solid"/>
          </a:ln>
        </p:spPr>
      </p:sp>
      <p:sp>
        <p:nvSpPr>
          <p:cNvPr id="22" name="Text 18"/>
          <p:cNvSpPr txBox="1"/>
          <p:nvPr/>
        </p:nvSpPr>
        <p:spPr>
          <a:xfrm>
            <a:off x="3749040" y="4544568"/>
            <a:ext cx="2926080" cy="329184"/>
          </a:xfrm>
          <a:prstGeom prst="rect">
            <a:avLst/>
          </a:prstGeom>
          <a:noFill/>
          <a:ln/>
        </p:spPr>
        <p:txBody>
          <a:bodyPr wrap="square" lIns="0" tIns="0" rIns="0" bIns="0" rtlCol="0" anchor="t"/>
          <a:lstStyle/>
          <a:p>
            <a:pPr indent="0" marL="0">
              <a:buNone/>
            </a:pPr>
            <a:r>
              <a:rPr lang="en-US" sz="1500" b="1" dirty="0">
                <a:solidFill>
                  <a:schemeClr val="bg1"/>
                </a:solidFill>
              </a:rPr>
              <a:t>4  Deploy staging</a:t>
            </a:r>
            <a:endParaRPr lang="en-US" sz="1500" dirty="0"/>
          </a:p>
        </p:txBody>
      </p:sp>
      <p:sp>
        <p:nvSpPr>
          <p:cNvPr id="23" name="Etapa 5  Deploy produção"/>
          <p:cNvSpPr/>
          <p:nvPr/>
        </p:nvSpPr>
        <p:spPr>
          <a:xfrm>
            <a:off x="3520440" y="5257800"/>
            <a:ext cx="3246120" cy="548640"/>
          </a:xfrm>
          <a:prstGeom prst="roundRect">
            <a:avLst>
              <a:gd name="adj" fmla="val 50000"/>
            </a:avLst>
          </a:prstGeom>
          <a:solidFill>
            <a:schemeClr val="accent1"/>
          </a:solidFill>
          <a:ln w="12700">
            <a:solidFill>
              <a:schemeClr val="accent1"/>
            </a:solidFill>
            <a:prstDash val="solid"/>
          </a:ln>
        </p:spPr>
      </p:sp>
      <p:sp>
        <p:nvSpPr>
          <p:cNvPr id="24" name="Text 20"/>
          <p:cNvSpPr txBox="1"/>
          <p:nvPr/>
        </p:nvSpPr>
        <p:spPr>
          <a:xfrm>
            <a:off x="3749040" y="5367528"/>
            <a:ext cx="2926080" cy="329184"/>
          </a:xfrm>
          <a:prstGeom prst="rect">
            <a:avLst/>
          </a:prstGeom>
          <a:noFill/>
          <a:ln/>
        </p:spPr>
        <p:txBody>
          <a:bodyPr wrap="square" lIns="0" tIns="0" rIns="0" bIns="0" rtlCol="0" anchor="t"/>
          <a:lstStyle/>
          <a:p>
            <a:pPr indent="0" marL="0">
              <a:buNone/>
            </a:pPr>
            <a:r>
              <a:rPr lang="en-US" sz="1500" b="1" dirty="0">
                <a:solidFill>
                  <a:schemeClr val="bg1"/>
                </a:solidFill>
              </a:rPr>
              <a:t>5  Deploy produção</a:t>
            </a:r>
            <a:endParaRPr lang="en-US" sz="1500" dirty="0"/>
          </a:p>
        </p:txBody>
      </p:sp>
      <p:sp>
        <p:nvSpPr>
          <p:cNvPr id="25" name="Text 21"/>
          <p:cNvSpPr txBox="1"/>
          <p:nvPr/>
        </p:nvSpPr>
        <p:spPr>
          <a:xfrm>
            <a:off x="4754880" y="5001768"/>
            <a:ext cx="2011680" cy="237744"/>
          </a:xfrm>
          <a:prstGeom prst="rect">
            <a:avLst/>
          </a:prstGeom>
          <a:noFill/>
          <a:ln/>
        </p:spPr>
        <p:txBody>
          <a:bodyPr wrap="square" lIns="0" tIns="0" rIns="0" bIns="0" rtlCol="0" anchor="t"/>
          <a:lstStyle/>
          <a:p>
            <a:pPr algn="r" indent="0" marL="0">
              <a:buNone/>
            </a:pPr>
            <a:r>
              <a:rPr lang="en-US" sz="1100" i="1" dirty="0">
                <a:solidFill>
                  <a:schemeClr val="accent5"/>
                </a:solidFill>
              </a:rPr>
              <a:t>aprovação manual</a:t>
            </a:r>
            <a:endParaRPr lang="en-US" sz="1100" dirty="0"/>
          </a:p>
        </p:txBody>
      </p:sp>
      <p:sp>
        <p:nvSpPr>
          <p:cNvPr id="26" name="Shape 22"/>
          <p:cNvSpPr/>
          <p:nvPr/>
        </p:nvSpPr>
        <p:spPr>
          <a:xfrm>
            <a:off x="7635240" y="1417320"/>
            <a:ext cx="4005072" cy="914400"/>
          </a:xfrm>
          <a:prstGeom prst="roundRect">
            <a:avLst>
              <a:gd name="adj" fmla="val 10000"/>
            </a:avLst>
          </a:prstGeom>
          <a:solidFill>
            <a:schemeClr val="bg2"/>
          </a:solidFill>
          <a:ln w="12700">
            <a:solidFill>
              <a:schemeClr val="bg2"/>
            </a:solidFill>
            <a:prstDash val="solid"/>
          </a:ln>
        </p:spPr>
      </p:sp>
      <p:sp>
        <p:nvSpPr>
          <p:cNvPr id="27" name="GitHub Container Registry"/>
          <p:cNvSpPr/>
          <p:nvPr/>
        </p:nvSpPr>
        <p:spPr>
          <a:xfrm>
            <a:off x="7772400" y="1581912"/>
            <a:ext cx="585216" cy="585216"/>
          </a:xfrm>
          <a:prstGeom prst="ellipse">
            <a:avLst/>
          </a:prstGeom>
          <a:solidFill>
            <a:schemeClr val="accent3"/>
          </a:solidFill>
          <a:ln w="12700">
            <a:solidFill>
              <a:schemeClr val="accent3"/>
            </a:solidFill>
            <a:prstDash val="solid"/>
          </a:ln>
        </p:spPr>
      </p:sp>
      <p:pic>
        <p:nvPicPr>
          <p:cNvPr id="28" name="GitHub Container Registry (ícone)" descr="preencoded.png">    </p:cNvPr>
          <p:cNvPicPr>
            <a:picLocks noChangeAspect="1"/>
          </p:cNvPicPr>
          <p:nvPr/>
        </p:nvPicPr>
        <p:blipFill>
          <a:blip r:embed="rId3"/>
          <a:stretch>
            <a:fillRect/>
          </a:stretch>
        </p:blipFill>
        <p:spPr>
          <a:xfrm>
            <a:off x="7918704" y="1728216"/>
            <a:ext cx="292608" cy="292608"/>
          </a:xfrm>
          <a:prstGeom prst="rect">
            <a:avLst/>
          </a:prstGeom>
        </p:spPr>
      </p:pic>
      <p:sp>
        <p:nvSpPr>
          <p:cNvPr id="29" name="Text 24"/>
          <p:cNvSpPr txBox="1"/>
          <p:nvPr/>
        </p:nvSpPr>
        <p:spPr>
          <a:xfrm>
            <a:off x="8503920" y="1572768"/>
            <a:ext cx="3063240" cy="685800"/>
          </a:xfrm>
          <a:prstGeom prst="rect">
            <a:avLst/>
          </a:prstGeom>
          <a:noFill/>
          <a:ln/>
        </p:spPr>
        <p:txBody>
          <a:bodyPr wrap="square" lIns="0" tIns="0" rIns="0" bIns="0" rtlCol="0" anchor="t"/>
          <a:lstStyle/>
          <a:p>
            <a:pPr indent="0" marL="0">
              <a:buNone/>
            </a:pPr>
            <a:r>
              <a:rPr lang="en-US" sz="1500" b="1" dirty="0">
                <a:solidFill>
                  <a:schemeClr val="tx1"/>
                </a:solidFill>
              </a:rPr>
              <a:t>GitHub Container Registry</a:t>
            </a:r>
            <a:endParaRPr lang="en-US" sz="1400" dirty="0"/>
          </a:p>
          <a:p>
            <a:pPr indent="0" marL="0">
              <a:buNone/>
            </a:pPr>
            <a:r>
              <a:rPr lang="en-US" sz="1200" dirty="0">
                <a:solidFill>
                  <a:schemeClr val="accent5"/>
                </a:solidFill>
              </a:rPr>
              <a:t>imagem com tags sha-&lt;commit&gt; e latest</a:t>
            </a:r>
            <a:endParaRPr lang="en-US" sz="1400" dirty="0"/>
          </a:p>
        </p:txBody>
      </p:sp>
      <p:sp>
        <p:nvSpPr>
          <p:cNvPr id="30" name="Shape 25"/>
          <p:cNvSpPr/>
          <p:nvPr/>
        </p:nvSpPr>
        <p:spPr>
          <a:xfrm>
            <a:off x="7635240" y="2697480"/>
            <a:ext cx="4005072" cy="914400"/>
          </a:xfrm>
          <a:prstGeom prst="roundRect">
            <a:avLst>
              <a:gd name="adj" fmla="val 10000"/>
            </a:avLst>
          </a:prstGeom>
          <a:solidFill>
            <a:schemeClr val="bg2"/>
          </a:solidFill>
          <a:ln w="12700">
            <a:solidFill>
              <a:schemeClr val="bg2"/>
            </a:solidFill>
            <a:prstDash val="solid"/>
          </a:ln>
        </p:spPr>
      </p:sp>
      <p:sp>
        <p:nvSpPr>
          <p:cNvPr id="31" name="Render: staging"/>
          <p:cNvSpPr/>
          <p:nvPr/>
        </p:nvSpPr>
        <p:spPr>
          <a:xfrm>
            <a:off x="7772400" y="2862072"/>
            <a:ext cx="585216" cy="585216"/>
          </a:xfrm>
          <a:prstGeom prst="ellipse">
            <a:avLst/>
          </a:prstGeom>
          <a:solidFill>
            <a:schemeClr val="accent2"/>
          </a:solidFill>
          <a:ln w="12700">
            <a:solidFill>
              <a:schemeClr val="accent2"/>
            </a:solidFill>
            <a:prstDash val="solid"/>
          </a:ln>
        </p:spPr>
      </p:sp>
      <p:pic>
        <p:nvPicPr>
          <p:cNvPr id="32" name="Render: staging (ícone)" descr="preencoded.png">    </p:cNvPr>
          <p:cNvPicPr>
            <a:picLocks noChangeAspect="1"/>
          </p:cNvPicPr>
          <p:nvPr/>
        </p:nvPicPr>
        <p:blipFill>
          <a:blip r:embed="rId4"/>
          <a:stretch>
            <a:fillRect/>
          </a:stretch>
        </p:blipFill>
        <p:spPr>
          <a:xfrm>
            <a:off x="7918704" y="3008376"/>
            <a:ext cx="292608" cy="292608"/>
          </a:xfrm>
          <a:prstGeom prst="rect">
            <a:avLst/>
          </a:prstGeom>
        </p:spPr>
      </p:pic>
      <p:sp>
        <p:nvSpPr>
          <p:cNvPr id="33" name="Text 27"/>
          <p:cNvSpPr txBox="1"/>
          <p:nvPr/>
        </p:nvSpPr>
        <p:spPr>
          <a:xfrm>
            <a:off x="8503920" y="2852928"/>
            <a:ext cx="3063240" cy="685800"/>
          </a:xfrm>
          <a:prstGeom prst="rect">
            <a:avLst/>
          </a:prstGeom>
          <a:noFill/>
          <a:ln/>
        </p:spPr>
        <p:txBody>
          <a:bodyPr wrap="square" lIns="0" tIns="0" rIns="0" bIns="0" rtlCol="0" anchor="t"/>
          <a:lstStyle/>
          <a:p>
            <a:pPr indent="0" marL="0">
              <a:buNone/>
            </a:pPr>
            <a:r>
              <a:rPr lang="en-US" sz="1500" b="1" dirty="0">
                <a:solidFill>
                  <a:schemeClr val="tx1"/>
                </a:solidFill>
              </a:rPr>
              <a:t>Render: staging</a:t>
            </a:r>
            <a:endParaRPr lang="en-US" sz="1400" dirty="0"/>
          </a:p>
          <a:p>
            <a:pPr indent="0" marL="0">
              <a:buNone/>
            </a:pPr>
            <a:r>
              <a:rPr lang="en-US" sz="1200" dirty="0">
                <a:solidFill>
                  <a:schemeClr val="accent5"/>
                </a:solidFill>
              </a:rPr>
              <a:t>cidades-esg-staging, perfil staging</a:t>
            </a:r>
            <a:endParaRPr lang="en-US" sz="1400" dirty="0"/>
          </a:p>
        </p:txBody>
      </p:sp>
      <p:sp>
        <p:nvSpPr>
          <p:cNvPr id="34" name="Shape 28"/>
          <p:cNvSpPr/>
          <p:nvPr/>
        </p:nvSpPr>
        <p:spPr>
          <a:xfrm>
            <a:off x="7635240" y="3977640"/>
            <a:ext cx="4005072" cy="914400"/>
          </a:xfrm>
          <a:prstGeom prst="roundRect">
            <a:avLst>
              <a:gd name="adj" fmla="val 10000"/>
            </a:avLst>
          </a:prstGeom>
          <a:solidFill>
            <a:schemeClr val="bg2"/>
          </a:solidFill>
          <a:ln w="12700">
            <a:solidFill>
              <a:schemeClr val="bg2"/>
            </a:solidFill>
            <a:prstDash val="solid"/>
          </a:ln>
        </p:spPr>
      </p:sp>
      <p:sp>
        <p:nvSpPr>
          <p:cNvPr id="35" name="Render: produção"/>
          <p:cNvSpPr/>
          <p:nvPr/>
        </p:nvSpPr>
        <p:spPr>
          <a:xfrm>
            <a:off x="7772400" y="4142232"/>
            <a:ext cx="585216" cy="585216"/>
          </a:xfrm>
          <a:prstGeom prst="ellipse">
            <a:avLst/>
          </a:prstGeom>
          <a:solidFill>
            <a:schemeClr val="accent1"/>
          </a:solidFill>
          <a:ln w="12700">
            <a:solidFill>
              <a:schemeClr val="accent1"/>
            </a:solidFill>
            <a:prstDash val="solid"/>
          </a:ln>
        </p:spPr>
      </p:sp>
      <p:pic>
        <p:nvPicPr>
          <p:cNvPr id="36" name="Render: produção (ícone)" descr="preencoded.png">    </p:cNvPr>
          <p:cNvPicPr>
            <a:picLocks noChangeAspect="1"/>
          </p:cNvPicPr>
          <p:nvPr/>
        </p:nvPicPr>
        <p:blipFill>
          <a:blip r:embed="rId5"/>
          <a:stretch>
            <a:fillRect/>
          </a:stretch>
        </p:blipFill>
        <p:spPr>
          <a:xfrm>
            <a:off x="7918704" y="4288536"/>
            <a:ext cx="292608" cy="292608"/>
          </a:xfrm>
          <a:prstGeom prst="rect">
            <a:avLst/>
          </a:prstGeom>
        </p:spPr>
      </p:pic>
      <p:sp>
        <p:nvSpPr>
          <p:cNvPr id="37" name="Text 30"/>
          <p:cNvSpPr txBox="1"/>
          <p:nvPr/>
        </p:nvSpPr>
        <p:spPr>
          <a:xfrm>
            <a:off x="8503920" y="4133088"/>
            <a:ext cx="3063240" cy="685800"/>
          </a:xfrm>
          <a:prstGeom prst="rect">
            <a:avLst/>
          </a:prstGeom>
          <a:noFill/>
          <a:ln/>
        </p:spPr>
        <p:txBody>
          <a:bodyPr wrap="square" lIns="0" tIns="0" rIns="0" bIns="0" rtlCol="0" anchor="t"/>
          <a:lstStyle/>
          <a:p>
            <a:pPr indent="0" marL="0">
              <a:buNone/>
            </a:pPr>
            <a:r>
              <a:rPr lang="en-US" sz="1500" b="1" dirty="0">
                <a:solidFill>
                  <a:schemeClr val="tx1"/>
                </a:solidFill>
              </a:rPr>
              <a:t>Render: produção</a:t>
            </a:r>
            <a:endParaRPr lang="en-US" sz="1400" dirty="0"/>
          </a:p>
          <a:p>
            <a:pPr indent="0" marL="0">
              <a:buNone/>
            </a:pPr>
            <a:r>
              <a:rPr lang="en-US" sz="1200" dirty="0">
                <a:solidFill>
                  <a:schemeClr val="accent5"/>
                </a:solidFill>
              </a:rPr>
              <a:t>cidades-esg-production, perfil production</a:t>
            </a:r>
            <a:endParaRPr lang="en-US" sz="1400" dirty="0"/>
          </a:p>
        </p:txBody>
      </p:sp>
      <p:sp>
        <p:nvSpPr>
          <p:cNvPr id="38" name="Shape 31"/>
          <p:cNvSpPr/>
          <p:nvPr/>
        </p:nvSpPr>
        <p:spPr>
          <a:xfrm>
            <a:off x="7635240" y="5257800"/>
            <a:ext cx="4005072" cy="914400"/>
          </a:xfrm>
          <a:prstGeom prst="roundRect">
            <a:avLst>
              <a:gd name="adj" fmla="val 10000"/>
            </a:avLst>
          </a:prstGeom>
          <a:solidFill>
            <a:schemeClr val="bg2"/>
          </a:solidFill>
          <a:ln w="12700">
            <a:solidFill>
              <a:schemeClr val="bg2"/>
            </a:solidFill>
            <a:prstDash val="solid"/>
          </a:ln>
        </p:spPr>
      </p:sp>
      <p:sp>
        <p:nvSpPr>
          <p:cNvPr id="39" name="PostgreSQL 17 (Render)"/>
          <p:cNvSpPr/>
          <p:nvPr/>
        </p:nvSpPr>
        <p:spPr>
          <a:xfrm>
            <a:off x="7772400" y="5422392"/>
            <a:ext cx="585216" cy="585216"/>
          </a:xfrm>
          <a:prstGeom prst="ellipse">
            <a:avLst/>
          </a:prstGeom>
          <a:solidFill>
            <a:schemeClr val="tx2"/>
          </a:solidFill>
          <a:ln w="12700">
            <a:solidFill>
              <a:schemeClr val="tx2"/>
            </a:solidFill>
            <a:prstDash val="solid"/>
          </a:ln>
        </p:spPr>
      </p:sp>
      <p:pic>
        <p:nvPicPr>
          <p:cNvPr id="40" name="PostgreSQL 17 (Render) (ícone)" descr="preencoded.png">    </p:cNvPr>
          <p:cNvPicPr>
            <a:picLocks noChangeAspect="1"/>
          </p:cNvPicPr>
          <p:nvPr/>
        </p:nvPicPr>
        <p:blipFill>
          <a:blip r:embed="rId6"/>
          <a:stretch>
            <a:fillRect/>
          </a:stretch>
        </p:blipFill>
        <p:spPr>
          <a:xfrm>
            <a:off x="7918704" y="5568696"/>
            <a:ext cx="292608" cy="292608"/>
          </a:xfrm>
          <a:prstGeom prst="rect">
            <a:avLst/>
          </a:prstGeom>
        </p:spPr>
      </p:pic>
      <p:sp>
        <p:nvSpPr>
          <p:cNvPr id="41" name="Text 33"/>
          <p:cNvSpPr txBox="1"/>
          <p:nvPr/>
        </p:nvSpPr>
        <p:spPr>
          <a:xfrm>
            <a:off x="8503920" y="5413248"/>
            <a:ext cx="3063240" cy="685800"/>
          </a:xfrm>
          <a:prstGeom prst="rect">
            <a:avLst/>
          </a:prstGeom>
          <a:noFill/>
          <a:ln/>
        </p:spPr>
        <p:txBody>
          <a:bodyPr wrap="square" lIns="0" tIns="0" rIns="0" bIns="0" rtlCol="0" anchor="t"/>
          <a:lstStyle/>
          <a:p>
            <a:pPr indent="0" marL="0">
              <a:buNone/>
            </a:pPr>
            <a:r>
              <a:rPr lang="en-US" sz="1500" b="1" dirty="0">
                <a:solidFill>
                  <a:schemeClr val="tx1"/>
                </a:solidFill>
              </a:rPr>
              <a:t>PostgreSQL 17 (Render)</a:t>
            </a:r>
            <a:endParaRPr lang="en-US" sz="1400" dirty="0"/>
          </a:p>
          <a:p>
            <a:pPr indent="0" marL="0">
              <a:buNone/>
            </a:pPr>
            <a:r>
              <a:rPr lang="en-US" sz="1200" dirty="0">
                <a:solidFill>
                  <a:schemeClr val="accent5"/>
                </a:solidFill>
              </a:rPr>
              <a:t>um banco, schemas staging e production</a:t>
            </a:r>
            <a:endParaRPr lang="en-US" sz="1400" dirty="0"/>
          </a:p>
        </p:txBody>
      </p:sp>
      <p:sp>
        <p:nvSpPr>
          <p:cNvPr id="42" name="Shape 34"/>
          <p:cNvSpPr/>
          <p:nvPr/>
        </p:nvSpPr>
        <p:spPr>
          <a:xfrm flipV="1">
            <a:off x="6766560" y="1874520"/>
            <a:ext cx="868680" cy="2011680"/>
          </a:xfrm>
          <a:prstGeom prst="line">
            <a:avLst/>
          </a:prstGeom>
          <a:noFill/>
          <a:ln w="22225">
            <a:solidFill>
              <a:srgbClr val="4A5852"/>
            </a:solidFill>
            <a:prstDash val="solid"/>
            <a:tailEnd type="triangle"/>
          </a:ln>
        </p:spPr>
      </p:sp>
      <p:sp>
        <p:nvSpPr>
          <p:cNvPr id="43" name="Shape 35"/>
          <p:cNvSpPr/>
          <p:nvPr/>
        </p:nvSpPr>
        <p:spPr>
          <a:xfrm flipV="1">
            <a:off x="6766560" y="3154680"/>
            <a:ext cx="868680" cy="1554480"/>
          </a:xfrm>
          <a:prstGeom prst="line">
            <a:avLst/>
          </a:prstGeom>
          <a:noFill/>
          <a:ln w="22225">
            <a:solidFill>
              <a:srgbClr val="4A5852"/>
            </a:solidFill>
            <a:prstDash val="solid"/>
            <a:tailEnd type="triangle"/>
          </a:ln>
        </p:spPr>
      </p:sp>
      <p:sp>
        <p:nvSpPr>
          <p:cNvPr id="44" name="Shape 36"/>
          <p:cNvSpPr/>
          <p:nvPr/>
        </p:nvSpPr>
        <p:spPr>
          <a:xfrm flipV="1">
            <a:off x="6766560" y="4434840"/>
            <a:ext cx="868680" cy="1097280"/>
          </a:xfrm>
          <a:prstGeom prst="line">
            <a:avLst/>
          </a:prstGeom>
          <a:noFill/>
          <a:ln w="22225">
            <a:solidFill>
              <a:srgbClr val="4A5852"/>
            </a:solidFill>
            <a:prstDash val="solid"/>
            <a:tailEnd type="triangle"/>
          </a:ln>
        </p:spPr>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Pipeline CI/CD com GitHub Actions</a:t>
            </a:r>
            <a:endParaRPr lang="en-US" sz="3000" dirty="0"/>
          </a:p>
        </p:txBody>
      </p:sp>
      <p:sp>
        <p:nvSpPr>
          <p:cNvPr id="3" name="Text 1"/>
          <p:cNvSpPr txBox="1"/>
          <p:nvPr/>
        </p:nvSpPr>
        <p:spPr>
          <a:xfrm>
            <a:off x="548640" y="1280160"/>
            <a:ext cx="11064240" cy="457200"/>
          </a:xfrm>
          <a:prstGeom prst="rect">
            <a:avLst/>
          </a:prstGeom>
          <a:noFill/>
          <a:ln/>
        </p:spPr>
        <p:txBody>
          <a:bodyPr wrap="square" lIns="0" tIns="0" rIns="0" bIns="0" rtlCol="0" anchor="t"/>
          <a:lstStyle/>
          <a:p>
            <a:pPr indent="0" marL="0">
              <a:buNone/>
            </a:pPr>
            <a:r>
              <a:rPr lang="en-US" sz="1500" b="1" dirty="0">
                <a:solidFill>
                  <a:schemeClr val="tx1"/>
                </a:solidFill>
              </a:rPr>
              <a:t>Ferramenta: </a:t>
            </a:r>
            <a:pPr indent="0" marL="0">
              <a:buNone/>
            </a:pPr>
            <a:r>
              <a:rPr lang="en-US" sz="1500" dirty="0">
                <a:solidFill>
                  <a:schemeClr val="accent5"/>
                </a:solidFill>
              </a:rPr>
              <a:t>GitHub Actions, arquivo .github/workflows/ci-cd.yml, com cinco jobs encadeados. Cada etapa só começa se a anterior passou.</a:t>
            </a:r>
            <a:endParaRPr lang="en-US" sz="1500" dirty="0"/>
          </a:p>
        </p:txBody>
      </p:sp>
      <p:sp>
        <p:nvSpPr>
          <p:cNvPr id="4" name="Build"/>
          <p:cNvSpPr/>
          <p:nvPr/>
        </p:nvSpPr>
        <p:spPr>
          <a:xfrm>
            <a:off x="1005840" y="2011680"/>
            <a:ext cx="1143000" cy="1143000"/>
          </a:xfrm>
          <a:prstGeom prst="ellipse">
            <a:avLst/>
          </a:prstGeom>
          <a:solidFill>
            <a:schemeClr val="accent5"/>
          </a:solidFill>
          <a:ln w="12700">
            <a:solidFill>
              <a:schemeClr val="accent5"/>
            </a:solidFill>
            <a:prstDash val="solid"/>
          </a:ln>
        </p:spPr>
      </p:sp>
      <p:pic>
        <p:nvPicPr>
          <p:cNvPr id="5" name="Build (ícone)" descr="preencoded.png">    </p:cNvPr>
          <p:cNvPicPr>
            <a:picLocks noChangeAspect="1"/>
          </p:cNvPicPr>
          <p:nvPr/>
        </p:nvPicPr>
        <p:blipFill>
          <a:blip r:embed="rId1"/>
          <a:stretch>
            <a:fillRect/>
          </a:stretch>
        </p:blipFill>
        <p:spPr>
          <a:xfrm>
            <a:off x="1291590" y="2297430"/>
            <a:ext cx="571500" cy="571500"/>
          </a:xfrm>
          <a:prstGeom prst="rect">
            <a:avLst/>
          </a:prstGeom>
        </p:spPr>
      </p:pic>
      <p:sp>
        <p:nvSpPr>
          <p:cNvPr id="6" name="Text 3"/>
          <p:cNvSpPr txBox="1"/>
          <p:nvPr/>
        </p:nvSpPr>
        <p:spPr>
          <a:xfrm>
            <a:off x="502920" y="3291840"/>
            <a:ext cx="1965960" cy="868680"/>
          </a:xfrm>
          <a:prstGeom prst="rect">
            <a:avLst/>
          </a:prstGeom>
          <a:noFill/>
          <a:ln/>
        </p:spPr>
        <p:txBody>
          <a:bodyPr wrap="square" lIns="0" tIns="0" rIns="0" bIns="0" rtlCol="0" anchor="t"/>
          <a:lstStyle/>
          <a:p>
            <a:pPr algn="ctr" indent="0" marL="0">
              <a:buNone/>
            </a:pPr>
            <a:r>
              <a:rPr lang="en-US" sz="1600" b="1" dirty="0">
                <a:solidFill>
                  <a:schemeClr val="tx1"/>
                </a:solidFill>
              </a:rPr>
              <a:t>Build</a:t>
            </a:r>
            <a:endParaRPr lang="en-US" sz="1400" dirty="0"/>
          </a:p>
          <a:p>
            <a:pPr algn="ctr" indent="0" marL="0">
              <a:buNone/>
            </a:pPr>
            <a:r>
              <a:rPr lang="en-US" sz="1300" dirty="0">
                <a:solidFill>
                  <a:schemeClr val="accent5"/>
                </a:solidFill>
              </a:rPr>
              <a:t>compila e empacota o JAR</a:t>
            </a:r>
            <a:endParaRPr lang="en-US" sz="1400" dirty="0"/>
          </a:p>
        </p:txBody>
      </p:sp>
      <p:sp>
        <p:nvSpPr>
          <p:cNvPr id="7" name="Shape 4"/>
          <p:cNvSpPr/>
          <p:nvPr/>
        </p:nvSpPr>
        <p:spPr>
          <a:xfrm>
            <a:off x="2258568" y="2578608"/>
            <a:ext cx="694944" cy="914"/>
          </a:xfrm>
          <a:prstGeom prst="line">
            <a:avLst/>
          </a:prstGeom>
          <a:noFill/>
          <a:ln w="22225">
            <a:solidFill>
              <a:srgbClr val="4A5852"/>
            </a:solidFill>
            <a:prstDash val="solid"/>
            <a:tailEnd type="triangle"/>
          </a:ln>
        </p:spPr>
      </p:sp>
      <p:sp>
        <p:nvSpPr>
          <p:cNvPr id="8" name="Testes"/>
          <p:cNvSpPr/>
          <p:nvPr/>
        </p:nvSpPr>
        <p:spPr>
          <a:xfrm>
            <a:off x="3200400" y="2011680"/>
            <a:ext cx="1143000" cy="1143000"/>
          </a:xfrm>
          <a:prstGeom prst="ellipse">
            <a:avLst/>
          </a:prstGeom>
          <a:solidFill>
            <a:schemeClr val="accent5"/>
          </a:solidFill>
          <a:ln w="12700">
            <a:solidFill>
              <a:schemeClr val="accent5"/>
            </a:solidFill>
            <a:prstDash val="solid"/>
          </a:ln>
        </p:spPr>
      </p:sp>
      <p:pic>
        <p:nvPicPr>
          <p:cNvPr id="9" name="Testes (ícone)" descr="preencoded.png">    </p:cNvPr>
          <p:cNvPicPr>
            <a:picLocks noChangeAspect="1"/>
          </p:cNvPicPr>
          <p:nvPr/>
        </p:nvPicPr>
        <p:blipFill>
          <a:blip r:embed="rId2"/>
          <a:stretch>
            <a:fillRect/>
          </a:stretch>
        </p:blipFill>
        <p:spPr>
          <a:xfrm>
            <a:off x="3486150" y="2297430"/>
            <a:ext cx="571500" cy="571500"/>
          </a:xfrm>
          <a:prstGeom prst="rect">
            <a:avLst/>
          </a:prstGeom>
        </p:spPr>
      </p:pic>
      <p:sp>
        <p:nvSpPr>
          <p:cNvPr id="10" name="Text 6"/>
          <p:cNvSpPr txBox="1"/>
          <p:nvPr/>
        </p:nvSpPr>
        <p:spPr>
          <a:xfrm>
            <a:off x="2697480" y="3291840"/>
            <a:ext cx="1965960" cy="868680"/>
          </a:xfrm>
          <a:prstGeom prst="rect">
            <a:avLst/>
          </a:prstGeom>
          <a:noFill/>
          <a:ln/>
        </p:spPr>
        <p:txBody>
          <a:bodyPr wrap="square" lIns="0" tIns="0" rIns="0" bIns="0" rtlCol="0" anchor="t"/>
          <a:lstStyle/>
          <a:p>
            <a:pPr algn="ctr" indent="0" marL="0">
              <a:buNone/>
            </a:pPr>
            <a:r>
              <a:rPr lang="en-US" sz="1600" b="1" dirty="0">
                <a:solidFill>
                  <a:schemeClr val="tx1"/>
                </a:solidFill>
              </a:rPr>
              <a:t>Testes</a:t>
            </a:r>
            <a:endParaRPr lang="en-US" sz="1400" dirty="0"/>
          </a:p>
          <a:p>
            <a:pPr algn="ctr" indent="0" marL="0">
              <a:buNone/>
            </a:pPr>
            <a:r>
              <a:rPr lang="en-US" sz="1300" dirty="0">
                <a:solidFill>
                  <a:schemeClr val="accent5"/>
                </a:solidFill>
              </a:rPr>
              <a:t>40 unitários + 4 de integração</a:t>
            </a:r>
            <a:endParaRPr lang="en-US" sz="1400" dirty="0"/>
          </a:p>
        </p:txBody>
      </p:sp>
      <p:sp>
        <p:nvSpPr>
          <p:cNvPr id="11" name="Shape 7"/>
          <p:cNvSpPr/>
          <p:nvPr/>
        </p:nvSpPr>
        <p:spPr>
          <a:xfrm>
            <a:off x="4453128" y="2578608"/>
            <a:ext cx="694944" cy="914"/>
          </a:xfrm>
          <a:prstGeom prst="line">
            <a:avLst/>
          </a:prstGeom>
          <a:noFill/>
          <a:ln w="22225">
            <a:solidFill>
              <a:srgbClr val="4A5852"/>
            </a:solidFill>
            <a:prstDash val="solid"/>
            <a:tailEnd type="triangle"/>
          </a:ln>
        </p:spPr>
      </p:sp>
      <p:sp>
        <p:nvSpPr>
          <p:cNvPr id="12" name="Docker"/>
          <p:cNvSpPr/>
          <p:nvPr/>
        </p:nvSpPr>
        <p:spPr>
          <a:xfrm>
            <a:off x="5394960" y="2011680"/>
            <a:ext cx="1143000" cy="1143000"/>
          </a:xfrm>
          <a:prstGeom prst="ellipse">
            <a:avLst/>
          </a:prstGeom>
          <a:solidFill>
            <a:schemeClr val="accent3"/>
          </a:solidFill>
          <a:ln w="12700">
            <a:solidFill>
              <a:schemeClr val="accent3"/>
            </a:solidFill>
            <a:prstDash val="solid"/>
          </a:ln>
        </p:spPr>
      </p:sp>
      <p:pic>
        <p:nvPicPr>
          <p:cNvPr id="13" name="Docker (ícone)" descr="preencoded.png">    </p:cNvPr>
          <p:cNvPicPr>
            <a:picLocks noChangeAspect="1"/>
          </p:cNvPicPr>
          <p:nvPr/>
        </p:nvPicPr>
        <p:blipFill>
          <a:blip r:embed="rId3"/>
          <a:stretch>
            <a:fillRect/>
          </a:stretch>
        </p:blipFill>
        <p:spPr>
          <a:xfrm>
            <a:off x="5680710" y="2297430"/>
            <a:ext cx="571500" cy="571500"/>
          </a:xfrm>
          <a:prstGeom prst="rect">
            <a:avLst/>
          </a:prstGeom>
        </p:spPr>
      </p:pic>
      <p:sp>
        <p:nvSpPr>
          <p:cNvPr id="14" name="Text 9"/>
          <p:cNvSpPr txBox="1"/>
          <p:nvPr/>
        </p:nvSpPr>
        <p:spPr>
          <a:xfrm>
            <a:off x="4892040" y="3291840"/>
            <a:ext cx="1965960" cy="868680"/>
          </a:xfrm>
          <a:prstGeom prst="rect">
            <a:avLst/>
          </a:prstGeom>
          <a:noFill/>
          <a:ln/>
        </p:spPr>
        <p:txBody>
          <a:bodyPr wrap="square" lIns="0" tIns="0" rIns="0" bIns="0" rtlCol="0" anchor="t"/>
          <a:lstStyle/>
          <a:p>
            <a:pPr algn="ctr" indent="0" marL="0">
              <a:buNone/>
            </a:pPr>
            <a:r>
              <a:rPr lang="en-US" sz="1600" b="1" dirty="0">
                <a:solidFill>
                  <a:schemeClr val="tx1"/>
                </a:solidFill>
              </a:rPr>
              <a:t>Docker</a:t>
            </a:r>
            <a:endParaRPr lang="en-US" sz="1400" dirty="0"/>
          </a:p>
          <a:p>
            <a:pPr algn="ctr" indent="0" marL="0">
              <a:buNone/>
            </a:pPr>
            <a:r>
              <a:rPr lang="en-US" sz="1300" dirty="0">
                <a:solidFill>
                  <a:schemeClr val="accent5"/>
                </a:solidFill>
              </a:rPr>
              <a:t>imagem, Compose e smoke tests</a:t>
            </a:r>
            <a:endParaRPr lang="en-US" sz="1400" dirty="0"/>
          </a:p>
        </p:txBody>
      </p:sp>
      <p:sp>
        <p:nvSpPr>
          <p:cNvPr id="15" name="Shape 10"/>
          <p:cNvSpPr/>
          <p:nvPr/>
        </p:nvSpPr>
        <p:spPr>
          <a:xfrm>
            <a:off x="6647688" y="2578608"/>
            <a:ext cx="694944" cy="914"/>
          </a:xfrm>
          <a:prstGeom prst="line">
            <a:avLst/>
          </a:prstGeom>
          <a:noFill/>
          <a:ln w="22225">
            <a:solidFill>
              <a:srgbClr val="4A5852"/>
            </a:solidFill>
            <a:prstDash val="solid"/>
            <a:tailEnd type="triangle"/>
          </a:ln>
        </p:spPr>
      </p:sp>
      <p:sp>
        <p:nvSpPr>
          <p:cNvPr id="16" name="Deploy staging"/>
          <p:cNvSpPr/>
          <p:nvPr/>
        </p:nvSpPr>
        <p:spPr>
          <a:xfrm>
            <a:off x="7589520" y="2011680"/>
            <a:ext cx="1143000" cy="1143000"/>
          </a:xfrm>
          <a:prstGeom prst="ellipse">
            <a:avLst/>
          </a:prstGeom>
          <a:solidFill>
            <a:schemeClr val="accent2"/>
          </a:solidFill>
          <a:ln w="12700">
            <a:solidFill>
              <a:schemeClr val="accent2"/>
            </a:solidFill>
            <a:prstDash val="solid"/>
          </a:ln>
        </p:spPr>
      </p:sp>
      <p:pic>
        <p:nvPicPr>
          <p:cNvPr id="17" name="Deploy staging (ícone)" descr="preencoded.png">    </p:cNvPr>
          <p:cNvPicPr>
            <a:picLocks noChangeAspect="1"/>
          </p:cNvPicPr>
          <p:nvPr/>
        </p:nvPicPr>
        <p:blipFill>
          <a:blip r:embed="rId4"/>
          <a:stretch>
            <a:fillRect/>
          </a:stretch>
        </p:blipFill>
        <p:spPr>
          <a:xfrm>
            <a:off x="7875270" y="2297430"/>
            <a:ext cx="571500" cy="571500"/>
          </a:xfrm>
          <a:prstGeom prst="rect">
            <a:avLst/>
          </a:prstGeom>
        </p:spPr>
      </p:pic>
      <p:sp>
        <p:nvSpPr>
          <p:cNvPr id="18" name="Text 12"/>
          <p:cNvSpPr txBox="1"/>
          <p:nvPr/>
        </p:nvSpPr>
        <p:spPr>
          <a:xfrm>
            <a:off x="7086600" y="3291840"/>
            <a:ext cx="1965960" cy="868680"/>
          </a:xfrm>
          <a:prstGeom prst="rect">
            <a:avLst/>
          </a:prstGeom>
          <a:noFill/>
          <a:ln/>
        </p:spPr>
        <p:txBody>
          <a:bodyPr wrap="square" lIns="0" tIns="0" rIns="0" bIns="0" rtlCol="0" anchor="t"/>
          <a:lstStyle/>
          <a:p>
            <a:pPr algn="ctr" indent="0" marL="0">
              <a:buNone/>
            </a:pPr>
            <a:r>
              <a:rPr lang="en-US" sz="1600" b="1" dirty="0">
                <a:solidFill>
                  <a:schemeClr val="tx1"/>
                </a:solidFill>
              </a:rPr>
              <a:t>Deploy staging</a:t>
            </a:r>
            <a:endParaRPr lang="en-US" sz="1400" dirty="0"/>
          </a:p>
          <a:p>
            <a:pPr algn="ctr" indent="0" marL="0">
              <a:buNone/>
            </a:pPr>
            <a:r>
              <a:rPr lang="en-US" sz="1300" dirty="0">
                <a:solidFill>
                  <a:schemeClr val="accent5"/>
                </a:solidFill>
              </a:rPr>
              <a:t>Render + smoke tests</a:t>
            </a:r>
            <a:endParaRPr lang="en-US" sz="1400" dirty="0"/>
          </a:p>
        </p:txBody>
      </p:sp>
      <p:sp>
        <p:nvSpPr>
          <p:cNvPr id="19" name="Deploy produção"/>
          <p:cNvSpPr/>
          <p:nvPr/>
        </p:nvSpPr>
        <p:spPr>
          <a:xfrm>
            <a:off x="10515600" y="2011680"/>
            <a:ext cx="1143000" cy="1143000"/>
          </a:xfrm>
          <a:prstGeom prst="ellipse">
            <a:avLst/>
          </a:prstGeom>
          <a:solidFill>
            <a:schemeClr val="accent1"/>
          </a:solidFill>
          <a:ln w="12700">
            <a:solidFill>
              <a:schemeClr val="accent1"/>
            </a:solidFill>
            <a:prstDash val="solid"/>
          </a:ln>
        </p:spPr>
      </p:sp>
      <p:pic>
        <p:nvPicPr>
          <p:cNvPr id="20" name="Deploy produção (ícone)" descr="preencoded.png">    </p:cNvPr>
          <p:cNvPicPr>
            <a:picLocks noChangeAspect="1"/>
          </p:cNvPicPr>
          <p:nvPr/>
        </p:nvPicPr>
        <p:blipFill>
          <a:blip r:embed="rId5"/>
          <a:stretch>
            <a:fillRect/>
          </a:stretch>
        </p:blipFill>
        <p:spPr>
          <a:xfrm>
            <a:off x="10801350" y="2297430"/>
            <a:ext cx="571500" cy="571500"/>
          </a:xfrm>
          <a:prstGeom prst="rect">
            <a:avLst/>
          </a:prstGeom>
        </p:spPr>
      </p:pic>
      <p:sp>
        <p:nvSpPr>
          <p:cNvPr id="21" name="Text 14"/>
          <p:cNvSpPr txBox="1"/>
          <p:nvPr/>
        </p:nvSpPr>
        <p:spPr>
          <a:xfrm>
            <a:off x="10012680" y="3291840"/>
            <a:ext cx="1965960" cy="868680"/>
          </a:xfrm>
          <a:prstGeom prst="rect">
            <a:avLst/>
          </a:prstGeom>
          <a:noFill/>
          <a:ln/>
        </p:spPr>
        <p:txBody>
          <a:bodyPr wrap="square" lIns="0" tIns="0" rIns="0" bIns="0" rtlCol="0" anchor="t"/>
          <a:lstStyle/>
          <a:p>
            <a:pPr algn="ctr" indent="0" marL="0">
              <a:buNone/>
            </a:pPr>
            <a:r>
              <a:rPr lang="en-US" sz="1600" b="1" dirty="0">
                <a:solidFill>
                  <a:schemeClr val="tx1"/>
                </a:solidFill>
              </a:rPr>
              <a:t>Deploy produção</a:t>
            </a:r>
            <a:endParaRPr lang="en-US" sz="1400" dirty="0"/>
          </a:p>
          <a:p>
            <a:pPr algn="ctr" indent="0" marL="0">
              <a:buNone/>
            </a:pPr>
            <a:r>
              <a:rPr lang="en-US" sz="1300" dirty="0">
                <a:solidFill>
                  <a:schemeClr val="accent5"/>
                </a:solidFill>
              </a:rPr>
              <a:t>mesmo commit de staging</a:t>
            </a:r>
            <a:endParaRPr lang="en-US" sz="1400" dirty="0"/>
          </a:p>
        </p:txBody>
      </p:sp>
      <p:sp>
        <p:nvSpPr>
          <p:cNvPr id="22" name="Aprovação manual"/>
          <p:cNvSpPr/>
          <p:nvPr/>
        </p:nvSpPr>
        <p:spPr>
          <a:xfrm>
            <a:off x="9098280" y="2167128"/>
            <a:ext cx="822960" cy="822960"/>
          </a:xfrm>
          <a:prstGeom prst="diamond">
            <a:avLst/>
          </a:prstGeom>
          <a:solidFill>
            <a:schemeClr val="accent4"/>
          </a:solidFill>
          <a:ln w="12700">
            <a:solidFill>
              <a:schemeClr val="accent4"/>
            </a:solidFill>
            <a:prstDash val="solid"/>
          </a:ln>
        </p:spPr>
      </p:sp>
      <p:pic>
        <p:nvPicPr>
          <p:cNvPr id="23" name="Image 5" descr="preencoded.png">    </p:cNvPr>
          <p:cNvPicPr>
            <a:picLocks noChangeAspect="1"/>
          </p:cNvPicPr>
          <p:nvPr/>
        </p:nvPicPr>
        <p:blipFill>
          <a:blip r:embed="rId6"/>
          <a:stretch>
            <a:fillRect/>
          </a:stretch>
        </p:blipFill>
        <p:spPr>
          <a:xfrm>
            <a:off x="9326880" y="2395728"/>
            <a:ext cx="365760" cy="365760"/>
          </a:xfrm>
          <a:prstGeom prst="rect">
            <a:avLst/>
          </a:prstGeom>
        </p:spPr>
      </p:pic>
      <p:sp>
        <p:nvSpPr>
          <p:cNvPr id="24" name="Text 16"/>
          <p:cNvSpPr txBox="1"/>
          <p:nvPr/>
        </p:nvSpPr>
        <p:spPr>
          <a:xfrm>
            <a:off x="8915400" y="3035808"/>
            <a:ext cx="1188720" cy="274320"/>
          </a:xfrm>
          <a:prstGeom prst="rect">
            <a:avLst/>
          </a:prstGeom>
          <a:noFill/>
          <a:ln/>
        </p:spPr>
        <p:txBody>
          <a:bodyPr wrap="square" lIns="0" tIns="0" rIns="0" bIns="0" rtlCol="0" anchor="t"/>
          <a:lstStyle/>
          <a:p>
            <a:pPr algn="ctr" indent="0" marL="0">
              <a:buNone/>
            </a:pPr>
            <a:r>
              <a:rPr lang="en-US" sz="1200" i="1" dirty="0">
                <a:solidFill>
                  <a:schemeClr val="accent5"/>
                </a:solidFill>
              </a:rPr>
              <a:t>aprovação</a:t>
            </a:r>
            <a:endParaRPr lang="en-US" sz="1200" dirty="0"/>
          </a:p>
        </p:txBody>
      </p:sp>
      <p:sp>
        <p:nvSpPr>
          <p:cNvPr id="25" name="Shape 17"/>
          <p:cNvSpPr/>
          <p:nvPr/>
        </p:nvSpPr>
        <p:spPr>
          <a:xfrm>
            <a:off x="8659368" y="2578608"/>
            <a:ext cx="438912" cy="914"/>
          </a:xfrm>
          <a:prstGeom prst="line">
            <a:avLst/>
          </a:prstGeom>
          <a:noFill/>
          <a:ln w="22225">
            <a:solidFill>
              <a:srgbClr val="4A5852"/>
            </a:solidFill>
            <a:prstDash val="solid"/>
            <a:tailEnd type="triangle"/>
          </a:ln>
        </p:spPr>
      </p:sp>
      <p:sp>
        <p:nvSpPr>
          <p:cNvPr id="26" name="Shape 18"/>
          <p:cNvSpPr/>
          <p:nvPr/>
        </p:nvSpPr>
        <p:spPr>
          <a:xfrm>
            <a:off x="9921240" y="2578608"/>
            <a:ext cx="594360" cy="914"/>
          </a:xfrm>
          <a:prstGeom prst="line">
            <a:avLst/>
          </a:prstGeom>
          <a:noFill/>
          <a:ln w="22225">
            <a:solidFill>
              <a:srgbClr val="4A5852"/>
            </a:solidFill>
            <a:prstDash val="solid"/>
            <a:tailEnd type="triangle"/>
          </a:ln>
        </p:spPr>
      </p:sp>
      <p:sp>
        <p:nvSpPr>
          <p:cNvPr id="27" name="Shape 19"/>
          <p:cNvSpPr/>
          <p:nvPr/>
        </p:nvSpPr>
        <p:spPr>
          <a:xfrm>
            <a:off x="548640" y="4526280"/>
            <a:ext cx="5394960" cy="1325880"/>
          </a:xfrm>
          <a:prstGeom prst="roundRect">
            <a:avLst>
              <a:gd name="adj" fmla="val 6897"/>
            </a:avLst>
          </a:prstGeom>
          <a:solidFill>
            <a:schemeClr val="bg2"/>
          </a:solidFill>
          <a:ln w="12700">
            <a:solidFill>
              <a:schemeClr val="bg2"/>
            </a:solidFill>
            <a:prstDash val="solid"/>
          </a:ln>
        </p:spPr>
      </p:sp>
      <p:sp>
        <p:nvSpPr>
          <p:cNvPr id="28" name="Shape 20"/>
          <p:cNvSpPr/>
          <p:nvPr/>
        </p:nvSpPr>
        <p:spPr>
          <a:xfrm>
            <a:off x="6245352" y="4526280"/>
            <a:ext cx="5394960" cy="1325880"/>
          </a:xfrm>
          <a:prstGeom prst="roundRect">
            <a:avLst>
              <a:gd name="adj" fmla="val 6897"/>
            </a:avLst>
          </a:prstGeom>
          <a:solidFill>
            <a:schemeClr val="bg2"/>
          </a:solidFill>
          <a:ln w="12700">
            <a:solidFill>
              <a:schemeClr val="bg2"/>
            </a:solidFill>
            <a:prstDash val="solid"/>
          </a:ln>
        </p:spPr>
      </p:sp>
      <p:sp>
        <p:nvSpPr>
          <p:cNvPr id="29" name="Text 21"/>
          <p:cNvSpPr txBox="1"/>
          <p:nvPr/>
        </p:nvSpPr>
        <p:spPr>
          <a:xfrm>
            <a:off x="777240" y="4709160"/>
            <a:ext cx="4937760" cy="1051560"/>
          </a:xfrm>
          <a:prstGeom prst="rect">
            <a:avLst/>
          </a:prstGeom>
          <a:noFill/>
          <a:ln/>
        </p:spPr>
        <p:txBody>
          <a:bodyPr wrap="square" lIns="0" tIns="0" rIns="0" bIns="0" rtlCol="0" anchor="t"/>
          <a:lstStyle/>
          <a:p>
            <a:pPr indent="0" marL="0">
              <a:buNone/>
            </a:pPr>
            <a:r>
              <a:rPr lang="en-US" sz="1600" b="1" dirty="0">
                <a:solidFill>
                  <a:schemeClr val="tx2"/>
                </a:solidFill>
              </a:rPr>
              <a:t>Pull request para a main</a:t>
            </a:r>
            <a:endParaRPr lang="en-US" sz="1400" dirty="0"/>
          </a:p>
          <a:p>
            <a:pPr indent="0" marL="0">
              <a:buNone/>
            </a:pPr>
            <a:r>
              <a:rPr lang="en-US" sz="1400" dirty="0">
                <a:solidFill>
                  <a:schemeClr val="tx1"/>
                </a:solidFill>
              </a:rPr>
              <a:t>Roda Build, Testes e Docker para validar a mudança antes do merge. Não faz deploy.</a:t>
            </a:r>
            <a:endParaRPr lang="en-US" sz="1400" dirty="0"/>
          </a:p>
        </p:txBody>
      </p:sp>
      <p:sp>
        <p:nvSpPr>
          <p:cNvPr id="30" name="Text 22"/>
          <p:cNvSpPr txBox="1"/>
          <p:nvPr/>
        </p:nvSpPr>
        <p:spPr>
          <a:xfrm>
            <a:off x="6473952" y="4709160"/>
            <a:ext cx="4937760" cy="1051560"/>
          </a:xfrm>
          <a:prstGeom prst="rect">
            <a:avLst/>
          </a:prstGeom>
          <a:noFill/>
          <a:ln/>
        </p:spPr>
        <p:txBody>
          <a:bodyPr wrap="square" lIns="0" tIns="0" rIns="0" bIns="0" rtlCol="0" anchor="t"/>
          <a:lstStyle/>
          <a:p>
            <a:pPr indent="0" marL="0">
              <a:buNone/>
            </a:pPr>
            <a:r>
              <a:rPr lang="en-US" sz="1600" b="1" dirty="0">
                <a:solidFill>
                  <a:schemeClr val="tx2"/>
                </a:solidFill>
              </a:rPr>
              <a:t>Push na main ou execução manual</a:t>
            </a:r>
            <a:endParaRPr lang="en-US" sz="1400" dirty="0"/>
          </a:p>
          <a:p>
            <a:pPr indent="0" marL="0">
              <a:buNone/>
            </a:pPr>
            <a:r>
              <a:rPr lang="en-US" sz="1400" dirty="0">
                <a:solidFill>
                  <a:schemeClr val="tx1"/>
                </a:solidFill>
              </a:rPr>
              <a:t>Fluxo completo: publica em staging, roda os smoke tests e, após a aprovação, publica o mesmo commit em produção.</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Etapas do pipeline e critério para avançar</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828800"/>
                <a:gridCol w="6702552"/>
                <a:gridCol w="2560320"/>
              </a:tblGrid>
              <a:tr h="0">
                <a:tc>
                  <a:txBody>
                    <a:bodyPr/>
                    <a:lstStyle/>
                    <a:p>
                      <a:pPr indent="0" marL="0">
                        <a:buNone/>
                      </a:pPr>
                      <a:r>
                        <a:rPr lang="en-US" sz="1500" b="1" dirty="0">
                          <a:solidFill>
                            <a:schemeClr val="bg1"/>
                          </a:solidFill>
                        </a:rPr>
                        <a:t>Etapa</a:t>
                      </a:r>
                      <a:endParaRPr lang="en-US" sz="15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O que acontece</a:t>
                      </a:r>
                      <a:endParaRPr lang="en-US" sz="15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Avança quando</a:t>
                      </a:r>
                      <a:endParaRPr lang="en-US" sz="15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2"/>
                          </a:solidFill>
                        </a:rPr>
                        <a:t>Build</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Java 21 (Temurin) com cache do Maven; ./mvnw package; o JAR fica guardado como artefato da execução.</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 projeto compila e empacota</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2"/>
                          </a:solidFill>
                        </a:rPr>
                        <a:t>Testes</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mvn verify: testes unitários (score, serviços com Mockito, API com MockMvc) e de integração com PostgreSQL 17 real (service container) e migrações Flyway. Publica relatório de testes e cobertura JaCoCo.</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Todos os testes passam</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rPr>
                        <a:t>Docker</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Build da imagem multi-stage com cache; sobe app + PostgreSQL com Docker Compose e espera os health checks; roda smoke tests; publica no GHCR (sha-&lt;commit&gt; e latest).</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Containers saudáveis e smoke tests OK</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2"/>
                          </a:solidFill>
                        </a:rPr>
                        <a:t>Deploy staging</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Chama o deploy hook do Render com ref=&lt;sha&gt;, espera /api/info responder com o novo commit e roda smoke tests de leitura e escrita.</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Staging no ar com o commit novo</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rPr>
                        <a:t>Deploy produção</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Após aprovação manual no ambiente production do GitHub, repete o deploy com o mesmo commit e roda smoke tests somente leitura.</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Produção no ar com o mesmo commit</a:t>
                      </a:r>
                      <a:endParaRPr lang="en-US" sz="1400" dirty="0"/>
                    </a:p>
                  </a:txBody>
                  <a:tcPr marL="109728" marR="109728" marT="100584" marB="10058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Lógica de deploy: o mesmo commit, verificado em cada ambiente</a:t>
            </a:r>
            <a:endParaRPr lang="en-US" sz="3000" dirty="0"/>
          </a:p>
        </p:txBody>
      </p:sp>
      <p:sp>
        <p:nvSpPr>
          <p:cNvPr id="3" name="Passo 1"/>
          <p:cNvSpPr/>
          <p:nvPr/>
        </p:nvSpPr>
        <p:spPr>
          <a:xfrm>
            <a:off x="548640" y="137160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548640" y="1444752"/>
            <a:ext cx="566928" cy="411480"/>
          </a:xfrm>
          <a:prstGeom prst="rect">
            <a:avLst/>
          </a:prstGeom>
          <a:noFill/>
          <a:ln/>
        </p:spPr>
        <p:txBody>
          <a:bodyPr wrap="square" lIns="0" tIns="0" rIns="0" bIns="0" rtlCol="0" anchor="t"/>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325880"/>
            <a:ext cx="5806440" cy="896112"/>
          </a:xfrm>
          <a:prstGeom prst="rect">
            <a:avLst/>
          </a:prstGeom>
          <a:noFill/>
          <a:ln/>
        </p:spPr>
        <p:txBody>
          <a:bodyPr wrap="square" lIns="0" tIns="0" rIns="0" bIns="0" rtlCol="0" anchor="t"/>
          <a:lstStyle/>
          <a:p>
            <a:pPr indent="0" marL="0">
              <a:buNone/>
            </a:pPr>
            <a:r>
              <a:rPr lang="en-US" sz="1600" b="1" dirty="0">
                <a:solidFill>
                  <a:schemeClr val="tx1"/>
                </a:solidFill>
              </a:rPr>
              <a:t>Deploy hook com o commit</a:t>
            </a:r>
            <a:endParaRPr lang="en-US" sz="1400" dirty="0"/>
          </a:p>
          <a:p>
            <a:pPr indent="0" marL="0">
              <a:buNone/>
            </a:pPr>
            <a:r>
              <a:rPr lang="en-US" sz="1350" dirty="0">
                <a:solidFill>
                  <a:schemeClr val="accent5"/>
                </a:solidFill>
              </a:rPr>
              <a:t>O script render-deploy.sh chama o deploy hook do Render com ref=&lt;sha&gt;: o Render constrói exatamente aquele commit.</a:t>
            </a:r>
            <a:endParaRPr lang="en-US" sz="1400" dirty="0"/>
          </a:p>
        </p:txBody>
      </p:sp>
      <p:sp>
        <p:nvSpPr>
          <p:cNvPr id="6" name="Passo 2"/>
          <p:cNvSpPr/>
          <p:nvPr/>
        </p:nvSpPr>
        <p:spPr>
          <a:xfrm>
            <a:off x="548640" y="2350008"/>
            <a:ext cx="566928" cy="566928"/>
          </a:xfrm>
          <a:prstGeom prst="ellipse">
            <a:avLst/>
          </a:prstGeom>
          <a:solidFill>
            <a:schemeClr val="accent1"/>
          </a:solidFill>
          <a:ln w="12700">
            <a:solidFill>
              <a:schemeClr val="accent1"/>
            </a:solidFill>
            <a:prstDash val="solid"/>
          </a:ln>
        </p:spPr>
      </p:sp>
      <p:sp>
        <p:nvSpPr>
          <p:cNvPr id="7" name="Text 5"/>
          <p:cNvSpPr txBox="1"/>
          <p:nvPr/>
        </p:nvSpPr>
        <p:spPr>
          <a:xfrm>
            <a:off x="548640" y="2423160"/>
            <a:ext cx="566928" cy="411480"/>
          </a:xfrm>
          <a:prstGeom prst="rect">
            <a:avLst/>
          </a:prstGeom>
          <a:noFill/>
          <a:ln/>
        </p:spPr>
        <p:txBody>
          <a:bodyPr wrap="square" lIns="0" tIns="0" rIns="0" bIns="0" rtlCol="0" anchor="t"/>
          <a:lstStyle/>
          <a:p>
            <a:pPr algn="ctr" indent="0" marL="0">
              <a:buNone/>
            </a:pPr>
            <a:r>
              <a:rPr lang="en-US" sz="1800" b="1" dirty="0">
                <a:solidFill>
                  <a:schemeClr val="bg1"/>
                </a:solidFill>
              </a:rPr>
              <a:t>2</a:t>
            </a:r>
            <a:endParaRPr lang="en-US" sz="1800" dirty="0"/>
          </a:p>
        </p:txBody>
      </p:sp>
      <p:sp>
        <p:nvSpPr>
          <p:cNvPr id="8" name="Text 6"/>
          <p:cNvSpPr txBox="1"/>
          <p:nvPr/>
        </p:nvSpPr>
        <p:spPr>
          <a:xfrm>
            <a:off x="1325880" y="2304288"/>
            <a:ext cx="5806440" cy="896112"/>
          </a:xfrm>
          <a:prstGeom prst="rect">
            <a:avLst/>
          </a:prstGeom>
          <a:noFill/>
          <a:ln/>
        </p:spPr>
        <p:txBody>
          <a:bodyPr wrap="square" lIns="0" tIns="0" rIns="0" bIns="0" rtlCol="0" anchor="t"/>
          <a:lstStyle/>
          <a:p>
            <a:pPr indent="0" marL="0">
              <a:buNone/>
            </a:pPr>
            <a:r>
              <a:rPr lang="en-US" sz="1600" b="1" dirty="0">
                <a:solidFill>
                  <a:schemeClr val="tx1"/>
                </a:solidFill>
              </a:rPr>
              <a:t>Troca sem indisponibilidade</a:t>
            </a:r>
            <a:endParaRPr lang="en-US" sz="1400" dirty="0"/>
          </a:p>
          <a:p>
            <a:pPr indent="0" marL="0">
              <a:buNone/>
            </a:pPr>
            <a:r>
              <a:rPr lang="en-US" sz="1350" dirty="0">
                <a:solidFill>
                  <a:schemeClr val="accent5"/>
                </a:solidFill>
              </a:rPr>
              <a:t>O Render só envia tráfego para a nova versão quando /actuator/health/readiness (aplicação + banco) responde OK.</a:t>
            </a:r>
            <a:endParaRPr lang="en-US" sz="1400" dirty="0"/>
          </a:p>
        </p:txBody>
      </p:sp>
      <p:sp>
        <p:nvSpPr>
          <p:cNvPr id="9" name="Passo 3"/>
          <p:cNvSpPr/>
          <p:nvPr/>
        </p:nvSpPr>
        <p:spPr>
          <a:xfrm>
            <a:off x="548640" y="3328416"/>
            <a:ext cx="566928" cy="566928"/>
          </a:xfrm>
          <a:prstGeom prst="ellipse">
            <a:avLst/>
          </a:prstGeom>
          <a:solidFill>
            <a:schemeClr val="accent1"/>
          </a:solidFill>
          <a:ln w="12700">
            <a:solidFill>
              <a:schemeClr val="accent1"/>
            </a:solidFill>
            <a:prstDash val="solid"/>
          </a:ln>
        </p:spPr>
      </p:sp>
      <p:sp>
        <p:nvSpPr>
          <p:cNvPr id="10" name="Text 8"/>
          <p:cNvSpPr txBox="1"/>
          <p:nvPr/>
        </p:nvSpPr>
        <p:spPr>
          <a:xfrm>
            <a:off x="548640" y="3401568"/>
            <a:ext cx="566928" cy="411480"/>
          </a:xfrm>
          <a:prstGeom prst="rect">
            <a:avLst/>
          </a:prstGeom>
          <a:noFill/>
          <a:ln/>
        </p:spPr>
        <p:txBody>
          <a:bodyPr wrap="square" lIns="0" tIns="0" rIns="0" bIns="0" rtlCol="0" anchor="t"/>
          <a:lstStyle/>
          <a:p>
            <a:pPr algn="ctr" indent="0" marL="0">
              <a:buNone/>
            </a:pPr>
            <a:r>
              <a:rPr lang="en-US" sz="1800" b="1" dirty="0">
                <a:solidFill>
                  <a:schemeClr val="bg1"/>
                </a:solidFill>
              </a:rPr>
              <a:t>3</a:t>
            </a:r>
            <a:endParaRPr lang="en-US" sz="1800" dirty="0"/>
          </a:p>
        </p:txBody>
      </p:sp>
      <p:sp>
        <p:nvSpPr>
          <p:cNvPr id="11" name="Text 9"/>
          <p:cNvSpPr txBox="1"/>
          <p:nvPr/>
        </p:nvSpPr>
        <p:spPr>
          <a:xfrm>
            <a:off x="1325880" y="3282696"/>
            <a:ext cx="5806440" cy="896112"/>
          </a:xfrm>
          <a:prstGeom prst="rect">
            <a:avLst/>
          </a:prstGeom>
          <a:noFill/>
          <a:ln/>
        </p:spPr>
        <p:txBody>
          <a:bodyPr wrap="square" lIns="0" tIns="0" rIns="0" bIns="0" rtlCol="0" anchor="t"/>
          <a:lstStyle/>
          <a:p>
            <a:pPr indent="0" marL="0">
              <a:buNone/>
            </a:pPr>
            <a:r>
              <a:rPr lang="en-US" sz="1600" b="1" dirty="0">
                <a:solidFill>
                  <a:schemeClr val="tx1"/>
                </a:solidFill>
              </a:rPr>
              <a:t>Confirmação da versão</a:t>
            </a:r>
            <a:endParaRPr lang="en-US" sz="1400" dirty="0"/>
          </a:p>
          <a:p>
            <a:pPr indent="0" marL="0">
              <a:buNone/>
            </a:pPr>
            <a:r>
              <a:rPr lang="en-US" sz="1350" dirty="0">
                <a:solidFill>
                  <a:schemeClr val="accent5"/>
                </a:solidFill>
              </a:rPr>
              <a:t>O pipeline consulta /api/info até o commit novo aparecer, com tempo limite de 20 minutos e erro claro se falhar.</a:t>
            </a:r>
            <a:endParaRPr lang="en-US" sz="1400" dirty="0"/>
          </a:p>
        </p:txBody>
      </p:sp>
      <p:sp>
        <p:nvSpPr>
          <p:cNvPr id="12" name="Passo 4"/>
          <p:cNvSpPr/>
          <p:nvPr/>
        </p:nvSpPr>
        <p:spPr>
          <a:xfrm>
            <a:off x="548640" y="4306824"/>
            <a:ext cx="566928" cy="566928"/>
          </a:xfrm>
          <a:prstGeom prst="ellipse">
            <a:avLst/>
          </a:prstGeom>
          <a:solidFill>
            <a:schemeClr val="accent1"/>
          </a:solidFill>
          <a:ln w="12700">
            <a:solidFill>
              <a:schemeClr val="accent1"/>
            </a:solidFill>
            <a:prstDash val="solid"/>
          </a:ln>
        </p:spPr>
      </p:sp>
      <p:sp>
        <p:nvSpPr>
          <p:cNvPr id="13" name="Text 11"/>
          <p:cNvSpPr txBox="1"/>
          <p:nvPr/>
        </p:nvSpPr>
        <p:spPr>
          <a:xfrm>
            <a:off x="548640" y="4379976"/>
            <a:ext cx="566928" cy="411480"/>
          </a:xfrm>
          <a:prstGeom prst="rect">
            <a:avLst/>
          </a:prstGeom>
          <a:noFill/>
          <a:ln/>
        </p:spPr>
        <p:txBody>
          <a:bodyPr wrap="square" lIns="0" tIns="0" rIns="0" bIns="0" rtlCol="0" anchor="t"/>
          <a:lstStyle/>
          <a:p>
            <a:pPr algn="ctr" indent="0" marL="0">
              <a:buNone/>
            </a:pPr>
            <a:r>
              <a:rPr lang="en-US" sz="1800" b="1" dirty="0">
                <a:solidFill>
                  <a:schemeClr val="bg1"/>
                </a:solidFill>
              </a:rPr>
              <a:t>4</a:t>
            </a:r>
            <a:endParaRPr lang="en-US" sz="1800" dirty="0"/>
          </a:p>
        </p:txBody>
      </p:sp>
      <p:sp>
        <p:nvSpPr>
          <p:cNvPr id="14" name="Text 12"/>
          <p:cNvSpPr txBox="1"/>
          <p:nvPr/>
        </p:nvSpPr>
        <p:spPr>
          <a:xfrm>
            <a:off x="1325880" y="4261104"/>
            <a:ext cx="5806440" cy="896112"/>
          </a:xfrm>
          <a:prstGeom prst="rect">
            <a:avLst/>
          </a:prstGeom>
          <a:noFill/>
          <a:ln/>
        </p:spPr>
        <p:txBody>
          <a:bodyPr wrap="square" lIns="0" tIns="0" rIns="0" bIns="0" rtlCol="0" anchor="t"/>
          <a:lstStyle/>
          <a:p>
            <a:pPr indent="0" marL="0">
              <a:buNone/>
            </a:pPr>
            <a:r>
              <a:rPr lang="en-US" sz="1600" b="1" dirty="0">
                <a:solidFill>
                  <a:schemeClr val="tx1"/>
                </a:solidFill>
              </a:rPr>
              <a:t>Smoke tests</a:t>
            </a:r>
            <a:endParaRPr lang="en-US" sz="1400" dirty="0"/>
          </a:p>
          <a:p>
            <a:pPr indent="0" marL="0">
              <a:buNone/>
            </a:pPr>
            <a:r>
              <a:rPr lang="en-US" sz="1350" dirty="0">
                <a:solidFill>
                  <a:schemeClr val="accent5"/>
                </a:solidFill>
              </a:rPr>
              <a:t>Staging: leitura e escrita (cria, pontua e remove uma cidade). Produção: somente leitura.</a:t>
            </a:r>
            <a:endParaRPr lang="en-US" sz="1400" dirty="0"/>
          </a:p>
        </p:txBody>
      </p:sp>
      <p:sp>
        <p:nvSpPr>
          <p:cNvPr id="15" name="Passo 5"/>
          <p:cNvSpPr/>
          <p:nvPr/>
        </p:nvSpPr>
        <p:spPr>
          <a:xfrm>
            <a:off x="548640" y="5285232"/>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548640" y="5358384"/>
            <a:ext cx="566928" cy="411480"/>
          </a:xfrm>
          <a:prstGeom prst="rect">
            <a:avLst/>
          </a:prstGeom>
          <a:noFill/>
          <a:ln/>
        </p:spPr>
        <p:txBody>
          <a:bodyPr wrap="square" lIns="0" tIns="0" rIns="0" bIns="0" rtlCol="0" anchor="t"/>
          <a:lstStyle/>
          <a:p>
            <a:pPr algn="ctr" indent="0" marL="0">
              <a:buNone/>
            </a:pPr>
            <a:r>
              <a:rPr lang="en-US" sz="1800" b="1" dirty="0">
                <a:solidFill>
                  <a:schemeClr val="bg1"/>
                </a:solidFill>
              </a:rPr>
              <a:t>5</a:t>
            </a:r>
            <a:endParaRPr lang="en-US" sz="1800" dirty="0"/>
          </a:p>
        </p:txBody>
      </p:sp>
      <p:sp>
        <p:nvSpPr>
          <p:cNvPr id="17" name="Text 15"/>
          <p:cNvSpPr txBox="1"/>
          <p:nvPr/>
        </p:nvSpPr>
        <p:spPr>
          <a:xfrm>
            <a:off x="1325880" y="5239512"/>
            <a:ext cx="5806440" cy="896112"/>
          </a:xfrm>
          <a:prstGeom prst="rect">
            <a:avLst/>
          </a:prstGeom>
          <a:noFill/>
          <a:ln/>
        </p:spPr>
        <p:txBody>
          <a:bodyPr wrap="square" lIns="0" tIns="0" rIns="0" bIns="0" rtlCol="0" anchor="t"/>
          <a:lstStyle/>
          <a:p>
            <a:pPr indent="0" marL="0">
              <a:buNone/>
            </a:pPr>
            <a:r>
              <a:rPr lang="en-US" sz="1600" b="1" dirty="0">
                <a:solidFill>
                  <a:schemeClr val="tx1"/>
                </a:solidFill>
              </a:rPr>
              <a:t>Aprovação para produção</a:t>
            </a:r>
            <a:endParaRPr lang="en-US" sz="1400" dirty="0"/>
          </a:p>
          <a:p>
            <a:pPr indent="0" marL="0">
              <a:buNone/>
            </a:pPr>
            <a:r>
              <a:rPr lang="en-US" sz="1350" dirty="0">
                <a:solidFill>
                  <a:schemeClr val="accent5"/>
                </a:solidFill>
              </a:rPr>
              <a:t>O ambiente production do GitHub exige um revisor; só então o mesmo commit vai para produção.</a:t>
            </a:r>
            <a:endParaRPr lang="en-US" sz="1400" dirty="0"/>
          </a:p>
        </p:txBody>
      </p:sp>
      <p:sp>
        <p:nvSpPr>
          <p:cNvPr id="18" name="Shape 16"/>
          <p:cNvSpPr/>
          <p:nvPr/>
        </p:nvSpPr>
        <p:spPr>
          <a:xfrm>
            <a:off x="7543800" y="1325880"/>
            <a:ext cx="4096512" cy="4846320"/>
          </a:xfrm>
          <a:prstGeom prst="roundRect">
            <a:avLst>
              <a:gd name="adj" fmla="val 2232"/>
            </a:avLst>
          </a:prstGeom>
          <a:solidFill>
            <a:schemeClr val="tx2"/>
          </a:solidFill>
          <a:ln w="12700">
            <a:solidFill>
              <a:schemeClr val="tx2"/>
            </a:solidFill>
            <a:prstDash val="solid"/>
          </a:ln>
        </p:spPr>
      </p:sp>
      <p:sp>
        <p:nvSpPr>
          <p:cNvPr id="19" name="Segredos"/>
          <p:cNvSpPr/>
          <p:nvPr/>
        </p:nvSpPr>
        <p:spPr>
          <a:xfrm>
            <a:off x="7818120" y="1600200"/>
            <a:ext cx="685800" cy="685800"/>
          </a:xfrm>
          <a:prstGeom prst="ellipse">
            <a:avLst/>
          </a:prstGeom>
          <a:solidFill>
            <a:schemeClr val="accent4"/>
          </a:solidFill>
          <a:ln w="12700">
            <a:solidFill>
              <a:schemeClr val="accent4"/>
            </a:solidFill>
            <a:prstDash val="solid"/>
          </a:ln>
        </p:spPr>
      </p:sp>
      <p:pic>
        <p:nvPicPr>
          <p:cNvPr id="20" name="Segredos (ícone)" descr="preencoded.png">    </p:cNvPr>
          <p:cNvPicPr>
            <a:picLocks noChangeAspect="1"/>
          </p:cNvPicPr>
          <p:nvPr/>
        </p:nvPicPr>
        <p:blipFill>
          <a:blip r:embed="rId1"/>
          <a:stretch>
            <a:fillRect/>
          </a:stretch>
        </p:blipFill>
        <p:spPr>
          <a:xfrm>
            <a:off x="7989570" y="1771650"/>
            <a:ext cx="342900" cy="342900"/>
          </a:xfrm>
          <a:prstGeom prst="rect">
            <a:avLst/>
          </a:prstGeom>
        </p:spPr>
      </p:pic>
      <p:sp>
        <p:nvSpPr>
          <p:cNvPr id="21" name="Text 18"/>
          <p:cNvSpPr txBox="1"/>
          <p:nvPr/>
        </p:nvSpPr>
        <p:spPr>
          <a:xfrm>
            <a:off x="8641080" y="1737360"/>
            <a:ext cx="2834640" cy="457200"/>
          </a:xfrm>
          <a:prstGeom prst="rect">
            <a:avLst/>
          </a:prstGeom>
          <a:noFill/>
          <a:ln/>
        </p:spPr>
        <p:txBody>
          <a:bodyPr wrap="square" lIns="0" tIns="0" rIns="0" bIns="0" rtlCol="0" anchor="t"/>
          <a:lstStyle/>
          <a:p>
            <a:pPr indent="0" marL="0">
              <a:buNone/>
            </a:pPr>
            <a:r>
              <a:rPr lang="en-US" sz="1700" b="1" dirty="0">
                <a:solidFill>
                  <a:schemeClr val="bg1"/>
                </a:solidFill>
              </a:rPr>
              <a:t>Segredos e configuração</a:t>
            </a:r>
            <a:endParaRPr lang="en-US" sz="1700" dirty="0"/>
          </a:p>
        </p:txBody>
      </p:sp>
      <p:sp>
        <p:nvSpPr>
          <p:cNvPr id="22" name="Text 19"/>
          <p:cNvSpPr txBox="1"/>
          <p:nvPr/>
        </p:nvSpPr>
        <p:spPr>
          <a:xfrm>
            <a:off x="7818120" y="2514600"/>
            <a:ext cx="3611880" cy="3520440"/>
          </a:xfrm>
          <a:prstGeom prst="rect">
            <a:avLst/>
          </a:prstGeom>
          <a:noFill/>
          <a:ln/>
        </p:spPr>
        <p:txBody>
          <a:bodyPr wrap="square" lIns="0" tIns="0" rIns="0" bIns="0" rtlCol="0" anchor="t"/>
          <a:lstStyle/>
          <a:p>
            <a:pPr indent="0" marL="0">
              <a:buNone/>
            </a:pPr>
            <a:r>
              <a:rPr lang="en-US" sz="1350" b="1" dirty="0">
                <a:solidFill>
                  <a:schemeClr val="accent4"/>
                </a:solidFill>
              </a:rPr>
              <a:t>GitHub Secrets</a:t>
            </a:r>
            <a:endParaRPr lang="en-US" sz="1350" dirty="0"/>
          </a:p>
          <a:p>
            <a:pPr indent="0" marL="0">
              <a:buNone/>
            </a:pPr>
            <a:r>
              <a:rPr lang="en-US" sz="1350" dirty="0">
                <a:solidFill>
                  <a:schemeClr val="bg1"/>
                </a:solidFill>
              </a:rPr>
              <a:t>RENDER_DEPLOY_HOOK_STAGING e RENDER_DEPLOY_HOOK_PRODUCTION</a:t>
            </a:r>
            <a:endParaRPr lang="en-US" sz="1350" dirty="0"/>
          </a:p>
          <a:p>
            <a:pPr indent="0" marL="0">
              <a:buNone/>
            </a:pPr>
            <a:r>
              <a:rPr lang="en-US" sz="600" dirty="0">
                <a:solidFill>
                  <a:schemeClr val="bg1"/>
                </a:solidFill>
              </a:rPr>
              <a:t> </a:t>
            </a:r>
            <a:endParaRPr lang="en-US" sz="1350" dirty="0"/>
          </a:p>
          <a:p>
            <a:pPr indent="0" marL="0">
              <a:buNone/>
            </a:pPr>
            <a:r>
              <a:rPr lang="en-US" sz="1350" b="1" dirty="0">
                <a:solidFill>
                  <a:schemeClr val="accent4"/>
                </a:solidFill>
              </a:rPr>
              <a:t>GitHub Variables</a:t>
            </a:r>
            <a:endParaRPr lang="en-US" sz="1350" dirty="0"/>
          </a:p>
          <a:p>
            <a:pPr indent="0" marL="0">
              <a:buNone/>
            </a:pPr>
            <a:r>
              <a:rPr lang="en-US" sz="1350" dirty="0">
                <a:solidFill>
                  <a:schemeClr val="bg1"/>
                </a:solidFill>
              </a:rPr>
              <a:t>STAGING_URL e PRODUCTION_URL</a:t>
            </a:r>
            <a:endParaRPr lang="en-US" sz="1350" dirty="0"/>
          </a:p>
          <a:p>
            <a:pPr indent="0" marL="0">
              <a:buNone/>
            </a:pPr>
            <a:r>
              <a:rPr lang="en-US" sz="600" dirty="0">
                <a:solidFill>
                  <a:schemeClr val="bg1"/>
                </a:solidFill>
              </a:rPr>
              <a:t> </a:t>
            </a:r>
            <a:endParaRPr lang="en-US" sz="1350" dirty="0"/>
          </a:p>
          <a:p>
            <a:pPr indent="0" marL="0">
              <a:buNone/>
            </a:pPr>
            <a:r>
              <a:rPr lang="en-US" sz="1350" b="1" dirty="0">
                <a:solidFill>
                  <a:schemeClr val="accent4"/>
                </a:solidFill>
              </a:rPr>
              <a:t>GitHub Environments</a:t>
            </a:r>
            <a:endParaRPr lang="en-US" sz="1350" dirty="0"/>
          </a:p>
          <a:p>
            <a:pPr indent="0" marL="0">
              <a:buNone/>
            </a:pPr>
            <a:r>
              <a:rPr lang="en-US" sz="1350" dirty="0">
                <a:solidFill>
                  <a:schemeClr val="bg1"/>
                </a:solidFill>
              </a:rPr>
              <a:t>staging e production, com histórico de deploys e revisores obrigatórios</a:t>
            </a:r>
            <a:endParaRPr lang="en-US" sz="1350" dirty="0"/>
          </a:p>
          <a:p>
            <a:pPr indent="0" marL="0">
              <a:buNone/>
            </a:pPr>
            <a:r>
              <a:rPr lang="en-US" sz="600" dirty="0">
                <a:solidFill>
                  <a:schemeClr val="bg1"/>
                </a:solidFill>
              </a:rPr>
              <a:t> </a:t>
            </a:r>
            <a:endParaRPr lang="en-US" sz="1350" dirty="0"/>
          </a:p>
          <a:p>
            <a:pPr indent="0" marL="0">
              <a:buNone/>
            </a:pPr>
            <a:r>
              <a:rPr lang="en-US" sz="1350" b="1" dirty="0">
                <a:solidFill>
                  <a:schemeClr val="accent4"/>
                </a:solidFill>
              </a:rPr>
              <a:t>Render</a:t>
            </a:r>
            <a:endParaRPr lang="en-US" sz="1350" dirty="0"/>
          </a:p>
          <a:p>
            <a:pPr indent="0" marL="0">
              <a:buNone/>
            </a:pPr>
            <a:r>
              <a:rPr lang="en-US" sz="1350" dirty="0">
                <a:solidFill>
                  <a:schemeClr val="bg1"/>
                </a:solidFill>
              </a:rPr>
              <a:t>senha do banco injetada pela plataforma; nada sensível no código</a:t>
            </a:r>
            <a:endParaRPr lang="en-US" sz="13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Docker: imagem multi-stage, enxuta e segura</a:t>
            </a:r>
            <a:endParaRPr lang="en-US" sz="3000" dirty="0"/>
          </a:p>
        </p:txBody>
      </p:sp>
      <p:sp>
        <p:nvSpPr>
          <p:cNvPr id="3" name="Shape 1"/>
          <p:cNvSpPr/>
          <p:nvPr/>
        </p:nvSpPr>
        <p:spPr>
          <a:xfrm>
            <a:off x="548640" y="1325880"/>
            <a:ext cx="4754880" cy="3611880"/>
          </a:xfrm>
          <a:prstGeom prst="roundRect">
            <a:avLst>
              <a:gd name="adj" fmla="val 2532"/>
            </a:avLst>
          </a:prstGeom>
          <a:solidFill>
            <a:schemeClr val="bg2"/>
          </a:solidFill>
          <a:ln w="12700">
            <a:solidFill>
              <a:schemeClr val="bg2"/>
            </a:solidFill>
            <a:prstDash val="solid"/>
          </a:ln>
        </p:spPr>
      </p:sp>
      <p:sp>
        <p:nvSpPr>
          <p:cNvPr id="4" name="Etapa build"/>
          <p:cNvSpPr/>
          <p:nvPr/>
        </p:nvSpPr>
        <p:spPr>
          <a:xfrm>
            <a:off x="777240" y="1554480"/>
            <a:ext cx="640080" cy="640080"/>
          </a:xfrm>
          <a:prstGeom prst="ellipse">
            <a:avLst/>
          </a:prstGeom>
          <a:solidFill>
            <a:schemeClr val="accent5"/>
          </a:solidFill>
          <a:ln w="12700">
            <a:solidFill>
              <a:schemeClr val="accent5"/>
            </a:solidFill>
            <a:prstDash val="solid"/>
          </a:ln>
        </p:spPr>
      </p:sp>
      <p:pic>
        <p:nvPicPr>
          <p:cNvPr id="5" name="Etapa build (ícone)" descr="preencoded.png">    </p:cNvPr>
          <p:cNvPicPr>
            <a:picLocks noChangeAspect="1"/>
          </p:cNvPicPr>
          <p:nvPr/>
        </p:nvPicPr>
        <p:blipFill>
          <a:blip r:embed="rId1"/>
          <a:stretch>
            <a:fillRect/>
          </a:stretch>
        </p:blipFill>
        <p:spPr>
          <a:xfrm>
            <a:off x="937260" y="1714500"/>
            <a:ext cx="320040" cy="320040"/>
          </a:xfrm>
          <a:prstGeom prst="rect">
            <a:avLst/>
          </a:prstGeom>
        </p:spPr>
      </p:pic>
      <p:sp>
        <p:nvSpPr>
          <p:cNvPr id="6" name="Text 3"/>
          <p:cNvSpPr txBox="1"/>
          <p:nvPr/>
        </p:nvSpPr>
        <p:spPr>
          <a:xfrm>
            <a:off x="1600200" y="1600200"/>
            <a:ext cx="3566160" cy="640080"/>
          </a:xfrm>
          <a:prstGeom prst="rect">
            <a:avLst/>
          </a:prstGeom>
          <a:noFill/>
          <a:ln/>
        </p:spPr>
        <p:txBody>
          <a:bodyPr wrap="square" lIns="0" tIns="0" rIns="0" bIns="0" rtlCol="0" anchor="t"/>
          <a:lstStyle/>
          <a:p>
            <a:pPr indent="0" marL="0">
              <a:buNone/>
            </a:pPr>
            <a:r>
              <a:rPr lang="en-US" sz="1700" b="1" dirty="0">
                <a:solidFill>
                  <a:schemeClr val="tx1"/>
                </a:solidFill>
              </a:rPr>
              <a:t>Etapa 1: build</a:t>
            </a:r>
            <a:endParaRPr lang="en-US" sz="1400" dirty="0"/>
          </a:p>
          <a:p>
            <a:pPr indent="0" marL="0">
              <a:buNone/>
            </a:pPr>
            <a:r>
              <a:rPr lang="en-US" sz="1200" dirty="0">
                <a:solidFill>
                  <a:schemeClr val="accent5"/>
                </a:solidFill>
                <a:latin typeface="Courier New" pitchFamily="34" charset="0"/>
                <a:ea typeface="Courier New" pitchFamily="34" charset="-122"/>
                <a:cs typeface="Courier New" pitchFamily="34" charset="-120"/>
              </a:rPr>
              <a:t>eclipse-temurin:21-jdk-alpine</a:t>
            </a:r>
            <a:endParaRPr lang="en-US" sz="1400" dirty="0"/>
          </a:p>
        </p:txBody>
      </p:sp>
      <p:sp>
        <p:nvSpPr>
          <p:cNvPr id="7" name="Text 4"/>
          <p:cNvSpPr txBox="1"/>
          <p:nvPr/>
        </p:nvSpPr>
        <p:spPr>
          <a:xfrm>
            <a:off x="777240" y="2423160"/>
            <a:ext cx="4343400" cy="24231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Copia pom.xml e Maven Wrapper e baixa as dependências (camada em cache)</a:t>
            </a:r>
            <a:endParaRPr lang="en-US" sz="1500" dirty="0"/>
          </a:p>
          <a:p>
            <a:pPr marL="342900" indent="-342900">
              <a:spcAft>
                <a:spcPts val="900"/>
              </a:spcAft>
              <a:buSzPct val="100000"/>
              <a:buChar char="•"/>
            </a:pPr>
            <a:r>
              <a:rPr lang="en-US" sz="1500" dirty="0">
                <a:solidFill>
                  <a:schemeClr val="tx1"/>
                </a:solidFill>
              </a:rPr>
              <a:t>Copia o código e gera o JAR com ./mvnw package</a:t>
            </a:r>
            <a:endParaRPr lang="en-US" sz="1500" dirty="0"/>
          </a:p>
          <a:p>
            <a:pPr marL="342900" indent="-342900">
              <a:spcAft>
                <a:spcPts val="900"/>
              </a:spcAft>
              <a:buSzPct val="100000"/>
              <a:buChar char="•"/>
            </a:pPr>
            <a:r>
              <a:rPr lang="en-US" sz="1500" dirty="0">
                <a:solidFill>
                  <a:schemeClr val="tx1"/>
                </a:solidFill>
              </a:rPr>
              <a:t>Separa o JAR em camadas com jarmode=tools extract --layers</a:t>
            </a:r>
            <a:endParaRPr lang="en-US" sz="1500" dirty="0"/>
          </a:p>
          <a:p>
            <a:pPr marL="342900" indent="-342900">
              <a:spcAft>
                <a:spcPts val="900"/>
              </a:spcAft>
              <a:buSzPct val="100000"/>
              <a:buChar char="•"/>
            </a:pPr>
            <a:r>
              <a:rPr lang="en-US" sz="1500" dirty="0">
                <a:solidFill>
                  <a:schemeClr val="tx1"/>
                </a:solidFill>
              </a:rPr>
              <a:t>Não roda os testes de novo: eles já passaram na etapa Testes do pipeline</a:t>
            </a:r>
            <a:endParaRPr lang="en-US" sz="1500" dirty="0"/>
          </a:p>
        </p:txBody>
      </p:sp>
      <p:sp>
        <p:nvSpPr>
          <p:cNvPr id="8" name="Shape 5"/>
          <p:cNvSpPr/>
          <p:nvPr/>
        </p:nvSpPr>
        <p:spPr>
          <a:xfrm>
            <a:off x="5303520" y="3108960"/>
            <a:ext cx="685800" cy="914"/>
          </a:xfrm>
          <a:prstGeom prst="line">
            <a:avLst/>
          </a:prstGeom>
          <a:noFill/>
          <a:ln w="22225">
            <a:solidFill>
              <a:srgbClr val="2F62B3"/>
            </a:solidFill>
            <a:prstDash val="solid"/>
            <a:tailEnd type="triangle"/>
          </a:ln>
        </p:spPr>
      </p:sp>
      <p:sp>
        <p:nvSpPr>
          <p:cNvPr id="9" name="Shape 6"/>
          <p:cNvSpPr/>
          <p:nvPr/>
        </p:nvSpPr>
        <p:spPr>
          <a:xfrm>
            <a:off x="5989320" y="1325880"/>
            <a:ext cx="5650992" cy="3611880"/>
          </a:xfrm>
          <a:prstGeom prst="roundRect">
            <a:avLst>
              <a:gd name="adj" fmla="val 2532"/>
            </a:avLst>
          </a:prstGeom>
          <a:solidFill>
            <a:schemeClr val="tx2"/>
          </a:solidFill>
          <a:ln w="12700">
            <a:solidFill>
              <a:schemeClr val="tx2"/>
            </a:solidFill>
            <a:prstDash val="solid"/>
          </a:ln>
        </p:spPr>
      </p:sp>
      <p:sp>
        <p:nvSpPr>
          <p:cNvPr id="10" name="Etapa runtime"/>
          <p:cNvSpPr/>
          <p:nvPr/>
        </p:nvSpPr>
        <p:spPr>
          <a:xfrm>
            <a:off x="6217920" y="1554480"/>
            <a:ext cx="640080" cy="640080"/>
          </a:xfrm>
          <a:prstGeom prst="ellipse">
            <a:avLst/>
          </a:prstGeom>
          <a:solidFill>
            <a:schemeClr val="accent3"/>
          </a:solidFill>
          <a:ln w="12700">
            <a:solidFill>
              <a:schemeClr val="accent3"/>
            </a:solidFill>
            <a:prstDash val="solid"/>
          </a:ln>
        </p:spPr>
      </p:sp>
      <p:pic>
        <p:nvPicPr>
          <p:cNvPr id="11" name="Etapa runtime (ícone)" descr="preencoded.png">    </p:cNvPr>
          <p:cNvPicPr>
            <a:picLocks noChangeAspect="1"/>
          </p:cNvPicPr>
          <p:nvPr/>
        </p:nvPicPr>
        <p:blipFill>
          <a:blip r:embed="rId2"/>
          <a:stretch>
            <a:fillRect/>
          </a:stretch>
        </p:blipFill>
        <p:spPr>
          <a:xfrm>
            <a:off x="6377940" y="1714500"/>
            <a:ext cx="320040" cy="320040"/>
          </a:xfrm>
          <a:prstGeom prst="rect">
            <a:avLst/>
          </a:prstGeom>
        </p:spPr>
      </p:pic>
      <p:sp>
        <p:nvSpPr>
          <p:cNvPr id="12" name="Text 8"/>
          <p:cNvSpPr txBox="1"/>
          <p:nvPr/>
        </p:nvSpPr>
        <p:spPr>
          <a:xfrm>
            <a:off x="7040880" y="1600200"/>
            <a:ext cx="4480560" cy="640080"/>
          </a:xfrm>
          <a:prstGeom prst="rect">
            <a:avLst/>
          </a:prstGeom>
          <a:noFill/>
          <a:ln/>
        </p:spPr>
        <p:txBody>
          <a:bodyPr wrap="square" lIns="0" tIns="0" rIns="0" bIns="0" rtlCol="0" anchor="t"/>
          <a:lstStyle/>
          <a:p>
            <a:pPr indent="0" marL="0">
              <a:buNone/>
            </a:pPr>
            <a:r>
              <a:rPr lang="en-US" sz="1700" b="1" dirty="0">
                <a:solidFill>
                  <a:schemeClr val="bg1"/>
                </a:solidFill>
              </a:rPr>
              <a:t>Etapa 2: runtime (imagem final)</a:t>
            </a:r>
            <a:endParaRPr lang="en-US" sz="1400" dirty="0"/>
          </a:p>
          <a:p>
            <a:pPr indent="0" marL="0">
              <a:buNone/>
            </a:pPr>
            <a:r>
              <a:rPr lang="en-US" sz="1200" dirty="0">
                <a:solidFill>
                  <a:schemeClr val="accent4"/>
                </a:solidFill>
                <a:latin typeface="Courier New" pitchFamily="34" charset="0"/>
                <a:ea typeface="Courier New" pitchFamily="34" charset="-122"/>
                <a:cs typeface="Courier New" pitchFamily="34" charset="-120"/>
              </a:rPr>
              <a:t>eclipse-temurin:21-jre-alpine</a:t>
            </a:r>
            <a:endParaRPr lang="en-US" sz="1400" dirty="0"/>
          </a:p>
        </p:txBody>
      </p:sp>
      <p:sp>
        <p:nvSpPr>
          <p:cNvPr id="13" name="Camada application"/>
          <p:cNvSpPr/>
          <p:nvPr/>
        </p:nvSpPr>
        <p:spPr>
          <a:xfrm>
            <a:off x="6217920" y="2377440"/>
            <a:ext cx="5193792" cy="429768"/>
          </a:xfrm>
          <a:prstGeom prst="rect">
            <a:avLst/>
          </a:prstGeom>
          <a:solidFill>
            <a:schemeClr val="accent1"/>
          </a:solidFill>
          <a:ln w="12700">
            <a:solidFill>
              <a:srgbClr val="173D2C"/>
            </a:solidFill>
            <a:prstDash val="solid"/>
          </a:ln>
        </p:spPr>
      </p:sp>
      <p:sp>
        <p:nvSpPr>
          <p:cNvPr id="14" name="Text 10"/>
          <p:cNvSpPr txBox="1"/>
          <p:nvPr/>
        </p:nvSpPr>
        <p:spPr>
          <a:xfrm>
            <a:off x="6355080" y="2468880"/>
            <a:ext cx="4937760" cy="27432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application  </a:t>
            </a:r>
            <a:pPr indent="0" marL="0">
              <a:buNone/>
            </a:pPr>
            <a:r>
              <a:rPr lang="en-US" sz="1200" dirty="0">
                <a:solidFill>
                  <a:schemeClr val="bg1"/>
                </a:solidFill>
              </a:rPr>
              <a:t>código da API (muda a cada commit)</a:t>
            </a:r>
            <a:endParaRPr lang="en-US" sz="1400" dirty="0"/>
          </a:p>
        </p:txBody>
      </p:sp>
      <p:sp>
        <p:nvSpPr>
          <p:cNvPr id="15" name="Camada snapshot-dependencies"/>
          <p:cNvSpPr/>
          <p:nvPr/>
        </p:nvSpPr>
        <p:spPr>
          <a:xfrm>
            <a:off x="6217920" y="2880360"/>
            <a:ext cx="5193792" cy="429768"/>
          </a:xfrm>
          <a:prstGeom prst="rect">
            <a:avLst/>
          </a:prstGeom>
          <a:solidFill>
            <a:schemeClr val="accent5"/>
          </a:solidFill>
          <a:ln w="12700">
            <a:solidFill>
              <a:srgbClr val="173D2C"/>
            </a:solidFill>
            <a:prstDash val="solid"/>
          </a:ln>
        </p:spPr>
      </p:sp>
      <p:sp>
        <p:nvSpPr>
          <p:cNvPr id="16" name="Text 12"/>
          <p:cNvSpPr txBox="1"/>
          <p:nvPr/>
        </p:nvSpPr>
        <p:spPr>
          <a:xfrm>
            <a:off x="6355080" y="2971800"/>
            <a:ext cx="4937760" cy="27432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snapshot-dependencies  </a:t>
            </a:r>
            <a:pPr indent="0" marL="0">
              <a:buNone/>
            </a:pPr>
            <a:r>
              <a:rPr lang="en-US" sz="1200" dirty="0">
                <a:solidFill>
                  <a:schemeClr val="bg1"/>
                </a:solidFill>
              </a:rPr>
              <a:t>dependências SNAPSHOT</a:t>
            </a:r>
            <a:endParaRPr lang="en-US" sz="1400" dirty="0"/>
          </a:p>
        </p:txBody>
      </p:sp>
      <p:sp>
        <p:nvSpPr>
          <p:cNvPr id="17" name="Camada spring-boot-loader"/>
          <p:cNvSpPr/>
          <p:nvPr/>
        </p:nvSpPr>
        <p:spPr>
          <a:xfrm>
            <a:off x="6217920" y="3383280"/>
            <a:ext cx="5193792" cy="429768"/>
          </a:xfrm>
          <a:prstGeom prst="rect">
            <a:avLst/>
          </a:prstGeom>
          <a:solidFill>
            <a:schemeClr val="accent5"/>
          </a:solidFill>
          <a:ln w="12700">
            <a:solidFill>
              <a:srgbClr val="173D2C"/>
            </a:solidFill>
            <a:prstDash val="solid"/>
          </a:ln>
        </p:spPr>
      </p:sp>
      <p:sp>
        <p:nvSpPr>
          <p:cNvPr id="18" name="Text 14"/>
          <p:cNvSpPr txBox="1"/>
          <p:nvPr/>
        </p:nvSpPr>
        <p:spPr>
          <a:xfrm>
            <a:off x="6355080" y="3474720"/>
            <a:ext cx="4937760" cy="27432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spring-boot-loader  </a:t>
            </a:r>
            <a:pPr indent="0" marL="0">
              <a:buNone/>
            </a:pPr>
            <a:r>
              <a:rPr lang="en-US" sz="1200" dirty="0">
                <a:solidFill>
                  <a:schemeClr val="bg1"/>
                </a:solidFill>
              </a:rPr>
              <a:t>inicializador do Spring Boot</a:t>
            </a:r>
            <a:endParaRPr lang="en-US" sz="1400" dirty="0"/>
          </a:p>
        </p:txBody>
      </p:sp>
      <p:sp>
        <p:nvSpPr>
          <p:cNvPr id="19" name="Camada dependencies"/>
          <p:cNvSpPr/>
          <p:nvPr/>
        </p:nvSpPr>
        <p:spPr>
          <a:xfrm>
            <a:off x="6217920" y="3886200"/>
            <a:ext cx="5193792" cy="429768"/>
          </a:xfrm>
          <a:prstGeom prst="rect">
            <a:avLst/>
          </a:prstGeom>
          <a:solidFill>
            <a:schemeClr val="accent3"/>
          </a:solidFill>
          <a:ln w="12700">
            <a:solidFill>
              <a:srgbClr val="173D2C"/>
            </a:solidFill>
            <a:prstDash val="solid"/>
          </a:ln>
        </p:spPr>
      </p:sp>
      <p:sp>
        <p:nvSpPr>
          <p:cNvPr id="20" name="Text 16"/>
          <p:cNvSpPr txBox="1"/>
          <p:nvPr/>
        </p:nvSpPr>
        <p:spPr>
          <a:xfrm>
            <a:off x="6355080" y="3977640"/>
            <a:ext cx="4937760" cy="27432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dependencies  </a:t>
            </a:r>
            <a:pPr indent="0" marL="0">
              <a:buNone/>
            </a:pPr>
            <a:r>
              <a:rPr lang="en-US" sz="1200" dirty="0">
                <a:solidFill>
                  <a:schemeClr val="bg1"/>
                </a:solidFill>
              </a:rPr>
              <a:t>bibliotecas (mudam pouco)</a:t>
            </a:r>
            <a:endParaRPr lang="en-US" sz="1400" dirty="0"/>
          </a:p>
        </p:txBody>
      </p:sp>
      <p:sp>
        <p:nvSpPr>
          <p:cNvPr id="21" name="Text 17"/>
          <p:cNvSpPr txBox="1"/>
          <p:nvPr/>
        </p:nvSpPr>
        <p:spPr>
          <a:xfrm>
            <a:off x="6217920" y="4407408"/>
            <a:ext cx="5212080" cy="457200"/>
          </a:xfrm>
          <a:prstGeom prst="rect">
            <a:avLst/>
          </a:prstGeom>
          <a:noFill/>
          <a:ln/>
        </p:spPr>
        <p:txBody>
          <a:bodyPr wrap="square" lIns="0" tIns="0" rIns="0" bIns="0" rtlCol="0" anchor="t"/>
          <a:lstStyle/>
          <a:p>
            <a:pPr indent="0" marL="0">
              <a:buNone/>
            </a:pPr>
            <a:r>
              <a:rPr lang="en-US" sz="1250" dirty="0">
                <a:solidFill>
                  <a:schemeClr val="bg2"/>
                </a:solidFill>
              </a:rPr>
              <a:t>As camadas chegam da etapa 1 por COPY --from=build. Um deploy novo reenvia só a camada application.</a:t>
            </a:r>
            <a:endParaRPr lang="en-US" sz="1250" dirty="0"/>
          </a:p>
        </p:txBody>
      </p:sp>
      <p:sp>
        <p:nvSpPr>
          <p:cNvPr id="22" name="Usuário sem root"/>
          <p:cNvSpPr/>
          <p:nvPr/>
        </p:nvSpPr>
        <p:spPr>
          <a:xfrm>
            <a:off x="548640" y="5257800"/>
            <a:ext cx="566928" cy="566928"/>
          </a:xfrm>
          <a:prstGeom prst="ellipse">
            <a:avLst/>
          </a:prstGeom>
          <a:solidFill>
            <a:schemeClr val="accent1"/>
          </a:solidFill>
          <a:ln w="12700">
            <a:solidFill>
              <a:schemeClr val="accent1"/>
            </a:solidFill>
            <a:prstDash val="solid"/>
          </a:ln>
        </p:spPr>
      </p:sp>
      <p:pic>
        <p:nvPicPr>
          <p:cNvPr id="23" name="Usuário sem root (ícone)" descr="preencoded.png">    </p:cNvPr>
          <p:cNvPicPr>
            <a:picLocks noChangeAspect="1"/>
          </p:cNvPicPr>
          <p:nvPr/>
        </p:nvPicPr>
        <p:blipFill>
          <a:blip r:embed="rId3"/>
          <a:stretch>
            <a:fillRect/>
          </a:stretch>
        </p:blipFill>
        <p:spPr>
          <a:xfrm>
            <a:off x="690372" y="5399532"/>
            <a:ext cx="283464" cy="283464"/>
          </a:xfrm>
          <a:prstGeom prst="rect">
            <a:avLst/>
          </a:prstGeom>
        </p:spPr>
      </p:pic>
      <p:sp>
        <p:nvSpPr>
          <p:cNvPr id="24" name="Text 19"/>
          <p:cNvSpPr txBox="1"/>
          <p:nvPr/>
        </p:nvSpPr>
        <p:spPr>
          <a:xfrm>
            <a:off x="1234440" y="5266944"/>
            <a:ext cx="2057400" cy="822960"/>
          </a:xfrm>
          <a:prstGeom prst="rect">
            <a:avLst/>
          </a:prstGeom>
          <a:noFill/>
          <a:ln/>
        </p:spPr>
        <p:txBody>
          <a:bodyPr wrap="square" lIns="0" tIns="0" rIns="0" bIns="0" rtlCol="0" anchor="t"/>
          <a:lstStyle/>
          <a:p>
            <a:pPr indent="0" marL="0">
              <a:buNone/>
            </a:pPr>
            <a:r>
              <a:rPr lang="en-US" sz="1400" b="1" dirty="0">
                <a:solidFill>
                  <a:schemeClr val="tx1"/>
                </a:solidFill>
              </a:rPr>
              <a:t>Usuário sem root</a:t>
            </a:r>
            <a:endParaRPr lang="en-US" sz="1400" dirty="0"/>
          </a:p>
          <a:p>
            <a:pPr indent="0" marL="0">
              <a:buNone/>
            </a:pPr>
            <a:r>
              <a:rPr lang="en-US" sz="1250" dirty="0">
                <a:solidFill>
                  <a:schemeClr val="accent5"/>
                </a:solidFill>
              </a:rPr>
              <a:t>a aplicação roda como app</a:t>
            </a:r>
            <a:endParaRPr lang="en-US" sz="1400" dirty="0"/>
          </a:p>
        </p:txBody>
      </p:sp>
      <p:sp>
        <p:nvSpPr>
          <p:cNvPr id="25" name="HEALTHCHECK"/>
          <p:cNvSpPr/>
          <p:nvPr/>
        </p:nvSpPr>
        <p:spPr>
          <a:xfrm>
            <a:off x="3364992" y="5257800"/>
            <a:ext cx="566928" cy="566928"/>
          </a:xfrm>
          <a:prstGeom prst="ellipse">
            <a:avLst/>
          </a:prstGeom>
          <a:solidFill>
            <a:schemeClr val="accent1"/>
          </a:solidFill>
          <a:ln w="12700">
            <a:solidFill>
              <a:schemeClr val="accent1"/>
            </a:solidFill>
            <a:prstDash val="solid"/>
          </a:ln>
        </p:spPr>
      </p:sp>
      <p:pic>
        <p:nvPicPr>
          <p:cNvPr id="26" name="HEALTHCHECK (ícone)" descr="preencoded.png">    </p:cNvPr>
          <p:cNvPicPr>
            <a:picLocks noChangeAspect="1"/>
          </p:cNvPicPr>
          <p:nvPr/>
        </p:nvPicPr>
        <p:blipFill>
          <a:blip r:embed="rId4"/>
          <a:stretch>
            <a:fillRect/>
          </a:stretch>
        </p:blipFill>
        <p:spPr>
          <a:xfrm>
            <a:off x="3506724" y="5399532"/>
            <a:ext cx="283464" cy="283464"/>
          </a:xfrm>
          <a:prstGeom prst="rect">
            <a:avLst/>
          </a:prstGeom>
        </p:spPr>
      </p:pic>
      <p:sp>
        <p:nvSpPr>
          <p:cNvPr id="27" name="Text 21"/>
          <p:cNvSpPr txBox="1"/>
          <p:nvPr/>
        </p:nvSpPr>
        <p:spPr>
          <a:xfrm>
            <a:off x="4050792" y="5266944"/>
            <a:ext cx="2057400" cy="822960"/>
          </a:xfrm>
          <a:prstGeom prst="rect">
            <a:avLst/>
          </a:prstGeom>
          <a:noFill/>
          <a:ln/>
        </p:spPr>
        <p:txBody>
          <a:bodyPr wrap="square" lIns="0" tIns="0" rIns="0" bIns="0" rtlCol="0" anchor="t"/>
          <a:lstStyle/>
          <a:p>
            <a:pPr indent="0" marL="0">
              <a:buNone/>
            </a:pPr>
            <a:r>
              <a:rPr lang="en-US" sz="1400" b="1" dirty="0">
                <a:solidFill>
                  <a:schemeClr val="tx1"/>
                </a:solidFill>
              </a:rPr>
              <a:t>HEALTHCHECK</a:t>
            </a:r>
            <a:endParaRPr lang="en-US" sz="1400" dirty="0"/>
          </a:p>
          <a:p>
            <a:pPr indent="0" marL="0">
              <a:buNone/>
            </a:pPr>
            <a:r>
              <a:rPr lang="en-US" sz="1250" dirty="0">
                <a:solidFill>
                  <a:schemeClr val="accent5"/>
                </a:solidFill>
              </a:rPr>
              <a:t>liveness a cada 30 s</a:t>
            </a:r>
            <a:endParaRPr lang="en-US" sz="1400" dirty="0"/>
          </a:p>
        </p:txBody>
      </p:sp>
      <p:sp>
        <p:nvSpPr>
          <p:cNvPr id="28" name="JVM para 512 MB"/>
          <p:cNvSpPr/>
          <p:nvPr/>
        </p:nvSpPr>
        <p:spPr>
          <a:xfrm>
            <a:off x="6181344" y="5257800"/>
            <a:ext cx="566928" cy="566928"/>
          </a:xfrm>
          <a:prstGeom prst="ellipse">
            <a:avLst/>
          </a:prstGeom>
          <a:solidFill>
            <a:schemeClr val="accent1"/>
          </a:solidFill>
          <a:ln w="12700">
            <a:solidFill>
              <a:schemeClr val="accent1"/>
            </a:solidFill>
            <a:prstDash val="solid"/>
          </a:ln>
        </p:spPr>
      </p:sp>
      <p:pic>
        <p:nvPicPr>
          <p:cNvPr id="29" name="JVM para 512 MB (ícone)" descr="preencoded.png">    </p:cNvPr>
          <p:cNvPicPr>
            <a:picLocks noChangeAspect="1"/>
          </p:cNvPicPr>
          <p:nvPr/>
        </p:nvPicPr>
        <p:blipFill>
          <a:blip r:embed="rId5"/>
          <a:stretch>
            <a:fillRect/>
          </a:stretch>
        </p:blipFill>
        <p:spPr>
          <a:xfrm>
            <a:off x="6323076" y="5399532"/>
            <a:ext cx="283464" cy="283464"/>
          </a:xfrm>
          <a:prstGeom prst="rect">
            <a:avLst/>
          </a:prstGeom>
        </p:spPr>
      </p:pic>
      <p:sp>
        <p:nvSpPr>
          <p:cNvPr id="30" name="Text 23"/>
          <p:cNvSpPr txBox="1"/>
          <p:nvPr/>
        </p:nvSpPr>
        <p:spPr>
          <a:xfrm>
            <a:off x="6867144" y="5266944"/>
            <a:ext cx="2057400" cy="822960"/>
          </a:xfrm>
          <a:prstGeom prst="rect">
            <a:avLst/>
          </a:prstGeom>
          <a:noFill/>
          <a:ln/>
        </p:spPr>
        <p:txBody>
          <a:bodyPr wrap="square" lIns="0" tIns="0" rIns="0" bIns="0" rtlCol="0" anchor="t"/>
          <a:lstStyle/>
          <a:p>
            <a:pPr indent="0" marL="0">
              <a:buNone/>
            </a:pPr>
            <a:r>
              <a:rPr lang="en-US" sz="1400" b="1" dirty="0">
                <a:solidFill>
                  <a:schemeClr val="tx1"/>
                </a:solidFill>
              </a:rPr>
              <a:t>JVM para 512 MB</a:t>
            </a:r>
            <a:endParaRPr lang="en-US" sz="1400" dirty="0"/>
          </a:p>
          <a:p>
            <a:pPr indent="0" marL="0">
              <a:buNone/>
            </a:pPr>
            <a:r>
              <a:rPr lang="en-US" sz="1250" dirty="0">
                <a:solidFill>
                  <a:schemeClr val="accent5"/>
                </a:solidFill>
              </a:rPr>
              <a:t>heap 60%, GC serial, C1</a:t>
            </a:r>
            <a:endParaRPr lang="en-US" sz="1400" dirty="0"/>
          </a:p>
        </p:txBody>
      </p:sp>
      <p:sp>
        <p:nvSpPr>
          <p:cNvPr id="31" name="Desligamento gracioso"/>
          <p:cNvSpPr/>
          <p:nvPr/>
        </p:nvSpPr>
        <p:spPr>
          <a:xfrm>
            <a:off x="8997696" y="5257800"/>
            <a:ext cx="566928" cy="566928"/>
          </a:xfrm>
          <a:prstGeom prst="ellipse">
            <a:avLst/>
          </a:prstGeom>
          <a:solidFill>
            <a:schemeClr val="accent1"/>
          </a:solidFill>
          <a:ln w="12700">
            <a:solidFill>
              <a:schemeClr val="accent1"/>
            </a:solidFill>
            <a:prstDash val="solid"/>
          </a:ln>
        </p:spPr>
      </p:sp>
      <p:pic>
        <p:nvPicPr>
          <p:cNvPr id="32" name="Desligamento gracioso (ícone)" descr="preencoded.png">    </p:cNvPr>
          <p:cNvPicPr>
            <a:picLocks noChangeAspect="1"/>
          </p:cNvPicPr>
          <p:nvPr/>
        </p:nvPicPr>
        <p:blipFill>
          <a:blip r:embed="rId6"/>
          <a:stretch>
            <a:fillRect/>
          </a:stretch>
        </p:blipFill>
        <p:spPr>
          <a:xfrm>
            <a:off x="9139428" y="5399532"/>
            <a:ext cx="283464" cy="283464"/>
          </a:xfrm>
          <a:prstGeom prst="rect">
            <a:avLst/>
          </a:prstGeom>
        </p:spPr>
      </p:pic>
      <p:sp>
        <p:nvSpPr>
          <p:cNvPr id="33" name="Text 25"/>
          <p:cNvSpPr txBox="1"/>
          <p:nvPr/>
        </p:nvSpPr>
        <p:spPr>
          <a:xfrm>
            <a:off x="9683496" y="5266944"/>
            <a:ext cx="2057400" cy="822960"/>
          </a:xfrm>
          <a:prstGeom prst="rect">
            <a:avLst/>
          </a:prstGeom>
          <a:noFill/>
          <a:ln/>
        </p:spPr>
        <p:txBody>
          <a:bodyPr wrap="square" lIns="0" tIns="0" rIns="0" bIns="0" rtlCol="0" anchor="t"/>
          <a:lstStyle/>
          <a:p>
            <a:pPr indent="0" marL="0">
              <a:buNone/>
            </a:pPr>
            <a:r>
              <a:rPr lang="en-US" sz="1400" b="1" dirty="0">
                <a:solidFill>
                  <a:schemeClr val="tx1"/>
                </a:solidFill>
              </a:rPr>
              <a:t>Desligamento gracioso</a:t>
            </a:r>
            <a:endParaRPr lang="en-US" sz="1400" dirty="0"/>
          </a:p>
          <a:p>
            <a:pPr indent="0" marL="0">
              <a:buNone/>
            </a:pPr>
            <a:r>
              <a:rPr lang="en-US" sz="1250" dirty="0">
                <a:solidFill>
                  <a:schemeClr val="accent5"/>
                </a:solidFill>
              </a:rPr>
              <a:t>exec java + shutdown graceful</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Docker Compose: aplicação, banco, volumes e redes</a:t>
            </a:r>
            <a:endParaRPr lang="en-US" sz="3000" dirty="0"/>
          </a:p>
        </p:txBody>
      </p:sp>
      <p:sp>
        <p:nvSpPr>
          <p:cNvPr id="3" name="Rede frontend"/>
          <p:cNvSpPr/>
          <p:nvPr/>
        </p:nvSpPr>
        <p:spPr>
          <a:xfrm>
            <a:off x="548640" y="1371600"/>
            <a:ext cx="3291840" cy="4206240"/>
          </a:xfrm>
          <a:prstGeom prst="roundRect">
            <a:avLst>
              <a:gd name="adj" fmla="val 3333"/>
            </a:avLst>
          </a:prstGeom>
          <a:solidFill>
            <a:schemeClr val="bg2"/>
          </a:solidFill>
          <a:ln w="15875">
            <a:solidFill>
              <a:schemeClr val="accent3"/>
            </a:solidFill>
            <a:prstDash val="dash"/>
          </a:ln>
        </p:spPr>
      </p:sp>
      <p:sp>
        <p:nvSpPr>
          <p:cNvPr id="4" name="Text 2"/>
          <p:cNvSpPr txBox="1"/>
          <p:nvPr/>
        </p:nvSpPr>
        <p:spPr>
          <a:xfrm>
            <a:off x="731520" y="1481328"/>
            <a:ext cx="2926080" cy="320040"/>
          </a:xfrm>
          <a:prstGeom prst="rect">
            <a:avLst/>
          </a:prstGeom>
          <a:noFill/>
          <a:ln/>
        </p:spPr>
        <p:txBody>
          <a:bodyPr wrap="square" lIns="0" tIns="0" rIns="0" bIns="0" rtlCol="0" anchor="t"/>
          <a:lstStyle/>
          <a:p>
            <a:pPr indent="0" marL="0">
              <a:buNone/>
            </a:pPr>
            <a:r>
              <a:rPr lang="en-US" sz="1300" b="1" dirty="0">
                <a:solidFill>
                  <a:schemeClr val="accent3"/>
                </a:solidFill>
              </a:rPr>
              <a:t>rede frontend</a:t>
            </a:r>
            <a:endParaRPr lang="en-US" sz="1300" dirty="0"/>
          </a:p>
        </p:txBody>
      </p:sp>
      <p:sp>
        <p:nvSpPr>
          <p:cNvPr id="5" name="Rede backend"/>
          <p:cNvSpPr/>
          <p:nvPr/>
        </p:nvSpPr>
        <p:spPr>
          <a:xfrm>
            <a:off x="4343400" y="1371600"/>
            <a:ext cx="2834640" cy="4206240"/>
          </a:xfrm>
          <a:prstGeom prst="roundRect">
            <a:avLst>
              <a:gd name="adj" fmla="val 3871"/>
            </a:avLst>
          </a:prstGeom>
          <a:solidFill>
            <a:schemeClr val="bg2"/>
          </a:solidFill>
          <a:ln w="15875">
            <a:solidFill>
              <a:schemeClr val="accent2"/>
            </a:solidFill>
            <a:prstDash val="dash"/>
          </a:ln>
        </p:spPr>
      </p:sp>
      <p:sp>
        <p:nvSpPr>
          <p:cNvPr id="6" name="Text 4"/>
          <p:cNvSpPr txBox="1"/>
          <p:nvPr/>
        </p:nvSpPr>
        <p:spPr>
          <a:xfrm>
            <a:off x="4526280" y="1481328"/>
            <a:ext cx="2560320" cy="320040"/>
          </a:xfrm>
          <a:prstGeom prst="rect">
            <a:avLst/>
          </a:prstGeom>
          <a:noFill/>
          <a:ln/>
        </p:spPr>
        <p:txBody>
          <a:bodyPr wrap="square" lIns="0" tIns="0" rIns="0" bIns="0" rtlCol="0" anchor="t"/>
          <a:lstStyle/>
          <a:p>
            <a:pPr indent="0" marL="0">
              <a:buNone/>
            </a:pPr>
            <a:r>
              <a:rPr lang="en-US" sz="1300" b="1" dirty="0">
                <a:solidFill>
                  <a:schemeClr val="accent2"/>
                </a:solidFill>
              </a:rPr>
              <a:t>rede backend (internal)</a:t>
            </a:r>
            <a:endParaRPr lang="en-US" sz="1300" dirty="0"/>
          </a:p>
        </p:txBody>
      </p:sp>
      <p:sp>
        <p:nvSpPr>
          <p:cNvPr id="7" name="Serviço app"/>
          <p:cNvSpPr/>
          <p:nvPr/>
        </p:nvSpPr>
        <p:spPr>
          <a:xfrm>
            <a:off x="777240" y="1920240"/>
            <a:ext cx="2468880" cy="1188720"/>
          </a:xfrm>
          <a:prstGeom prst="roundRect">
            <a:avLst>
              <a:gd name="adj" fmla="val 7692"/>
            </a:avLst>
          </a:prstGeom>
          <a:solidFill>
            <a:schemeClr val="bg1"/>
          </a:solidFill>
          <a:ln w="12700">
            <a:solidFill>
              <a:srgbClr val="D9E1DC"/>
            </a:solidFill>
            <a:prstDash val="solid"/>
          </a:ln>
        </p:spPr>
      </p:sp>
      <p:sp>
        <p:nvSpPr>
          <p:cNvPr id="8" name="app"/>
          <p:cNvSpPr/>
          <p:nvPr/>
        </p:nvSpPr>
        <p:spPr>
          <a:xfrm>
            <a:off x="941832" y="2103120"/>
            <a:ext cx="566928" cy="566928"/>
          </a:xfrm>
          <a:prstGeom prst="ellipse">
            <a:avLst/>
          </a:prstGeom>
          <a:solidFill>
            <a:schemeClr val="accent1"/>
          </a:solidFill>
          <a:ln w="12700">
            <a:solidFill>
              <a:schemeClr val="accent1"/>
            </a:solidFill>
            <a:prstDash val="solid"/>
          </a:ln>
        </p:spPr>
      </p:sp>
      <p:pic>
        <p:nvPicPr>
          <p:cNvPr id="9" name="app (ícone)" descr="preencoded.png">    </p:cNvPr>
          <p:cNvPicPr>
            <a:picLocks noChangeAspect="1"/>
          </p:cNvPicPr>
          <p:nvPr/>
        </p:nvPicPr>
        <p:blipFill>
          <a:blip r:embed="rId1"/>
          <a:stretch>
            <a:fillRect/>
          </a:stretch>
        </p:blipFill>
        <p:spPr>
          <a:xfrm>
            <a:off x="1083564" y="2244852"/>
            <a:ext cx="283464" cy="283464"/>
          </a:xfrm>
          <a:prstGeom prst="rect">
            <a:avLst/>
          </a:prstGeom>
        </p:spPr>
      </p:pic>
      <p:sp>
        <p:nvSpPr>
          <p:cNvPr id="10" name="Text 7"/>
          <p:cNvSpPr txBox="1"/>
          <p:nvPr/>
        </p:nvSpPr>
        <p:spPr>
          <a:xfrm>
            <a:off x="1645920" y="2103120"/>
            <a:ext cx="1508760" cy="10515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app</a:t>
            </a:r>
            <a:endParaRPr lang="en-US" sz="1400" dirty="0"/>
          </a:p>
          <a:p>
            <a:pPr indent="0" marL="0">
              <a:buNone/>
            </a:pPr>
            <a:r>
              <a:rPr lang="en-US" sz="1200" dirty="0">
                <a:solidFill>
                  <a:schemeClr val="accent5"/>
                </a:solidFill>
              </a:rPr>
              <a:t>Spring Boot, porta 8080</a:t>
            </a:r>
            <a:endParaRPr lang="en-US" sz="1400" dirty="0"/>
          </a:p>
        </p:txBody>
      </p:sp>
      <p:sp>
        <p:nvSpPr>
          <p:cNvPr id="11" name="Serviço adminer"/>
          <p:cNvSpPr/>
          <p:nvPr/>
        </p:nvSpPr>
        <p:spPr>
          <a:xfrm>
            <a:off x="777240" y="4206240"/>
            <a:ext cx="2468880" cy="1188720"/>
          </a:xfrm>
          <a:prstGeom prst="roundRect">
            <a:avLst>
              <a:gd name="adj" fmla="val 7692"/>
            </a:avLst>
          </a:prstGeom>
          <a:solidFill>
            <a:schemeClr val="bg1"/>
          </a:solidFill>
          <a:ln w="12700">
            <a:solidFill>
              <a:srgbClr val="D9E1DC"/>
            </a:solidFill>
            <a:prstDash val="solid"/>
          </a:ln>
        </p:spPr>
      </p:sp>
      <p:sp>
        <p:nvSpPr>
          <p:cNvPr id="12" name="adminer"/>
          <p:cNvSpPr/>
          <p:nvPr/>
        </p:nvSpPr>
        <p:spPr>
          <a:xfrm>
            <a:off x="941832" y="4389120"/>
            <a:ext cx="566928" cy="566928"/>
          </a:xfrm>
          <a:prstGeom prst="ellipse">
            <a:avLst/>
          </a:prstGeom>
          <a:solidFill>
            <a:schemeClr val="accent5"/>
          </a:solidFill>
          <a:ln w="12700">
            <a:solidFill>
              <a:schemeClr val="accent5"/>
            </a:solidFill>
            <a:prstDash val="solid"/>
          </a:ln>
        </p:spPr>
      </p:sp>
      <p:pic>
        <p:nvPicPr>
          <p:cNvPr id="13" name="adminer (ícone)" descr="preencoded.png">    </p:cNvPr>
          <p:cNvPicPr>
            <a:picLocks noChangeAspect="1"/>
          </p:cNvPicPr>
          <p:nvPr/>
        </p:nvPicPr>
        <p:blipFill>
          <a:blip r:embed="rId2"/>
          <a:stretch>
            <a:fillRect/>
          </a:stretch>
        </p:blipFill>
        <p:spPr>
          <a:xfrm>
            <a:off x="1083564" y="4530852"/>
            <a:ext cx="283464" cy="283464"/>
          </a:xfrm>
          <a:prstGeom prst="rect">
            <a:avLst/>
          </a:prstGeom>
        </p:spPr>
      </p:pic>
      <p:sp>
        <p:nvSpPr>
          <p:cNvPr id="14" name="Text 10"/>
          <p:cNvSpPr txBox="1"/>
          <p:nvPr/>
        </p:nvSpPr>
        <p:spPr>
          <a:xfrm>
            <a:off x="1645920" y="4389120"/>
            <a:ext cx="1508760" cy="10515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adminer</a:t>
            </a:r>
            <a:endParaRPr lang="en-US" sz="1400" dirty="0"/>
          </a:p>
          <a:p>
            <a:pPr indent="0" marL="0">
              <a:buNone/>
            </a:pPr>
            <a:r>
              <a:rPr lang="en-US" sz="1200" dirty="0">
                <a:solidFill>
                  <a:schemeClr val="accent5"/>
                </a:solidFill>
              </a:rPr>
              <a:t>perfil tools, porta 8090</a:t>
            </a:r>
            <a:endParaRPr lang="en-US" sz="1400" dirty="0"/>
          </a:p>
        </p:txBody>
      </p:sp>
      <p:sp>
        <p:nvSpPr>
          <p:cNvPr id="15" name="Serviço db"/>
          <p:cNvSpPr/>
          <p:nvPr/>
        </p:nvSpPr>
        <p:spPr>
          <a:xfrm>
            <a:off x="4526280" y="1920240"/>
            <a:ext cx="2468880" cy="1188720"/>
          </a:xfrm>
          <a:prstGeom prst="roundRect">
            <a:avLst>
              <a:gd name="adj" fmla="val 7692"/>
            </a:avLst>
          </a:prstGeom>
          <a:solidFill>
            <a:schemeClr val="bg1"/>
          </a:solidFill>
          <a:ln w="12700">
            <a:solidFill>
              <a:srgbClr val="D9E1DC"/>
            </a:solidFill>
            <a:prstDash val="solid"/>
          </a:ln>
        </p:spPr>
      </p:sp>
      <p:sp>
        <p:nvSpPr>
          <p:cNvPr id="16" name="db"/>
          <p:cNvSpPr/>
          <p:nvPr/>
        </p:nvSpPr>
        <p:spPr>
          <a:xfrm>
            <a:off x="4690872" y="2103120"/>
            <a:ext cx="566928" cy="566928"/>
          </a:xfrm>
          <a:prstGeom prst="ellipse">
            <a:avLst/>
          </a:prstGeom>
          <a:solidFill>
            <a:schemeClr val="tx2"/>
          </a:solidFill>
          <a:ln w="12700">
            <a:solidFill>
              <a:schemeClr val="tx2"/>
            </a:solidFill>
            <a:prstDash val="solid"/>
          </a:ln>
        </p:spPr>
      </p:sp>
      <p:pic>
        <p:nvPicPr>
          <p:cNvPr id="17" name="db (ícone)" descr="preencoded.png">    </p:cNvPr>
          <p:cNvPicPr>
            <a:picLocks noChangeAspect="1"/>
          </p:cNvPicPr>
          <p:nvPr/>
        </p:nvPicPr>
        <p:blipFill>
          <a:blip r:embed="rId3"/>
          <a:stretch>
            <a:fillRect/>
          </a:stretch>
        </p:blipFill>
        <p:spPr>
          <a:xfrm>
            <a:off x="4832604" y="2244852"/>
            <a:ext cx="283464" cy="283464"/>
          </a:xfrm>
          <a:prstGeom prst="rect">
            <a:avLst/>
          </a:prstGeom>
        </p:spPr>
      </p:pic>
      <p:sp>
        <p:nvSpPr>
          <p:cNvPr id="18" name="Text 13"/>
          <p:cNvSpPr txBox="1"/>
          <p:nvPr/>
        </p:nvSpPr>
        <p:spPr>
          <a:xfrm>
            <a:off x="5394960" y="2103120"/>
            <a:ext cx="1508760" cy="10515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db</a:t>
            </a:r>
            <a:endParaRPr lang="en-US" sz="1400" dirty="0"/>
          </a:p>
          <a:p>
            <a:pPr indent="0" marL="0">
              <a:buNone/>
            </a:pPr>
            <a:r>
              <a:rPr lang="en-US" sz="1200" dirty="0">
                <a:solidFill>
                  <a:schemeClr val="accent5"/>
                </a:solidFill>
              </a:rPr>
              <a:t>PostgreSQL 17, sem porta exposta</a:t>
            </a:r>
            <a:endParaRPr lang="en-US" sz="1400" dirty="0"/>
          </a:p>
        </p:txBody>
      </p:sp>
      <p:sp>
        <p:nvSpPr>
          <p:cNvPr id="19" name="Shape 14"/>
          <p:cNvSpPr/>
          <p:nvPr/>
        </p:nvSpPr>
        <p:spPr>
          <a:xfrm>
            <a:off x="3246120" y="2514600"/>
            <a:ext cx="1280160" cy="914"/>
          </a:xfrm>
          <a:prstGeom prst="line">
            <a:avLst/>
          </a:prstGeom>
          <a:noFill/>
          <a:ln w="22225">
            <a:solidFill>
              <a:srgbClr val="4A5852"/>
            </a:solidFill>
            <a:prstDash val="solid"/>
            <a:tailEnd type="triangle"/>
          </a:ln>
        </p:spPr>
      </p:sp>
      <p:sp>
        <p:nvSpPr>
          <p:cNvPr id="20" name="Shape 15"/>
          <p:cNvSpPr/>
          <p:nvPr/>
        </p:nvSpPr>
        <p:spPr>
          <a:xfrm flipV="1">
            <a:off x="3246120" y="2926080"/>
            <a:ext cx="1280160" cy="1874520"/>
          </a:xfrm>
          <a:prstGeom prst="line">
            <a:avLst/>
          </a:prstGeom>
          <a:noFill/>
          <a:ln w="22225">
            <a:solidFill>
              <a:srgbClr val="4A5852"/>
            </a:solidFill>
            <a:prstDash val="solid"/>
            <a:tailEnd type="triangle"/>
          </a:ln>
        </p:spPr>
      </p:sp>
      <p:sp>
        <p:nvSpPr>
          <p:cNvPr id="21" name="Shape 16"/>
          <p:cNvSpPr/>
          <p:nvPr/>
        </p:nvSpPr>
        <p:spPr>
          <a:xfrm>
            <a:off x="2011680" y="3108960"/>
            <a:ext cx="914" cy="256032"/>
          </a:xfrm>
          <a:prstGeom prst="line">
            <a:avLst/>
          </a:prstGeom>
          <a:noFill/>
          <a:ln w="19050">
            <a:solidFill>
              <a:srgbClr val="4A5852"/>
            </a:solidFill>
            <a:prstDash val="solid"/>
          </a:ln>
        </p:spPr>
      </p:sp>
      <p:sp>
        <p:nvSpPr>
          <p:cNvPr id="22" name="Volume app-logs"/>
          <p:cNvSpPr/>
          <p:nvPr/>
        </p:nvSpPr>
        <p:spPr>
          <a:xfrm>
            <a:off x="1051560" y="3364992"/>
            <a:ext cx="1920240" cy="685800"/>
          </a:xfrm>
          <a:prstGeom prst="can">
            <a:avLst/>
          </a:prstGeom>
          <a:solidFill>
            <a:schemeClr val="accent4"/>
          </a:solidFill>
          <a:ln w="12700">
            <a:solidFill>
              <a:schemeClr val="accent4"/>
            </a:solidFill>
            <a:prstDash val="solid"/>
          </a:ln>
        </p:spPr>
      </p:sp>
      <p:sp>
        <p:nvSpPr>
          <p:cNvPr id="23" name="Text 18"/>
          <p:cNvSpPr txBox="1"/>
          <p:nvPr/>
        </p:nvSpPr>
        <p:spPr>
          <a:xfrm>
            <a:off x="1051560" y="3593592"/>
            <a:ext cx="1920240" cy="320040"/>
          </a:xfrm>
          <a:prstGeom prst="rect">
            <a:avLst/>
          </a:prstGeom>
          <a:noFill/>
          <a:ln/>
        </p:spPr>
        <p:txBody>
          <a:bodyPr wrap="square" lIns="0" tIns="0" rIns="0" bIns="0" rtlCol="0" anchor="t"/>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volume app-logs</a:t>
            </a:r>
            <a:endParaRPr lang="en-US" sz="1200" dirty="0"/>
          </a:p>
        </p:txBody>
      </p:sp>
      <p:sp>
        <p:nvSpPr>
          <p:cNvPr id="24" name="Volume pgdata"/>
          <p:cNvSpPr/>
          <p:nvPr/>
        </p:nvSpPr>
        <p:spPr>
          <a:xfrm>
            <a:off x="4800600" y="3794760"/>
            <a:ext cx="1920240" cy="1097280"/>
          </a:xfrm>
          <a:prstGeom prst="can">
            <a:avLst/>
          </a:prstGeom>
          <a:solidFill>
            <a:schemeClr val="accent4"/>
          </a:solidFill>
          <a:ln w="12700">
            <a:solidFill>
              <a:schemeClr val="accent4"/>
            </a:solidFill>
            <a:prstDash val="solid"/>
          </a:ln>
        </p:spPr>
      </p:sp>
      <p:sp>
        <p:nvSpPr>
          <p:cNvPr id="25" name="Text 20"/>
          <p:cNvSpPr txBox="1"/>
          <p:nvPr/>
        </p:nvSpPr>
        <p:spPr>
          <a:xfrm>
            <a:off x="4800600" y="4206240"/>
            <a:ext cx="1920240" cy="365760"/>
          </a:xfrm>
          <a:prstGeom prst="rect">
            <a:avLst/>
          </a:prstGeom>
          <a:noFill/>
          <a:ln/>
        </p:spPr>
        <p:txBody>
          <a:bodyPr wrap="square" lIns="0" tIns="0" rIns="0" bIns="0" rtlCol="0" anchor="t"/>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volume pgdata</a:t>
            </a:r>
            <a:endParaRPr lang="en-US" sz="1300" dirty="0"/>
          </a:p>
        </p:txBody>
      </p:sp>
      <p:sp>
        <p:nvSpPr>
          <p:cNvPr id="26" name="Text 21"/>
          <p:cNvSpPr txBox="1"/>
          <p:nvPr/>
        </p:nvSpPr>
        <p:spPr>
          <a:xfrm>
            <a:off x="548640" y="5715000"/>
            <a:ext cx="6629400" cy="594360"/>
          </a:xfrm>
          <a:prstGeom prst="rect">
            <a:avLst/>
          </a:prstGeom>
          <a:noFill/>
          <a:ln/>
        </p:spPr>
        <p:txBody>
          <a:bodyPr wrap="square" lIns="0" tIns="0" rIns="0" bIns="0" rtlCol="0" anchor="t"/>
          <a:lstStyle/>
          <a:p>
            <a:pPr indent="0" marL="0">
              <a:buNone/>
            </a:pPr>
            <a:r>
              <a:rPr lang="en-US" sz="1250" dirty="0">
                <a:solidFill>
                  <a:schemeClr val="accent5"/>
                </a:solidFill>
              </a:rPr>
              <a:t>Healthchecks: o app só sobe quando o db está saudável (depends_on: service_healthy) e fica pronto quando /actuator/health/readiness responde.</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543800" y="1371600"/>
          <a:ext cx="4096512" cy="914400"/>
        </p:xfrm>
        <a:graphic>
          <a:graphicData uri="http://schemas.openxmlformats.org/drawingml/2006/table">
            <a:tbl>
              <a:tblPr/>
              <a:tblGrid>
                <a:gridCol w="1188720"/>
                <a:gridCol w="2907792"/>
              </a:tblGrid>
              <a:tr h="0">
                <a:tc>
                  <a:txBody>
                    <a:bodyPr/>
                    <a:lstStyle/>
                    <a:p>
                      <a:pPr indent="0" marL="0">
                        <a:buNone/>
                      </a:pPr>
                      <a:r>
                        <a:rPr lang="en-US" sz="1300" b="1" dirty="0">
                          <a:solidFill>
                            <a:schemeClr val="tx2"/>
                          </a:solidFill>
                        </a:rPr>
                        <a:t>Serviços</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app, db e adminer (opcional)</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2"/>
                          </a:solidFill>
                        </a:rPr>
                        <a:t>Volumes</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pgdata (dados persistentes) e app-logs (arquivo de log)</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rPr>
                        <a:t>Redes</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frontend com portas publicadas; backend interna, sem acesso externo</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2"/>
                          </a:solidFill>
                        </a:rPr>
                        <a:t>Variáveis</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arquivo .env (modelo .env.example); senha obrigatória</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rPr>
                        <a:t>Ambientes</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 mesmo arquivo sobe staging (8081) e produção (8082) isolados com -p e --env-file</a:t>
                      </a:r>
                      <a:endParaRPr lang="en-US" sz="1300" dirty="0"/>
                    </a:p>
                  </a:txBody>
                  <a:tcPr marL="91440" marR="91440" marT="73152" marB="73152"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Comandos usados e imagem criada</a:t>
            </a:r>
            <a:endParaRPr lang="en-US" sz="3000" dirty="0"/>
          </a:p>
        </p:txBody>
      </p:sp>
      <p:sp>
        <p:nvSpPr>
          <p:cNvPr id="3" name="Terminal"/>
          <p:cNvSpPr/>
          <p:nvPr/>
        </p:nvSpPr>
        <p:spPr>
          <a:xfrm>
            <a:off x="548640" y="1325880"/>
            <a:ext cx="6675120" cy="4846320"/>
          </a:xfrm>
          <a:prstGeom prst="roundRect">
            <a:avLst>
              <a:gd name="adj" fmla="val 1887"/>
            </a:avLst>
          </a:prstGeom>
          <a:solidFill>
            <a:schemeClr val="tx1"/>
          </a:solidFill>
          <a:ln w="12700">
            <a:solidFill>
              <a:schemeClr val="tx1"/>
            </a:solidFill>
            <a:prstDash val="solid"/>
          </a:ln>
        </p:spPr>
      </p:sp>
      <p:sp>
        <p:nvSpPr>
          <p:cNvPr id="4" name="Text 2"/>
          <p:cNvSpPr txBox="1"/>
          <p:nvPr/>
        </p:nvSpPr>
        <p:spPr>
          <a:xfrm>
            <a:off x="777240" y="1554480"/>
            <a:ext cx="6309360" cy="4526280"/>
          </a:xfrm>
          <a:prstGeom prst="rect">
            <a:avLst/>
          </a:prstGeom>
          <a:noFill/>
          <a:ln/>
        </p:spPr>
        <p:txBody>
          <a:bodyPr wrap="square" lIns="0" tIns="0" rIns="0" bIns="0" rtlCol="0" anchor="t"/>
          <a:lstStyle/>
          <a:p>
            <a:pPr indent="0" marL="0">
              <a:spcAft>
                <a:spcPts val="400"/>
              </a:spcAft>
              <a:buNone/>
            </a:pPr>
            <a:r>
              <a:rPr lang="en-US" sz="1350" dirty="0">
                <a:solidFill>
                  <a:schemeClr val="accent4"/>
                </a:solidFill>
                <a:latin typeface="Courier New" pitchFamily="34" charset="0"/>
                <a:ea typeface="Courier New" pitchFamily="34" charset="-122"/>
                <a:cs typeface="Courier New" pitchFamily="34" charset="-120"/>
              </a:rPr>
              <a:t># construir a imagem</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docker build -t cidades-esg-inteligentes .</a:t>
            </a:r>
            <a:endParaRPr lang="en-US" sz="1350" dirty="0"/>
          </a:p>
          <a:p>
            <a:pPr indent="0" marL="0">
              <a:spcAft>
                <a:spcPts val="400"/>
              </a:spcAft>
              <a:buNone/>
            </a:pPr>
            <a:r>
              <a:rPr lang="en-US" sz="1350" dirty="0">
                <a:solidFill>
                  <a:schemeClr val="accent4"/>
                </a:solidFill>
                <a:latin typeface="Courier New" pitchFamily="34" charset="0"/>
                <a:ea typeface="Courier New" pitchFamily="34" charset="-122"/>
                <a:cs typeface="Courier New" pitchFamily="34" charset="-120"/>
              </a:rPr>
              <a:t># subir aplicação + PostgreSQL</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cp .env.example .env</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docker compose up -d --build</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docker compose ps</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docker compose logs -f app</a:t>
            </a:r>
            <a:endParaRPr lang="en-US" sz="1350" dirty="0"/>
          </a:p>
          <a:p>
            <a:pPr indent="0" marL="0">
              <a:spcAft>
                <a:spcPts val="400"/>
              </a:spcAft>
              <a:buNone/>
            </a:pPr>
            <a:r>
              <a:rPr lang="en-US" sz="1350" dirty="0">
                <a:solidFill>
                  <a:schemeClr val="accent4"/>
                </a:solidFill>
                <a:latin typeface="Courier New" pitchFamily="34" charset="0"/>
                <a:ea typeface="Courier New" pitchFamily="34" charset="-122"/>
                <a:cs typeface="Courier New" pitchFamily="34" charset="-120"/>
              </a:rPr>
              <a:t># testar a API de ponta a ponta</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bash scripts/smoke-test.sh \</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  http://localhost:8080 local --escrita</a:t>
            </a:r>
            <a:endParaRPr lang="en-US" sz="1350" dirty="0"/>
          </a:p>
          <a:p>
            <a:pPr indent="0" marL="0">
              <a:spcAft>
                <a:spcPts val="400"/>
              </a:spcAft>
              <a:buNone/>
            </a:pPr>
            <a:r>
              <a:rPr lang="en-US" sz="1350" dirty="0">
                <a:solidFill>
                  <a:schemeClr val="accent4"/>
                </a:solidFill>
                <a:latin typeface="Courier New" pitchFamily="34" charset="0"/>
                <a:ea typeface="Courier New" pitchFamily="34" charset="-122"/>
                <a:cs typeface="Courier New" pitchFamily="34" charset="-120"/>
              </a:rPr>
              <a:t># simular staging e produção lado a lado</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docker compose -p cidades-esg-staging --env-file .env \</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  --env-file envs/staging.env up -d --build</a:t>
            </a:r>
            <a:endParaRPr lang="en-US" sz="1350" dirty="0"/>
          </a:p>
          <a:p>
            <a:pPr indent="0" marL="0">
              <a:spcAft>
                <a:spcPts val="400"/>
              </a:spcAft>
              <a:buNone/>
            </a:pPr>
            <a:r>
              <a:rPr lang="en-US" sz="1350" dirty="0">
                <a:solidFill>
                  <a:schemeClr val="accent4"/>
                </a:solidFill>
                <a:latin typeface="Courier New" pitchFamily="34" charset="0"/>
                <a:ea typeface="Courier New" pitchFamily="34" charset="-122"/>
                <a:cs typeface="Courier New" pitchFamily="34" charset="-120"/>
              </a:rPr>
              <a:t># parar (com -v apaga os dados)</a:t>
            </a:r>
            <a:endParaRPr lang="en-US" sz="1350" dirty="0"/>
          </a:p>
          <a:p>
            <a:pPr indent="0" marL="0">
              <a:spcAft>
                <a:spcPts val="400"/>
              </a:spcAft>
              <a:buNone/>
            </a:pPr>
            <a:r>
              <a:rPr lang="en-US" sz="1350" dirty="0">
                <a:solidFill>
                  <a:schemeClr val="bg1"/>
                </a:solidFill>
                <a:latin typeface="Courier New" pitchFamily="34" charset="0"/>
                <a:ea typeface="Courier New" pitchFamily="34" charset="-122"/>
                <a:cs typeface="Courier New" pitchFamily="34" charset="-120"/>
              </a:rPr>
              <a:t>docker compose down -v</a:t>
            </a:r>
            <a:endParaRPr lang="en-US" sz="1350" dirty="0"/>
          </a:p>
        </p:txBody>
      </p:sp>
      <p:sp>
        <p:nvSpPr>
          <p:cNvPr id="5" name="Shape 3"/>
          <p:cNvSpPr/>
          <p:nvPr/>
        </p:nvSpPr>
        <p:spPr>
          <a:xfrm>
            <a:off x="7543800" y="1325880"/>
            <a:ext cx="4096512" cy="4846320"/>
          </a:xfrm>
          <a:prstGeom prst="roundRect">
            <a:avLst>
              <a:gd name="adj" fmla="val 2232"/>
            </a:avLst>
          </a:prstGeom>
          <a:solidFill>
            <a:schemeClr val="bg2"/>
          </a:solidFill>
          <a:ln w="12700">
            <a:solidFill>
              <a:schemeClr val="bg2"/>
            </a:solidFill>
            <a:prstDash val="solid"/>
          </a:ln>
        </p:spPr>
      </p:sp>
      <p:sp>
        <p:nvSpPr>
          <p:cNvPr id="6" name="Imagem"/>
          <p:cNvSpPr/>
          <p:nvPr/>
        </p:nvSpPr>
        <p:spPr>
          <a:xfrm>
            <a:off x="7772400" y="1554480"/>
            <a:ext cx="685800" cy="685800"/>
          </a:xfrm>
          <a:prstGeom prst="ellipse">
            <a:avLst/>
          </a:prstGeom>
          <a:solidFill>
            <a:schemeClr val="accent3"/>
          </a:solidFill>
          <a:ln w="12700">
            <a:solidFill>
              <a:schemeClr val="accent3"/>
            </a:solidFill>
            <a:prstDash val="solid"/>
          </a:ln>
        </p:spPr>
      </p:sp>
      <p:pic>
        <p:nvPicPr>
          <p:cNvPr id="7" name="Imagem (ícone)" descr="preencoded.png">    </p:cNvPr>
          <p:cNvPicPr>
            <a:picLocks noChangeAspect="1"/>
          </p:cNvPicPr>
          <p:nvPr/>
        </p:nvPicPr>
        <p:blipFill>
          <a:blip r:embed="rId1"/>
          <a:stretch>
            <a:fillRect/>
          </a:stretch>
        </p:blipFill>
        <p:spPr>
          <a:xfrm>
            <a:off x="7943850" y="1725930"/>
            <a:ext cx="342900" cy="342900"/>
          </a:xfrm>
          <a:prstGeom prst="rect">
            <a:avLst/>
          </a:prstGeom>
        </p:spPr>
      </p:pic>
      <p:sp>
        <p:nvSpPr>
          <p:cNvPr id="8" name="Text 5"/>
          <p:cNvSpPr txBox="1"/>
          <p:nvPr/>
        </p:nvSpPr>
        <p:spPr>
          <a:xfrm>
            <a:off x="8595360" y="1719072"/>
            <a:ext cx="2926080" cy="411480"/>
          </a:xfrm>
          <a:prstGeom prst="rect">
            <a:avLst/>
          </a:prstGeom>
          <a:noFill/>
          <a:ln/>
        </p:spPr>
        <p:txBody>
          <a:bodyPr wrap="square" lIns="0" tIns="0" rIns="0" bIns="0" rtlCol="0" anchor="t"/>
          <a:lstStyle/>
          <a:p>
            <a:pPr indent="0" marL="0">
              <a:buNone/>
            </a:pPr>
            <a:r>
              <a:rPr lang="en-US" sz="1700" b="1" dirty="0">
                <a:solidFill>
                  <a:schemeClr val="tx2"/>
                </a:solidFill>
              </a:rPr>
              <a:t>Imagem criada</a:t>
            </a:r>
            <a:endParaRPr lang="en-US" sz="1700" dirty="0"/>
          </a:p>
        </p:txBody>
      </p:sp>
      <p:sp>
        <p:nvSpPr>
          <p:cNvPr id="9" name="Text 6"/>
          <p:cNvSpPr txBox="1"/>
          <p:nvPr/>
        </p:nvSpPr>
        <p:spPr>
          <a:xfrm>
            <a:off x="7772400" y="2423160"/>
            <a:ext cx="3703320" cy="3657600"/>
          </a:xfrm>
          <a:prstGeom prst="rect">
            <a:avLst/>
          </a:prstGeom>
          <a:noFill/>
          <a:ln/>
        </p:spPr>
        <p:txBody>
          <a:bodyPr wrap="square" lIns="0" tIns="0" rIns="0" bIns="0" rtlCol="0" anchor="t"/>
          <a:lstStyle/>
          <a:p>
            <a:pPr indent="0" marL="0">
              <a:spcAft>
                <a:spcPts val="300"/>
              </a:spcAft>
              <a:buNone/>
            </a:pPr>
            <a:r>
              <a:rPr lang="en-US" sz="1350" b="1" dirty="0">
                <a:solidFill>
                  <a:schemeClr val="tx1"/>
                </a:solidFill>
              </a:rPr>
              <a:t>Registro</a:t>
            </a:r>
            <a:endParaRPr lang="en-US" sz="135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ghcr.io/julhaalmeida/</a:t>
            </a:r>
            <a:endParaRPr lang="en-US" sz="135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cidades-esg-inteligentes</a:t>
            </a:r>
            <a:endParaRPr lang="en-US" sz="1350" dirty="0"/>
          </a:p>
          <a:p>
            <a:pPr indent="0" marL="0">
              <a:spcAft>
                <a:spcPts val="300"/>
              </a:spcAft>
              <a:buNone/>
            </a:pPr>
            <a:r>
              <a:rPr lang="en-US" sz="1350" b="1" dirty="0">
                <a:solidFill>
                  <a:schemeClr val="tx1"/>
                </a:solidFill>
              </a:rPr>
              <a:t>Tags</a:t>
            </a:r>
            <a:endParaRPr lang="en-US" sz="1350" dirty="0"/>
          </a:p>
          <a:p>
            <a:pPr indent="0" marL="0">
              <a:spcAft>
                <a:spcPts val="300"/>
              </a:spcAft>
              <a:buNone/>
            </a:pPr>
            <a:r>
              <a:rPr lang="en-US" sz="1350" dirty="0">
                <a:solidFill>
                  <a:schemeClr val="tx1"/>
                </a:solidFill>
              </a:rPr>
              <a:t>sha-&lt;commit&gt; (versão rastreável) e latest</a:t>
            </a:r>
            <a:endParaRPr lang="en-US" sz="1350" dirty="0"/>
          </a:p>
          <a:p>
            <a:pPr indent="0" marL="0">
              <a:spcAft>
                <a:spcPts val="300"/>
              </a:spcAft>
              <a:buNone/>
            </a:pPr>
            <a:r>
              <a:rPr lang="en-US" sz="1350" b="1" dirty="0">
                <a:solidFill>
                  <a:schemeClr val="tx1"/>
                </a:solidFill>
              </a:rPr>
              <a:t>Base</a:t>
            </a:r>
            <a:endParaRPr lang="en-US" sz="135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eclipse-temurin:21-jre-alpine</a:t>
            </a:r>
            <a:endParaRPr lang="en-US" sz="1350" dirty="0"/>
          </a:p>
          <a:p>
            <a:pPr indent="0" marL="0">
              <a:spcAft>
                <a:spcPts val="300"/>
              </a:spcAft>
              <a:buNone/>
            </a:pPr>
            <a:r>
              <a:rPr lang="en-US" sz="1350" b="1" dirty="0">
                <a:solidFill>
                  <a:schemeClr val="tx1"/>
                </a:solidFill>
              </a:rPr>
              <a:t>Execução</a:t>
            </a:r>
            <a:endParaRPr lang="en-US" sz="1350" dirty="0"/>
          </a:p>
          <a:p>
            <a:pPr indent="0" marL="0">
              <a:spcAft>
                <a:spcPts val="300"/>
              </a:spcAft>
              <a:buNone/>
            </a:pPr>
            <a:r>
              <a:rPr lang="en-US" sz="1350" dirty="0">
                <a:solidFill>
                  <a:schemeClr val="tx1"/>
                </a:solidFill>
              </a:rPr>
              <a:t>usuário app (sem root), porta 8080, health check em /actuator/health/liveness</a:t>
            </a:r>
            <a:endParaRPr lang="en-US" sz="1350" dirty="0"/>
          </a:p>
          <a:p>
            <a:pPr indent="0" marL="0">
              <a:spcAft>
                <a:spcPts val="300"/>
              </a:spcAft>
              <a:buNone/>
            </a:pPr>
            <a:r>
              <a:rPr lang="en-US" sz="1350" b="1" dirty="0">
                <a:solidFill>
                  <a:schemeClr val="tx1"/>
                </a:solidFill>
              </a:rPr>
              <a:t>Rastreabilidade</a:t>
            </a:r>
            <a:endParaRPr lang="en-US" sz="1350" dirty="0"/>
          </a:p>
          <a:p>
            <a:pPr indent="0" marL="0">
              <a:spcAft>
                <a:spcPts val="300"/>
              </a:spcAft>
              <a:buNone/>
            </a:pPr>
            <a:r>
              <a:rPr lang="en-US" sz="1350" dirty="0">
                <a:solidFill>
                  <a:schemeClr val="tx1"/>
                </a:solidFill>
              </a:rPr>
              <a:t>o commit vai para a imagem (APP_COMMIT) e aparece em /api/info</a:t>
            </a:r>
            <a:endParaRPr lang="en-US" sz="13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Pipeline em execução: visão geral e build</a:t>
            </a:r>
            <a:endParaRPr lang="en-US" sz="3000" dirty="0"/>
          </a:p>
        </p:txBody>
      </p:sp>
      <p:pic>
        <p:nvPicPr>
          <p:cNvPr id="3" name="Print: Pipeline completo" descr="Pipeline completo: Execução #3 na main, commit 6677280: os cinco jobs concluídos com sucesso">    </p:cNvPr>
          <p:cNvPicPr>
            <a:picLocks noChangeAspect="1"/>
          </p:cNvPicPr>
          <p:nvPr/>
        </p:nvPicPr>
        <p:blipFill>
          <a:blip r:embed="rId1"/>
          <a:stretch>
            <a:fillRect/>
          </a:stretch>
        </p:blipFill>
        <p:spPr>
          <a:xfrm>
            <a:off x="548640" y="1600200"/>
            <a:ext cx="5367528" cy="2740399"/>
          </a:xfrm>
          <a:prstGeom prst="rect">
            <a:avLst/>
          </a:prstGeom>
        </p:spPr>
      </p:pic>
      <p:sp>
        <p:nvSpPr>
          <p:cNvPr id="4" name="Moldura: Pipeline completo"/>
          <p:cNvSpPr/>
          <p:nvPr/>
        </p:nvSpPr>
        <p:spPr>
          <a:xfrm>
            <a:off x="548640" y="1600200"/>
            <a:ext cx="5367528" cy="2740399"/>
          </a:xfrm>
          <a:prstGeom prst="rect">
            <a:avLst/>
          </a:prstGeom>
          <a:ln w="12700">
            <a:solidFill>
              <a:srgbClr val="D9E1DC"/>
            </a:solidFill>
            <a:prstDash val="solid"/>
          </a:ln>
        </p:spPr>
      </p:sp>
      <p:sp>
        <p:nvSpPr>
          <p:cNvPr id="5" name="Text 2"/>
          <p:cNvSpPr txBox="1"/>
          <p:nvPr/>
        </p:nvSpPr>
        <p:spPr>
          <a:xfrm>
            <a:off x="548640"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Pipeline completo</a:t>
            </a:r>
            <a:endParaRPr lang="en-US" sz="1400" dirty="0"/>
          </a:p>
          <a:p>
            <a:pPr indent="0" marL="0">
              <a:buNone/>
            </a:pPr>
            <a:r>
              <a:rPr lang="en-US" sz="1300" dirty="0">
                <a:solidFill>
                  <a:schemeClr val="accent5"/>
                </a:solidFill>
              </a:rPr>
              <a:t>Execução #3 na main, commit 6677280: os cinco jobs concluídos com sucesso</a:t>
            </a:r>
            <a:endParaRPr lang="en-US" sz="1400" dirty="0"/>
          </a:p>
        </p:txBody>
      </p:sp>
      <p:pic>
        <p:nvPicPr>
          <p:cNvPr id="6" name="Print: Build" descr="Build: Job Build: Java 21 com cache do Maven, JAR compilado e guardado como artefato">    </p:cNvPr>
          <p:cNvPicPr>
            <a:picLocks noChangeAspect="1"/>
          </p:cNvPicPr>
          <p:nvPr/>
        </p:nvPicPr>
        <p:blipFill>
          <a:blip r:embed="rId2"/>
          <a:stretch>
            <a:fillRect/>
          </a:stretch>
        </p:blipFill>
        <p:spPr>
          <a:xfrm>
            <a:off x="6272784" y="1600200"/>
            <a:ext cx="5367528" cy="2738759"/>
          </a:xfrm>
          <a:prstGeom prst="rect">
            <a:avLst/>
          </a:prstGeom>
        </p:spPr>
      </p:pic>
      <p:sp>
        <p:nvSpPr>
          <p:cNvPr id="7" name="Moldura: Build"/>
          <p:cNvSpPr/>
          <p:nvPr/>
        </p:nvSpPr>
        <p:spPr>
          <a:xfrm>
            <a:off x="6272784" y="1600200"/>
            <a:ext cx="5367528" cy="2738759"/>
          </a:xfrm>
          <a:prstGeom prst="rect">
            <a:avLst/>
          </a:prstGeom>
          <a:ln w="12700">
            <a:solidFill>
              <a:srgbClr val="D9E1DC"/>
            </a:solidFill>
            <a:prstDash val="solid"/>
          </a:ln>
        </p:spPr>
      </p:sp>
      <p:sp>
        <p:nvSpPr>
          <p:cNvPr id="8" name="Text 4"/>
          <p:cNvSpPr txBox="1"/>
          <p:nvPr/>
        </p:nvSpPr>
        <p:spPr>
          <a:xfrm>
            <a:off x="6272784"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Build</a:t>
            </a:r>
            <a:endParaRPr lang="en-US" sz="1400" dirty="0"/>
          </a:p>
          <a:p>
            <a:pPr indent="0" marL="0">
              <a:buNone/>
            </a:pPr>
            <a:r>
              <a:rPr lang="en-US" sz="1300" dirty="0">
                <a:solidFill>
                  <a:schemeClr val="accent5"/>
                </a:solidFill>
              </a:rPr>
              <a:t>Job Build: Java 21 com cache do Maven, JAR compilado e guardado como artefato</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Testes automatizados e validação com Docker</a:t>
            </a:r>
            <a:endParaRPr lang="en-US" sz="3000" dirty="0"/>
          </a:p>
        </p:txBody>
      </p:sp>
      <p:pic>
        <p:nvPicPr>
          <p:cNvPr id="3" name="Print: Testes" descr="Testes: Testes unitários e de integração com PostgreSQL, relatório publicado e cobertura (JaCoCo)">    </p:cNvPr>
          <p:cNvPicPr>
            <a:picLocks noChangeAspect="1"/>
          </p:cNvPicPr>
          <p:nvPr/>
        </p:nvPicPr>
        <p:blipFill>
          <a:blip r:embed="rId1"/>
          <a:stretch>
            <a:fillRect/>
          </a:stretch>
        </p:blipFill>
        <p:spPr>
          <a:xfrm>
            <a:off x="548640" y="1600200"/>
            <a:ext cx="5367528" cy="2674554"/>
          </a:xfrm>
          <a:prstGeom prst="rect">
            <a:avLst/>
          </a:prstGeom>
        </p:spPr>
      </p:pic>
      <p:sp>
        <p:nvSpPr>
          <p:cNvPr id="4" name="Moldura: Testes"/>
          <p:cNvSpPr/>
          <p:nvPr/>
        </p:nvSpPr>
        <p:spPr>
          <a:xfrm>
            <a:off x="548640" y="1600200"/>
            <a:ext cx="5367528" cy="2674554"/>
          </a:xfrm>
          <a:prstGeom prst="rect">
            <a:avLst/>
          </a:prstGeom>
          <a:ln w="12700">
            <a:solidFill>
              <a:srgbClr val="D9E1DC"/>
            </a:solidFill>
            <a:prstDash val="solid"/>
          </a:ln>
        </p:spPr>
      </p:sp>
      <p:sp>
        <p:nvSpPr>
          <p:cNvPr id="5" name="Text 2"/>
          <p:cNvSpPr txBox="1"/>
          <p:nvPr/>
        </p:nvSpPr>
        <p:spPr>
          <a:xfrm>
            <a:off x="548640"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Testes</a:t>
            </a:r>
            <a:endParaRPr lang="en-US" sz="1400" dirty="0"/>
          </a:p>
          <a:p>
            <a:pPr indent="0" marL="0">
              <a:buNone/>
            </a:pPr>
            <a:r>
              <a:rPr lang="en-US" sz="1300" dirty="0">
                <a:solidFill>
                  <a:schemeClr val="accent5"/>
                </a:solidFill>
              </a:rPr>
              <a:t>Testes unitários e de integração com PostgreSQL, relatório publicado e cobertura (JaCoCo)</a:t>
            </a:r>
            <a:endParaRPr lang="en-US" sz="1400" dirty="0"/>
          </a:p>
        </p:txBody>
      </p:sp>
      <p:pic>
        <p:nvPicPr>
          <p:cNvPr id="6" name="Print: Docker no CI" descr="Docker no CI: Build da imagem, Compose com PostgreSQL, smoke tests e publicação no GHCR">    </p:cNvPr>
          <p:cNvPicPr>
            <a:picLocks noChangeAspect="1"/>
          </p:cNvPicPr>
          <p:nvPr/>
        </p:nvPicPr>
        <p:blipFill>
          <a:blip r:embed="rId2"/>
          <a:stretch>
            <a:fillRect/>
          </a:stretch>
        </p:blipFill>
        <p:spPr>
          <a:xfrm>
            <a:off x="6272784" y="1600200"/>
            <a:ext cx="5367528" cy="2773284"/>
          </a:xfrm>
          <a:prstGeom prst="rect">
            <a:avLst/>
          </a:prstGeom>
        </p:spPr>
      </p:pic>
      <p:sp>
        <p:nvSpPr>
          <p:cNvPr id="7" name="Moldura: Docker no CI"/>
          <p:cNvSpPr/>
          <p:nvPr/>
        </p:nvSpPr>
        <p:spPr>
          <a:xfrm>
            <a:off x="6272784" y="1600200"/>
            <a:ext cx="5367528" cy="2773284"/>
          </a:xfrm>
          <a:prstGeom prst="rect">
            <a:avLst/>
          </a:prstGeom>
          <a:ln w="12700">
            <a:solidFill>
              <a:srgbClr val="D9E1DC"/>
            </a:solidFill>
            <a:prstDash val="solid"/>
          </a:ln>
        </p:spPr>
      </p:sp>
      <p:sp>
        <p:nvSpPr>
          <p:cNvPr id="8" name="Text 4"/>
          <p:cNvSpPr txBox="1"/>
          <p:nvPr/>
        </p:nvSpPr>
        <p:spPr>
          <a:xfrm>
            <a:off x="6272784"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Docker no CI</a:t>
            </a:r>
            <a:endParaRPr lang="en-US" sz="1400" dirty="0"/>
          </a:p>
          <a:p>
            <a:pPr indent="0" marL="0">
              <a:buNone/>
            </a:pPr>
            <a:r>
              <a:rPr lang="en-US" sz="1300" dirty="0">
                <a:solidFill>
                  <a:schemeClr val="accent5"/>
                </a:solidFill>
              </a:rPr>
              <a:t>Build da imagem, Compose com PostgreSQL, smoke tests e publicação no GHCR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Deploy em staging e aprovação para produção</a:t>
            </a:r>
            <a:endParaRPr lang="en-US" sz="3000" dirty="0"/>
          </a:p>
        </p:txBody>
      </p:sp>
      <p:pic>
        <p:nvPicPr>
          <p:cNvPr id="3" name="Print: Deploy em staging" descr="Deploy em staging: Deploy no Render com o commit do pipeline e smoke tests de leitura e escrita">    </p:cNvPr>
          <p:cNvPicPr>
            <a:picLocks noChangeAspect="1"/>
          </p:cNvPicPr>
          <p:nvPr/>
        </p:nvPicPr>
        <p:blipFill>
          <a:blip r:embed="rId1"/>
          <a:stretch>
            <a:fillRect/>
          </a:stretch>
        </p:blipFill>
        <p:spPr>
          <a:xfrm>
            <a:off x="548640" y="1600200"/>
            <a:ext cx="5367528" cy="2707677"/>
          </a:xfrm>
          <a:prstGeom prst="rect">
            <a:avLst/>
          </a:prstGeom>
        </p:spPr>
      </p:pic>
      <p:sp>
        <p:nvSpPr>
          <p:cNvPr id="4" name="Moldura: Deploy em staging"/>
          <p:cNvSpPr/>
          <p:nvPr/>
        </p:nvSpPr>
        <p:spPr>
          <a:xfrm>
            <a:off x="548640" y="1600200"/>
            <a:ext cx="5367528" cy="2707677"/>
          </a:xfrm>
          <a:prstGeom prst="rect">
            <a:avLst/>
          </a:prstGeom>
          <a:ln w="12700">
            <a:solidFill>
              <a:srgbClr val="D9E1DC"/>
            </a:solidFill>
            <a:prstDash val="solid"/>
          </a:ln>
        </p:spPr>
      </p:sp>
      <p:sp>
        <p:nvSpPr>
          <p:cNvPr id="5" name="Text 2"/>
          <p:cNvSpPr txBox="1"/>
          <p:nvPr/>
        </p:nvSpPr>
        <p:spPr>
          <a:xfrm>
            <a:off x="548640"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Deploy em staging</a:t>
            </a:r>
            <a:endParaRPr lang="en-US" sz="1400" dirty="0"/>
          </a:p>
          <a:p>
            <a:pPr indent="0" marL="0">
              <a:buNone/>
            </a:pPr>
            <a:r>
              <a:rPr lang="en-US" sz="1300" dirty="0">
                <a:solidFill>
                  <a:schemeClr val="accent5"/>
                </a:solidFill>
              </a:rPr>
              <a:t>Deploy no Render com o commit do pipeline e smoke tests de leitura e escrita</a:t>
            </a:r>
            <a:endParaRPr lang="en-US" sz="1400" dirty="0"/>
          </a:p>
        </p:txBody>
      </p:sp>
      <p:pic>
        <p:nvPicPr>
          <p:cNvPr id="6" name="Print: Aprovação" descr="Aprovação: Revisão obrigatória do ambiente production antes do deploy">    </p:cNvPr>
          <p:cNvPicPr>
            <a:picLocks noChangeAspect="1"/>
          </p:cNvPicPr>
          <p:nvPr/>
        </p:nvPicPr>
        <p:blipFill>
          <a:blip r:embed="rId2"/>
          <a:stretch>
            <a:fillRect/>
          </a:stretch>
        </p:blipFill>
        <p:spPr>
          <a:xfrm>
            <a:off x="6460647" y="1600200"/>
            <a:ext cx="4991801" cy="3019235"/>
          </a:xfrm>
          <a:prstGeom prst="rect">
            <a:avLst/>
          </a:prstGeom>
        </p:spPr>
      </p:pic>
      <p:sp>
        <p:nvSpPr>
          <p:cNvPr id="7" name="Moldura: Aprovação"/>
          <p:cNvSpPr/>
          <p:nvPr/>
        </p:nvSpPr>
        <p:spPr>
          <a:xfrm>
            <a:off x="6460647" y="1600200"/>
            <a:ext cx="4991801" cy="3019235"/>
          </a:xfrm>
          <a:prstGeom prst="rect">
            <a:avLst/>
          </a:prstGeom>
          <a:ln w="12700">
            <a:solidFill>
              <a:srgbClr val="D9E1DC"/>
            </a:solidFill>
            <a:prstDash val="solid"/>
          </a:ln>
        </p:spPr>
      </p:sp>
      <p:sp>
        <p:nvSpPr>
          <p:cNvPr id="8" name="Text 4"/>
          <p:cNvSpPr txBox="1"/>
          <p:nvPr/>
        </p:nvSpPr>
        <p:spPr>
          <a:xfrm>
            <a:off x="6272784"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Aprovação</a:t>
            </a:r>
            <a:endParaRPr lang="en-US" sz="1400" dirty="0"/>
          </a:p>
          <a:p>
            <a:pPr indent="0" marL="0">
              <a:buNone/>
            </a:pPr>
            <a:r>
              <a:rPr lang="en-US" sz="1300" dirty="0">
                <a:solidFill>
                  <a:schemeClr val="accent5"/>
                </a:solidFill>
              </a:rPr>
              <a:t>Revisão obrigatória do ambiente production antes do deploy</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Deploy em produção e imagem publicada</a:t>
            </a:r>
            <a:endParaRPr lang="en-US" sz="3000" dirty="0"/>
          </a:p>
        </p:txBody>
      </p:sp>
      <p:pic>
        <p:nvPicPr>
          <p:cNvPr id="3" name="Print: Deploy em produção" descr="Deploy em produção: O mesmo commit de staging publicado em produção, com smoke tests somente leitura">    </p:cNvPr>
          <p:cNvPicPr>
            <a:picLocks noChangeAspect="1"/>
          </p:cNvPicPr>
          <p:nvPr/>
        </p:nvPicPr>
        <p:blipFill>
          <a:blip r:embed="rId1"/>
          <a:stretch>
            <a:fillRect/>
          </a:stretch>
        </p:blipFill>
        <p:spPr>
          <a:xfrm>
            <a:off x="548640" y="1600200"/>
            <a:ext cx="5367528" cy="2707579"/>
          </a:xfrm>
          <a:prstGeom prst="rect">
            <a:avLst/>
          </a:prstGeom>
        </p:spPr>
      </p:pic>
      <p:sp>
        <p:nvSpPr>
          <p:cNvPr id="4" name="Moldura: Deploy em produção"/>
          <p:cNvSpPr/>
          <p:nvPr/>
        </p:nvSpPr>
        <p:spPr>
          <a:xfrm>
            <a:off x="548640" y="1600200"/>
            <a:ext cx="5367528" cy="2707579"/>
          </a:xfrm>
          <a:prstGeom prst="rect">
            <a:avLst/>
          </a:prstGeom>
          <a:ln w="12700">
            <a:solidFill>
              <a:srgbClr val="D9E1DC"/>
            </a:solidFill>
            <a:prstDash val="solid"/>
          </a:ln>
        </p:spPr>
      </p:sp>
      <p:sp>
        <p:nvSpPr>
          <p:cNvPr id="5" name="Text 2"/>
          <p:cNvSpPr txBox="1"/>
          <p:nvPr/>
        </p:nvSpPr>
        <p:spPr>
          <a:xfrm>
            <a:off x="548640"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Deploy em produção</a:t>
            </a:r>
            <a:endParaRPr lang="en-US" sz="1400" dirty="0"/>
          </a:p>
          <a:p>
            <a:pPr indent="0" marL="0">
              <a:buNone/>
            </a:pPr>
            <a:r>
              <a:rPr lang="en-US" sz="1300" dirty="0">
                <a:solidFill>
                  <a:schemeClr val="accent5"/>
                </a:solidFill>
              </a:rPr>
              <a:t>O mesmo commit de staging publicado em produção, com smoke tests somente leitura</a:t>
            </a:r>
            <a:endParaRPr lang="en-US" sz="1400" dirty="0"/>
          </a:p>
        </p:txBody>
      </p:sp>
      <p:pic>
        <p:nvPicPr>
          <p:cNvPr id="6" name="Print: Imagem no GHCR" descr="Imagem no GHCR: ghcr.io/julhaalmeida/cidades-esg-inteligentes, com as tags sha-6677280 e latest">    </p:cNvPr>
          <p:cNvPicPr>
            <a:picLocks noChangeAspect="1"/>
          </p:cNvPicPr>
          <p:nvPr/>
        </p:nvPicPr>
        <p:blipFill>
          <a:blip r:embed="rId2"/>
          <a:stretch>
            <a:fillRect/>
          </a:stretch>
        </p:blipFill>
        <p:spPr>
          <a:xfrm>
            <a:off x="6272784" y="1600200"/>
            <a:ext cx="5367528" cy="2718714"/>
          </a:xfrm>
          <a:prstGeom prst="rect">
            <a:avLst/>
          </a:prstGeom>
        </p:spPr>
      </p:pic>
      <p:sp>
        <p:nvSpPr>
          <p:cNvPr id="7" name="Moldura: Imagem no GHCR"/>
          <p:cNvSpPr/>
          <p:nvPr/>
        </p:nvSpPr>
        <p:spPr>
          <a:xfrm>
            <a:off x="6272784" y="1600200"/>
            <a:ext cx="5367528" cy="2718714"/>
          </a:xfrm>
          <a:prstGeom prst="rect">
            <a:avLst/>
          </a:prstGeom>
          <a:ln w="12700">
            <a:solidFill>
              <a:srgbClr val="D9E1DC"/>
            </a:solidFill>
            <a:prstDash val="solid"/>
          </a:ln>
        </p:spPr>
      </p:sp>
      <p:sp>
        <p:nvSpPr>
          <p:cNvPr id="8" name="Text 4"/>
          <p:cNvSpPr txBox="1"/>
          <p:nvPr/>
        </p:nvSpPr>
        <p:spPr>
          <a:xfrm>
            <a:off x="6272784"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Imagem no GHCR</a:t>
            </a:r>
            <a:endParaRPr lang="en-US" sz="1400" dirty="0"/>
          </a:p>
          <a:p>
            <a:pPr indent="0" marL="0">
              <a:buNone/>
            </a:pPr>
            <a:r>
              <a:rPr lang="en-US" sz="1300" dirty="0">
                <a:solidFill>
                  <a:schemeClr val="accent5"/>
                </a:solidFill>
              </a:rPr>
              <a:t>ghcr.io/julhaalmeida/cidades-esg-inteligentes, com as tags sha-6677280 e latest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Ambientes funcionando: staging e produção</a:t>
            </a:r>
            <a:endParaRPr lang="en-US" sz="3000" dirty="0"/>
          </a:p>
        </p:txBody>
      </p:sp>
      <p:pic>
        <p:nvPicPr>
          <p:cNvPr id="3" name="Print: Staging" descr="Staging: cidades-esg-staging.onrender.com: faixa amarela, versão 1.0.0 e commit 6677280">    </p:cNvPr>
          <p:cNvPicPr>
            <a:picLocks noChangeAspect="1"/>
          </p:cNvPicPr>
          <p:nvPr/>
        </p:nvPicPr>
        <p:blipFill>
          <a:blip r:embed="rId1"/>
          <a:stretch>
            <a:fillRect/>
          </a:stretch>
        </p:blipFill>
        <p:spPr>
          <a:xfrm>
            <a:off x="548640" y="1600200"/>
            <a:ext cx="5367528" cy="2756891"/>
          </a:xfrm>
          <a:prstGeom prst="rect">
            <a:avLst/>
          </a:prstGeom>
        </p:spPr>
      </p:pic>
      <p:sp>
        <p:nvSpPr>
          <p:cNvPr id="4" name="Moldura: Staging"/>
          <p:cNvSpPr/>
          <p:nvPr/>
        </p:nvSpPr>
        <p:spPr>
          <a:xfrm>
            <a:off x="548640" y="1600200"/>
            <a:ext cx="5367528" cy="2756891"/>
          </a:xfrm>
          <a:prstGeom prst="rect">
            <a:avLst/>
          </a:prstGeom>
          <a:ln w="12700">
            <a:solidFill>
              <a:srgbClr val="D9E1DC"/>
            </a:solidFill>
            <a:prstDash val="solid"/>
          </a:ln>
        </p:spPr>
      </p:sp>
      <p:sp>
        <p:nvSpPr>
          <p:cNvPr id="5" name="Text 2"/>
          <p:cNvSpPr txBox="1"/>
          <p:nvPr/>
        </p:nvSpPr>
        <p:spPr>
          <a:xfrm>
            <a:off x="548640"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Staging</a:t>
            </a:r>
            <a:endParaRPr lang="en-US" sz="1400" dirty="0"/>
          </a:p>
          <a:p>
            <a:pPr indent="0" marL="0">
              <a:buNone/>
            </a:pPr>
            <a:r>
              <a:rPr lang="en-US" sz="1300" dirty="0">
                <a:solidFill>
                  <a:schemeClr val="accent5"/>
                </a:solidFill>
              </a:rPr>
              <a:t>cidades-esg-staging.onrender.com: faixa amarela, versão 1.0.0 e commit 6677280</a:t>
            </a:r>
            <a:endParaRPr lang="en-US" sz="1400" dirty="0"/>
          </a:p>
        </p:txBody>
      </p:sp>
      <p:pic>
        <p:nvPicPr>
          <p:cNvPr id="6" name="Print: Produção" descr="Produção: cidades-esg-production.onrender.com: faixa verde e o mesmo commit 6677280">    </p:cNvPr>
          <p:cNvPicPr>
            <a:picLocks noChangeAspect="1"/>
          </p:cNvPicPr>
          <p:nvPr/>
        </p:nvPicPr>
        <p:blipFill>
          <a:blip r:embed="rId2"/>
          <a:stretch>
            <a:fillRect/>
          </a:stretch>
        </p:blipFill>
        <p:spPr>
          <a:xfrm>
            <a:off x="6272784" y="1600200"/>
            <a:ext cx="5367528" cy="2747969"/>
          </a:xfrm>
          <a:prstGeom prst="rect">
            <a:avLst/>
          </a:prstGeom>
        </p:spPr>
      </p:pic>
      <p:sp>
        <p:nvSpPr>
          <p:cNvPr id="7" name="Moldura: Produção"/>
          <p:cNvSpPr/>
          <p:nvPr/>
        </p:nvSpPr>
        <p:spPr>
          <a:xfrm>
            <a:off x="6272784" y="1600200"/>
            <a:ext cx="5367528" cy="2747969"/>
          </a:xfrm>
          <a:prstGeom prst="rect">
            <a:avLst/>
          </a:prstGeom>
          <a:ln w="12700">
            <a:solidFill>
              <a:srgbClr val="D9E1DC"/>
            </a:solidFill>
            <a:prstDash val="solid"/>
          </a:ln>
        </p:spPr>
      </p:sp>
      <p:sp>
        <p:nvSpPr>
          <p:cNvPr id="8" name="Text 4"/>
          <p:cNvSpPr txBox="1"/>
          <p:nvPr/>
        </p:nvSpPr>
        <p:spPr>
          <a:xfrm>
            <a:off x="6272784"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Produção</a:t>
            </a:r>
            <a:endParaRPr lang="en-US" sz="1400" dirty="0"/>
          </a:p>
          <a:p>
            <a:pPr indent="0" marL="0">
              <a:buNone/>
            </a:pPr>
            <a:r>
              <a:rPr lang="en-US" sz="1300" dirty="0">
                <a:solidFill>
                  <a:schemeClr val="accent5"/>
                </a:solidFill>
              </a:rPr>
              <a:t>cidades-esg-production.onrender.com: faixa verde e o mesmo commit 6677280</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Infraestrutura no Render e Docker Compose</a:t>
            </a:r>
            <a:endParaRPr lang="en-US" sz="3000" dirty="0"/>
          </a:p>
        </p:txBody>
      </p:sp>
      <p:pic>
        <p:nvPicPr>
          <p:cNvPr id="3" name="Print: Render" descr="Render: Serviços Docker de staging e produção e o banco PostgreSQL 17, criados pelo render.yaml">    </p:cNvPr>
          <p:cNvPicPr>
            <a:picLocks noChangeAspect="1"/>
          </p:cNvPicPr>
          <p:nvPr/>
        </p:nvPicPr>
        <p:blipFill>
          <a:blip r:embed="rId1"/>
          <a:stretch>
            <a:fillRect/>
          </a:stretch>
        </p:blipFill>
        <p:spPr>
          <a:xfrm>
            <a:off x="548640" y="1600200"/>
            <a:ext cx="5367528" cy="2689260"/>
          </a:xfrm>
          <a:prstGeom prst="rect">
            <a:avLst/>
          </a:prstGeom>
        </p:spPr>
      </p:pic>
      <p:sp>
        <p:nvSpPr>
          <p:cNvPr id="4" name="Moldura: Render"/>
          <p:cNvSpPr/>
          <p:nvPr/>
        </p:nvSpPr>
        <p:spPr>
          <a:xfrm>
            <a:off x="548640" y="1600200"/>
            <a:ext cx="5367528" cy="2689260"/>
          </a:xfrm>
          <a:prstGeom prst="rect">
            <a:avLst/>
          </a:prstGeom>
          <a:ln w="12700">
            <a:solidFill>
              <a:srgbClr val="D9E1DC"/>
            </a:solidFill>
            <a:prstDash val="solid"/>
          </a:ln>
        </p:spPr>
      </p:sp>
      <p:sp>
        <p:nvSpPr>
          <p:cNvPr id="5" name="Text 2"/>
          <p:cNvSpPr txBox="1"/>
          <p:nvPr/>
        </p:nvSpPr>
        <p:spPr>
          <a:xfrm>
            <a:off x="548640"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Render</a:t>
            </a:r>
            <a:endParaRPr lang="en-US" sz="1400" dirty="0"/>
          </a:p>
          <a:p>
            <a:pPr indent="0" marL="0">
              <a:buNone/>
            </a:pPr>
            <a:r>
              <a:rPr lang="en-US" sz="1300" dirty="0">
                <a:solidFill>
                  <a:schemeClr val="accent5"/>
                </a:solidFill>
              </a:rPr>
              <a:t>Serviços Docker de staging e produção e o banco PostgreSQL 17, criados pelo render.yaml</a:t>
            </a:r>
            <a:endParaRPr lang="en-US" sz="1400" dirty="0"/>
          </a:p>
        </p:txBody>
      </p:sp>
      <p:pic>
        <p:nvPicPr>
          <p:cNvPr id="6" name="Print: Docker Compose" descr="Docker Compose: No pipeline: redes frontend e backend, volumes pgdata e app-logs e containers saudáveis">    </p:cNvPr>
          <p:cNvPicPr>
            <a:picLocks noChangeAspect="1"/>
          </p:cNvPicPr>
          <p:nvPr/>
        </p:nvPicPr>
        <p:blipFill>
          <a:blip r:embed="rId2"/>
          <a:stretch>
            <a:fillRect/>
          </a:stretch>
        </p:blipFill>
        <p:spPr>
          <a:xfrm>
            <a:off x="6272784" y="1600200"/>
            <a:ext cx="5367528" cy="2746263"/>
          </a:xfrm>
          <a:prstGeom prst="rect">
            <a:avLst/>
          </a:prstGeom>
        </p:spPr>
      </p:pic>
      <p:sp>
        <p:nvSpPr>
          <p:cNvPr id="7" name="Moldura: Docker Compose"/>
          <p:cNvSpPr/>
          <p:nvPr/>
        </p:nvSpPr>
        <p:spPr>
          <a:xfrm>
            <a:off x="6272784" y="1600200"/>
            <a:ext cx="5367528" cy="2746263"/>
          </a:xfrm>
          <a:prstGeom prst="rect">
            <a:avLst/>
          </a:prstGeom>
          <a:ln w="12700">
            <a:solidFill>
              <a:srgbClr val="D9E1DC"/>
            </a:solidFill>
            <a:prstDash val="solid"/>
          </a:ln>
        </p:spPr>
      </p:sp>
      <p:sp>
        <p:nvSpPr>
          <p:cNvPr id="8" name="Text 4"/>
          <p:cNvSpPr txBox="1"/>
          <p:nvPr/>
        </p:nvSpPr>
        <p:spPr>
          <a:xfrm>
            <a:off x="6272784" y="4802315"/>
            <a:ext cx="5367528" cy="1005840"/>
          </a:xfrm>
          <a:prstGeom prst="rect">
            <a:avLst/>
          </a:prstGeom>
          <a:noFill/>
          <a:ln/>
        </p:spPr>
        <p:txBody>
          <a:bodyPr wrap="square" lIns="0" tIns="0" rIns="0" bIns="0" rtlCol="0" anchor="t"/>
          <a:lstStyle/>
          <a:p>
            <a:pPr indent="0" marL="0">
              <a:buNone/>
            </a:pPr>
            <a:r>
              <a:rPr lang="en-US" sz="1600" b="1" dirty="0">
                <a:solidFill>
                  <a:schemeClr val="tx2"/>
                </a:solidFill>
              </a:rPr>
              <a:t>Docker Compose</a:t>
            </a:r>
            <a:endParaRPr lang="en-US" sz="1400" dirty="0"/>
          </a:p>
          <a:p>
            <a:pPr indent="0" marL="0">
              <a:buNone/>
            </a:pPr>
            <a:r>
              <a:rPr lang="en-US" sz="1300" dirty="0">
                <a:solidFill>
                  <a:schemeClr val="accent5"/>
                </a:solidFill>
              </a:rPr>
              <a:t>No pipeline: redes frontend e backend, volumes pgdata e app-logs e containers saudáveis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Desafios encontrados e como resolvemos</a:t>
            </a:r>
            <a:endParaRPr lang="en-US" sz="3000" dirty="0"/>
          </a:p>
        </p:txBody>
      </p:sp>
      <p:sp>
        <p:nvSpPr>
          <p:cNvPr id="3" name="Shape 1"/>
          <p:cNvSpPr/>
          <p:nvPr/>
        </p:nvSpPr>
        <p:spPr>
          <a:xfrm>
            <a:off x="548640" y="1371600"/>
            <a:ext cx="3538728" cy="2194560"/>
          </a:xfrm>
          <a:prstGeom prst="roundRect">
            <a:avLst>
              <a:gd name="adj" fmla="val 4167"/>
            </a:avLst>
          </a:prstGeom>
          <a:solidFill>
            <a:schemeClr val="bg2"/>
          </a:solidFill>
          <a:ln w="12700">
            <a:solidFill>
              <a:schemeClr val="bg2"/>
            </a:solidFill>
            <a:prstDash val="solid"/>
          </a:ln>
        </p:spPr>
      </p:sp>
      <p:sp>
        <p:nvSpPr>
          <p:cNvPr id="4" name="Só 1 banco gratuito no Render"/>
          <p:cNvSpPr/>
          <p:nvPr/>
        </p:nvSpPr>
        <p:spPr>
          <a:xfrm>
            <a:off x="777240" y="1600200"/>
            <a:ext cx="640080" cy="640080"/>
          </a:xfrm>
          <a:prstGeom prst="ellipse">
            <a:avLst/>
          </a:prstGeom>
          <a:solidFill>
            <a:schemeClr val="accent1"/>
          </a:solidFill>
          <a:ln w="12700">
            <a:solidFill>
              <a:schemeClr val="accent1"/>
            </a:solidFill>
            <a:prstDash val="solid"/>
          </a:ln>
        </p:spPr>
      </p:sp>
      <p:pic>
        <p:nvPicPr>
          <p:cNvPr id="5" name="Só 1 banco gratuito no Render (ícone)"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6" name="Text 3"/>
          <p:cNvSpPr txBox="1"/>
          <p:nvPr/>
        </p:nvSpPr>
        <p:spPr>
          <a:xfrm>
            <a:off x="1554480" y="1645920"/>
            <a:ext cx="2377440" cy="594360"/>
          </a:xfrm>
          <a:prstGeom prst="rect">
            <a:avLst/>
          </a:prstGeom>
          <a:noFill/>
          <a:ln/>
        </p:spPr>
        <p:txBody>
          <a:bodyPr wrap="square" lIns="0" tIns="0" rIns="0" bIns="0" rtlCol="0" anchor="ctr"/>
          <a:lstStyle/>
          <a:p>
            <a:pPr indent="0" marL="0">
              <a:buNone/>
            </a:pPr>
            <a:r>
              <a:rPr lang="en-US" sz="1550" b="1" dirty="0">
                <a:solidFill>
                  <a:schemeClr val="tx2"/>
                </a:solidFill>
              </a:rPr>
              <a:t>Só 1 banco gratuito no Render</a:t>
            </a:r>
            <a:endParaRPr lang="en-US" sz="1550" dirty="0"/>
          </a:p>
        </p:txBody>
      </p:sp>
      <p:sp>
        <p:nvSpPr>
          <p:cNvPr id="7" name="Text 4"/>
          <p:cNvSpPr txBox="1"/>
          <p:nvPr/>
        </p:nvSpPr>
        <p:spPr>
          <a:xfrm>
            <a:off x="777240" y="2423160"/>
            <a:ext cx="3108960" cy="1051560"/>
          </a:xfrm>
          <a:prstGeom prst="rect">
            <a:avLst/>
          </a:prstGeom>
          <a:noFill/>
          <a:ln/>
        </p:spPr>
        <p:txBody>
          <a:bodyPr wrap="square" lIns="0" tIns="0" rIns="0" bIns="0" rtlCol="0" anchor="t"/>
          <a:lstStyle/>
          <a:p>
            <a:pPr indent="0" marL="0">
              <a:buNone/>
            </a:pPr>
            <a:r>
              <a:rPr lang="en-US" sz="1500" dirty="0">
                <a:solidFill>
                  <a:schemeClr val="tx1"/>
                </a:solidFill>
              </a:rPr>
              <a:t>Cada ambiente usa um schema próprio (DB_SCHEMA), criado e migrado pelo Flyway.</a:t>
            </a:r>
            <a:endParaRPr lang="en-US" sz="1500" dirty="0"/>
          </a:p>
        </p:txBody>
      </p:sp>
      <p:sp>
        <p:nvSpPr>
          <p:cNvPr id="8" name="Shape 5"/>
          <p:cNvSpPr/>
          <p:nvPr/>
        </p:nvSpPr>
        <p:spPr>
          <a:xfrm>
            <a:off x="4325112" y="1371600"/>
            <a:ext cx="3538728" cy="2194560"/>
          </a:xfrm>
          <a:prstGeom prst="roundRect">
            <a:avLst>
              <a:gd name="adj" fmla="val 4167"/>
            </a:avLst>
          </a:prstGeom>
          <a:solidFill>
            <a:schemeClr val="bg2"/>
          </a:solidFill>
          <a:ln w="12700">
            <a:solidFill>
              <a:schemeClr val="bg2"/>
            </a:solidFill>
            <a:prstDash val="solid"/>
          </a:ln>
        </p:spPr>
      </p:sp>
      <p:sp>
        <p:nvSpPr>
          <p:cNvPr id="9" name="Produção igual a staging"/>
          <p:cNvSpPr/>
          <p:nvPr/>
        </p:nvSpPr>
        <p:spPr>
          <a:xfrm>
            <a:off x="4553712" y="1600200"/>
            <a:ext cx="640080" cy="640080"/>
          </a:xfrm>
          <a:prstGeom prst="ellipse">
            <a:avLst/>
          </a:prstGeom>
          <a:solidFill>
            <a:schemeClr val="accent1"/>
          </a:solidFill>
          <a:ln w="12700">
            <a:solidFill>
              <a:schemeClr val="accent1"/>
            </a:solidFill>
            <a:prstDash val="solid"/>
          </a:ln>
        </p:spPr>
      </p:sp>
      <p:pic>
        <p:nvPicPr>
          <p:cNvPr id="10" name="Produção igual a staging (ícone)" descr="preencoded.png">    </p:cNvPr>
          <p:cNvPicPr>
            <a:picLocks noChangeAspect="1"/>
          </p:cNvPicPr>
          <p:nvPr/>
        </p:nvPicPr>
        <p:blipFill>
          <a:blip r:embed="rId2"/>
          <a:stretch>
            <a:fillRect/>
          </a:stretch>
        </p:blipFill>
        <p:spPr>
          <a:xfrm>
            <a:off x="4713732" y="1760220"/>
            <a:ext cx="320040" cy="320040"/>
          </a:xfrm>
          <a:prstGeom prst="rect">
            <a:avLst/>
          </a:prstGeom>
        </p:spPr>
      </p:pic>
      <p:sp>
        <p:nvSpPr>
          <p:cNvPr id="11" name="Text 7"/>
          <p:cNvSpPr txBox="1"/>
          <p:nvPr/>
        </p:nvSpPr>
        <p:spPr>
          <a:xfrm>
            <a:off x="5330952" y="1645920"/>
            <a:ext cx="2377440" cy="594360"/>
          </a:xfrm>
          <a:prstGeom prst="rect">
            <a:avLst/>
          </a:prstGeom>
          <a:noFill/>
          <a:ln/>
        </p:spPr>
        <p:txBody>
          <a:bodyPr wrap="square" lIns="0" tIns="0" rIns="0" bIns="0" rtlCol="0" anchor="ctr"/>
          <a:lstStyle/>
          <a:p>
            <a:pPr indent="0" marL="0">
              <a:buNone/>
            </a:pPr>
            <a:r>
              <a:rPr lang="en-US" sz="1550" b="1" dirty="0">
                <a:solidFill>
                  <a:schemeClr val="tx2"/>
                </a:solidFill>
              </a:rPr>
              <a:t>Produção igual a staging</a:t>
            </a:r>
            <a:endParaRPr lang="en-US" sz="1550" dirty="0"/>
          </a:p>
        </p:txBody>
      </p:sp>
      <p:sp>
        <p:nvSpPr>
          <p:cNvPr id="12" name="Text 8"/>
          <p:cNvSpPr txBox="1"/>
          <p:nvPr/>
        </p:nvSpPr>
        <p:spPr>
          <a:xfrm>
            <a:off x="4553712" y="2423160"/>
            <a:ext cx="3108960" cy="1051560"/>
          </a:xfrm>
          <a:prstGeom prst="rect">
            <a:avLst/>
          </a:prstGeom>
          <a:noFill/>
          <a:ln/>
        </p:spPr>
        <p:txBody>
          <a:bodyPr wrap="square" lIns="0" tIns="0" rIns="0" bIns="0" rtlCol="0" anchor="t"/>
          <a:lstStyle/>
          <a:p>
            <a:pPr indent="0" marL="0">
              <a:buNone/>
            </a:pPr>
            <a:r>
              <a:rPr lang="en-US" sz="1500" dirty="0">
                <a:solidFill>
                  <a:schemeClr val="tx1"/>
                </a:solidFill>
              </a:rPr>
              <a:t>O mesmo commit vai para os dois deploy hooks (ref=&lt;sha&gt;) e é conferido em /api/info.</a:t>
            </a:r>
            <a:endParaRPr lang="en-US" sz="1500" dirty="0"/>
          </a:p>
        </p:txBody>
      </p:sp>
      <p:sp>
        <p:nvSpPr>
          <p:cNvPr id="13" name="Shape 9"/>
          <p:cNvSpPr/>
          <p:nvPr/>
        </p:nvSpPr>
        <p:spPr>
          <a:xfrm>
            <a:off x="8101584" y="1371600"/>
            <a:ext cx="3538728" cy="2194560"/>
          </a:xfrm>
          <a:prstGeom prst="roundRect">
            <a:avLst>
              <a:gd name="adj" fmla="val 4167"/>
            </a:avLst>
          </a:prstGeom>
          <a:solidFill>
            <a:schemeClr val="bg2"/>
          </a:solidFill>
          <a:ln w="12700">
            <a:solidFill>
              <a:schemeClr val="bg2"/>
            </a:solidFill>
            <a:prstDash val="solid"/>
          </a:ln>
        </p:spPr>
      </p:sp>
      <p:sp>
        <p:nvSpPr>
          <p:cNvPr id="14" name="Commit não chegava no Render"/>
          <p:cNvSpPr/>
          <p:nvPr/>
        </p:nvSpPr>
        <p:spPr>
          <a:xfrm>
            <a:off x="8330184" y="1600200"/>
            <a:ext cx="640080" cy="640080"/>
          </a:xfrm>
          <a:prstGeom prst="ellipse">
            <a:avLst/>
          </a:prstGeom>
          <a:solidFill>
            <a:schemeClr val="accent1"/>
          </a:solidFill>
          <a:ln w="12700">
            <a:solidFill>
              <a:schemeClr val="accent1"/>
            </a:solidFill>
            <a:prstDash val="solid"/>
          </a:ln>
        </p:spPr>
      </p:sp>
      <p:pic>
        <p:nvPicPr>
          <p:cNvPr id="15" name="Commit não chegava no Render (ícone)" descr="preencoded.png">    </p:cNvPr>
          <p:cNvPicPr>
            <a:picLocks noChangeAspect="1"/>
          </p:cNvPicPr>
          <p:nvPr/>
        </p:nvPicPr>
        <p:blipFill>
          <a:blip r:embed="rId3"/>
          <a:stretch>
            <a:fillRect/>
          </a:stretch>
        </p:blipFill>
        <p:spPr>
          <a:xfrm>
            <a:off x="8490204" y="1760220"/>
            <a:ext cx="320040" cy="320040"/>
          </a:xfrm>
          <a:prstGeom prst="rect">
            <a:avLst/>
          </a:prstGeom>
        </p:spPr>
      </p:pic>
      <p:sp>
        <p:nvSpPr>
          <p:cNvPr id="16" name="Text 11"/>
          <p:cNvSpPr txBox="1"/>
          <p:nvPr/>
        </p:nvSpPr>
        <p:spPr>
          <a:xfrm>
            <a:off x="9107424" y="1645920"/>
            <a:ext cx="2377440" cy="594360"/>
          </a:xfrm>
          <a:prstGeom prst="rect">
            <a:avLst/>
          </a:prstGeom>
          <a:noFill/>
          <a:ln/>
        </p:spPr>
        <p:txBody>
          <a:bodyPr wrap="square" lIns="0" tIns="0" rIns="0" bIns="0" rtlCol="0" anchor="ctr"/>
          <a:lstStyle/>
          <a:p>
            <a:pPr indent="0" marL="0">
              <a:buNone/>
            </a:pPr>
            <a:r>
              <a:rPr lang="en-US" sz="1550" b="1" dirty="0">
                <a:solidFill>
                  <a:schemeClr val="tx2"/>
                </a:solidFill>
              </a:rPr>
              <a:t>Commit não chegava no Render</a:t>
            </a:r>
            <a:endParaRPr lang="en-US" sz="1550" dirty="0"/>
          </a:p>
        </p:txBody>
      </p:sp>
      <p:sp>
        <p:nvSpPr>
          <p:cNvPr id="17" name="Text 12"/>
          <p:cNvSpPr txBox="1"/>
          <p:nvPr/>
        </p:nvSpPr>
        <p:spPr>
          <a:xfrm>
            <a:off x="8330184" y="2423160"/>
            <a:ext cx="3108960" cy="1051560"/>
          </a:xfrm>
          <a:prstGeom prst="rect">
            <a:avLst/>
          </a:prstGeom>
          <a:noFill/>
          <a:ln/>
        </p:spPr>
        <p:txBody>
          <a:bodyPr wrap="square" lIns="0" tIns="0" rIns="0" bIns="0" rtlCol="0" anchor="t"/>
          <a:lstStyle/>
          <a:p>
            <a:pPr indent="0" marL="0">
              <a:buNone/>
            </a:pPr>
            <a:r>
              <a:rPr lang="en-US" sz="1500" dirty="0">
                <a:solidFill>
                  <a:schemeClr val="tx1"/>
                </a:solidFill>
              </a:rPr>
              <a:t>O Render só repassa o commit para ARGs declarados. Declaramos ARG RENDER_GIT_COMMIT no Dockerfile.</a:t>
            </a:r>
            <a:endParaRPr lang="en-US" sz="1500" dirty="0"/>
          </a:p>
        </p:txBody>
      </p:sp>
      <p:sp>
        <p:nvSpPr>
          <p:cNvPr id="18" name="Shape 13"/>
          <p:cNvSpPr/>
          <p:nvPr/>
        </p:nvSpPr>
        <p:spPr>
          <a:xfrm>
            <a:off x="548640" y="3794760"/>
            <a:ext cx="3538728" cy="2194560"/>
          </a:xfrm>
          <a:prstGeom prst="roundRect">
            <a:avLst>
              <a:gd name="adj" fmla="val 4167"/>
            </a:avLst>
          </a:prstGeom>
          <a:solidFill>
            <a:schemeClr val="bg2"/>
          </a:solidFill>
          <a:ln w="12700">
            <a:solidFill>
              <a:schemeClr val="bg2"/>
            </a:solidFill>
            <a:prstDash val="solid"/>
          </a:ln>
        </p:spPr>
      </p:sp>
      <p:sp>
        <p:nvSpPr>
          <p:cNvPr id="19" name="512 MB e 0,1 CPU"/>
          <p:cNvSpPr/>
          <p:nvPr/>
        </p:nvSpPr>
        <p:spPr>
          <a:xfrm>
            <a:off x="777240" y="4023360"/>
            <a:ext cx="640080" cy="640080"/>
          </a:xfrm>
          <a:prstGeom prst="ellipse">
            <a:avLst/>
          </a:prstGeom>
          <a:solidFill>
            <a:schemeClr val="accent1"/>
          </a:solidFill>
          <a:ln w="12700">
            <a:solidFill>
              <a:schemeClr val="accent1"/>
            </a:solidFill>
            <a:prstDash val="solid"/>
          </a:ln>
        </p:spPr>
      </p:sp>
      <p:pic>
        <p:nvPicPr>
          <p:cNvPr id="20" name="512 MB e 0,1 CPU (ícone)" descr="preencoded.png">    </p:cNvPr>
          <p:cNvPicPr>
            <a:picLocks noChangeAspect="1"/>
          </p:cNvPicPr>
          <p:nvPr/>
        </p:nvPicPr>
        <p:blipFill>
          <a:blip r:embed="rId4"/>
          <a:stretch>
            <a:fillRect/>
          </a:stretch>
        </p:blipFill>
        <p:spPr>
          <a:xfrm>
            <a:off x="937260" y="4183380"/>
            <a:ext cx="320040" cy="320040"/>
          </a:xfrm>
          <a:prstGeom prst="rect">
            <a:avLst/>
          </a:prstGeom>
        </p:spPr>
      </p:pic>
      <p:sp>
        <p:nvSpPr>
          <p:cNvPr id="21" name="Text 15"/>
          <p:cNvSpPr txBox="1"/>
          <p:nvPr/>
        </p:nvSpPr>
        <p:spPr>
          <a:xfrm>
            <a:off x="1554480" y="4069080"/>
            <a:ext cx="2377440" cy="594360"/>
          </a:xfrm>
          <a:prstGeom prst="rect">
            <a:avLst/>
          </a:prstGeom>
          <a:noFill/>
          <a:ln/>
        </p:spPr>
        <p:txBody>
          <a:bodyPr wrap="square" lIns="0" tIns="0" rIns="0" bIns="0" rtlCol="0" anchor="ctr"/>
          <a:lstStyle/>
          <a:p>
            <a:pPr indent="0" marL="0">
              <a:buNone/>
            </a:pPr>
            <a:r>
              <a:rPr lang="en-US" sz="1550" b="1" dirty="0">
                <a:solidFill>
                  <a:schemeClr val="tx2"/>
                </a:solidFill>
              </a:rPr>
              <a:t>512 MB e 0,1 CPU</a:t>
            </a:r>
            <a:endParaRPr lang="en-US" sz="1550" dirty="0"/>
          </a:p>
        </p:txBody>
      </p:sp>
      <p:sp>
        <p:nvSpPr>
          <p:cNvPr id="22" name="Text 16"/>
          <p:cNvSpPr txBox="1"/>
          <p:nvPr/>
        </p:nvSpPr>
        <p:spPr>
          <a:xfrm>
            <a:off x="777240" y="4846320"/>
            <a:ext cx="3108960" cy="1051560"/>
          </a:xfrm>
          <a:prstGeom prst="rect">
            <a:avLst/>
          </a:prstGeom>
          <a:noFill/>
          <a:ln/>
        </p:spPr>
        <p:txBody>
          <a:bodyPr wrap="square" lIns="0" tIns="0" rIns="0" bIns="0" rtlCol="0" anchor="t"/>
          <a:lstStyle/>
          <a:p>
            <a:pPr indent="0" marL="0">
              <a:buNone/>
            </a:pPr>
            <a:r>
              <a:rPr lang="en-US" sz="1500" dirty="0">
                <a:solidFill>
                  <a:schemeClr val="tx1"/>
                </a:solidFill>
              </a:rPr>
              <a:t>JVM ajustada para container, pool de conexões pequeno e imagem JRE Alpine.</a:t>
            </a:r>
            <a:endParaRPr lang="en-US" sz="1500" dirty="0"/>
          </a:p>
        </p:txBody>
      </p:sp>
      <p:sp>
        <p:nvSpPr>
          <p:cNvPr id="23" name="Shape 17"/>
          <p:cNvSpPr/>
          <p:nvPr/>
        </p:nvSpPr>
        <p:spPr>
          <a:xfrm>
            <a:off x="4325112" y="3794760"/>
            <a:ext cx="3538728" cy="2194560"/>
          </a:xfrm>
          <a:prstGeom prst="roundRect">
            <a:avLst>
              <a:gd name="adj" fmla="val 4167"/>
            </a:avLst>
          </a:prstGeom>
          <a:solidFill>
            <a:schemeClr val="bg2"/>
          </a:solidFill>
          <a:ln w="12700">
            <a:solidFill>
              <a:schemeClr val="bg2"/>
            </a:solidFill>
            <a:prstDash val="solid"/>
          </a:ln>
        </p:spPr>
      </p:sp>
      <p:sp>
        <p:nvSpPr>
          <p:cNvPr id="24" name="Testar com o banco real"/>
          <p:cNvSpPr/>
          <p:nvPr/>
        </p:nvSpPr>
        <p:spPr>
          <a:xfrm>
            <a:off x="4553712" y="4023360"/>
            <a:ext cx="640080" cy="640080"/>
          </a:xfrm>
          <a:prstGeom prst="ellipse">
            <a:avLst/>
          </a:prstGeom>
          <a:solidFill>
            <a:schemeClr val="accent1"/>
          </a:solidFill>
          <a:ln w="12700">
            <a:solidFill>
              <a:schemeClr val="accent1"/>
            </a:solidFill>
            <a:prstDash val="solid"/>
          </a:ln>
        </p:spPr>
      </p:sp>
      <p:pic>
        <p:nvPicPr>
          <p:cNvPr id="25" name="Testar com o banco real (ícone)" descr="preencoded.png">    </p:cNvPr>
          <p:cNvPicPr>
            <a:picLocks noChangeAspect="1"/>
          </p:cNvPicPr>
          <p:nvPr/>
        </p:nvPicPr>
        <p:blipFill>
          <a:blip r:embed="rId5"/>
          <a:stretch>
            <a:fillRect/>
          </a:stretch>
        </p:blipFill>
        <p:spPr>
          <a:xfrm>
            <a:off x="4713732" y="4183380"/>
            <a:ext cx="320040" cy="320040"/>
          </a:xfrm>
          <a:prstGeom prst="rect">
            <a:avLst/>
          </a:prstGeom>
        </p:spPr>
      </p:pic>
      <p:sp>
        <p:nvSpPr>
          <p:cNvPr id="26" name="Text 19"/>
          <p:cNvSpPr txBox="1"/>
          <p:nvPr/>
        </p:nvSpPr>
        <p:spPr>
          <a:xfrm>
            <a:off x="5330952" y="4069080"/>
            <a:ext cx="2377440" cy="594360"/>
          </a:xfrm>
          <a:prstGeom prst="rect">
            <a:avLst/>
          </a:prstGeom>
          <a:noFill/>
          <a:ln/>
        </p:spPr>
        <p:txBody>
          <a:bodyPr wrap="square" lIns="0" tIns="0" rIns="0" bIns="0" rtlCol="0" anchor="ctr"/>
          <a:lstStyle/>
          <a:p>
            <a:pPr indent="0" marL="0">
              <a:buNone/>
            </a:pPr>
            <a:r>
              <a:rPr lang="en-US" sz="1550" b="1" dirty="0">
                <a:solidFill>
                  <a:schemeClr val="tx2"/>
                </a:solidFill>
              </a:rPr>
              <a:t>Testar com o banco real</a:t>
            </a:r>
            <a:endParaRPr lang="en-US" sz="1550" dirty="0"/>
          </a:p>
        </p:txBody>
      </p:sp>
      <p:sp>
        <p:nvSpPr>
          <p:cNvPr id="27" name="Text 20"/>
          <p:cNvSpPr txBox="1"/>
          <p:nvPr/>
        </p:nvSpPr>
        <p:spPr>
          <a:xfrm>
            <a:off x="4553712" y="4846320"/>
            <a:ext cx="3108960" cy="1051560"/>
          </a:xfrm>
          <a:prstGeom prst="rect">
            <a:avLst/>
          </a:prstGeom>
          <a:noFill/>
          <a:ln/>
        </p:spPr>
        <p:txBody>
          <a:bodyPr wrap="square" lIns="0" tIns="0" rIns="0" bIns="0" rtlCol="0" anchor="t"/>
          <a:lstStyle/>
          <a:p>
            <a:pPr indent="0" marL="0">
              <a:buNone/>
            </a:pPr>
            <a:r>
              <a:rPr lang="en-US" sz="1500" dirty="0">
                <a:solidFill>
                  <a:schemeClr val="tx1"/>
                </a:solidFill>
              </a:rPr>
              <a:t>PostgreSQL como service container nos testes e Compose com smoke tests no CI.</a:t>
            </a:r>
            <a:endParaRPr lang="en-US" sz="1500" dirty="0"/>
          </a:p>
        </p:txBody>
      </p:sp>
      <p:sp>
        <p:nvSpPr>
          <p:cNvPr id="28" name="Shape 21"/>
          <p:cNvSpPr/>
          <p:nvPr/>
        </p:nvSpPr>
        <p:spPr>
          <a:xfrm>
            <a:off x="8101584" y="3794760"/>
            <a:ext cx="3538728" cy="2194560"/>
          </a:xfrm>
          <a:prstGeom prst="roundRect">
            <a:avLst>
              <a:gd name="adj" fmla="val 4167"/>
            </a:avLst>
          </a:prstGeom>
          <a:solidFill>
            <a:schemeClr val="bg2"/>
          </a:solidFill>
          <a:ln w="12700">
            <a:solidFill>
              <a:schemeClr val="bg2"/>
            </a:solidFill>
            <a:prstDash val="solid"/>
          </a:ln>
        </p:spPr>
      </p:sp>
      <p:sp>
        <p:nvSpPr>
          <p:cNvPr id="29" name="Segredos fora do código"/>
          <p:cNvSpPr/>
          <p:nvPr/>
        </p:nvSpPr>
        <p:spPr>
          <a:xfrm>
            <a:off x="8330184" y="4023360"/>
            <a:ext cx="640080" cy="640080"/>
          </a:xfrm>
          <a:prstGeom prst="ellipse">
            <a:avLst/>
          </a:prstGeom>
          <a:solidFill>
            <a:schemeClr val="accent1"/>
          </a:solidFill>
          <a:ln w="12700">
            <a:solidFill>
              <a:schemeClr val="accent1"/>
            </a:solidFill>
            <a:prstDash val="solid"/>
          </a:ln>
        </p:spPr>
      </p:sp>
      <p:pic>
        <p:nvPicPr>
          <p:cNvPr id="30" name="Segredos fora do código (ícone)" descr="preencoded.png">    </p:cNvPr>
          <p:cNvPicPr>
            <a:picLocks noChangeAspect="1"/>
          </p:cNvPicPr>
          <p:nvPr/>
        </p:nvPicPr>
        <p:blipFill>
          <a:blip r:embed="rId6"/>
          <a:stretch>
            <a:fillRect/>
          </a:stretch>
        </p:blipFill>
        <p:spPr>
          <a:xfrm>
            <a:off x="8490204" y="4183380"/>
            <a:ext cx="320040" cy="320040"/>
          </a:xfrm>
          <a:prstGeom prst="rect">
            <a:avLst/>
          </a:prstGeom>
        </p:spPr>
      </p:pic>
      <p:sp>
        <p:nvSpPr>
          <p:cNvPr id="31" name="Text 23"/>
          <p:cNvSpPr txBox="1"/>
          <p:nvPr/>
        </p:nvSpPr>
        <p:spPr>
          <a:xfrm>
            <a:off x="9107424" y="4069080"/>
            <a:ext cx="2377440" cy="594360"/>
          </a:xfrm>
          <a:prstGeom prst="rect">
            <a:avLst/>
          </a:prstGeom>
          <a:noFill/>
          <a:ln/>
        </p:spPr>
        <p:txBody>
          <a:bodyPr wrap="square" lIns="0" tIns="0" rIns="0" bIns="0" rtlCol="0" anchor="ctr"/>
          <a:lstStyle/>
          <a:p>
            <a:pPr indent="0" marL="0">
              <a:buNone/>
            </a:pPr>
            <a:r>
              <a:rPr lang="en-US" sz="1550" b="1" dirty="0">
                <a:solidFill>
                  <a:schemeClr val="tx2"/>
                </a:solidFill>
              </a:rPr>
              <a:t>Segredos fora do código</a:t>
            </a:r>
            <a:endParaRPr lang="en-US" sz="1550" dirty="0"/>
          </a:p>
        </p:txBody>
      </p:sp>
      <p:sp>
        <p:nvSpPr>
          <p:cNvPr id="32" name="Text 24"/>
          <p:cNvSpPr txBox="1"/>
          <p:nvPr/>
        </p:nvSpPr>
        <p:spPr>
          <a:xfrm>
            <a:off x="8330184" y="4846320"/>
            <a:ext cx="3108960" cy="1051560"/>
          </a:xfrm>
          <a:prstGeom prst="rect">
            <a:avLst/>
          </a:prstGeom>
          <a:noFill/>
          <a:ln/>
        </p:spPr>
        <p:txBody>
          <a:bodyPr wrap="square" lIns="0" tIns="0" rIns="0" bIns="0" rtlCol="0" anchor="t"/>
          <a:lstStyle/>
          <a:p>
            <a:pPr indent="0" marL="0">
              <a:buNone/>
            </a:pPr>
            <a:r>
              <a:rPr lang="en-US" sz="1500" dirty="0">
                <a:solidFill>
                  <a:schemeClr val="tx1"/>
                </a:solidFill>
              </a:rPr>
              <a:t>GitHub Secrets e Variables, .env fora do Git e senha do banco injetada pelo Render.</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000" b="1" dirty="0">
                <a:solidFill>
                  <a:schemeClr val="tx2"/>
                </a:solidFill>
              </a:rPr>
              <a:t>Checklist de entrega</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863840" cy="914400"/>
        </p:xfrm>
        <a:graphic>
          <a:graphicData uri="http://schemas.openxmlformats.org/drawingml/2006/table">
            <a:tbl>
              <a:tblPr/>
              <a:tblGrid>
                <a:gridCol w="6766560"/>
                <a:gridCol w="1097280"/>
              </a:tblGrid>
              <a:tr h="566928">
                <a:tc>
                  <a:txBody>
                    <a:bodyPr/>
                    <a:lstStyle/>
                    <a:p>
                      <a:pPr indent="0" marL="0">
                        <a:buNone/>
                      </a:pPr>
                      <a:r>
                        <a:rPr lang="en-US" sz="1500" b="1" dirty="0">
                          <a:solidFill>
                            <a:schemeClr val="bg1"/>
                          </a:solidFill>
                        </a:rPr>
                        <a:t>Item</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OK</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1"/>
                          </a:solidFill>
                        </a:rPr>
                        <a:t>Projeto compactado em .ZIP com estrutura organizada</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Dockerfile funcional</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docker-compose.yml ou arquivos Kubernetes</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Pipeline com etapas de build, teste e deploy</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README.md com instruções e prints</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Documentação técnica com evidências (PDF ou PPT)</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Deploy realizado nos ambientes staging e produção</a:t>
                      </a:r>
                      <a:endParaRPr lang="en-US" sz="15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54864" marB="54864" anchor="ctr">
                    <a:lnL w="9525" cap="flat" cmpd="sng" algn="ctr">
                      <a:solidFill>
                        <a:srgbClr val="D9E1DC"/>
                      </a:solidFill>
                      <a:prstDash val="solid"/>
                      <a:round/>
                      <a:headEnd type="none" w="med" len="med"/>
                      <a:tailEnd type="none" w="med" len="med"/>
                    </a:lnL>
                    <a:lnR w="9525" cap="flat" cmpd="sng" algn="ctr">
                      <a:solidFill>
                        <a:srgbClr val="D9E1DC"/>
                      </a:solidFill>
                      <a:prstDash val="solid"/>
                      <a:round/>
                      <a:headEnd type="none" w="med" len="med"/>
                      <a:tailEnd type="none" w="med" len="med"/>
                    </a:lnR>
                    <a:lnT w="9525" cap="flat" cmpd="sng" algn="ctr">
                      <a:solidFill>
                        <a:srgbClr val="D9E1DC"/>
                      </a:solidFill>
                      <a:prstDash val="solid"/>
                      <a:round/>
                      <a:headEnd type="none" w="med" len="med"/>
                      <a:tailEnd type="none" w="med" len="med"/>
                    </a:lnT>
                    <a:lnB w="9525" cap="flat" cmpd="sng" algn="ctr">
                      <a:solidFill>
                        <a:srgbClr val="D9E1DC"/>
                      </a:solidFill>
                      <a:prstDash val="solid"/>
                      <a:round/>
                      <a:headEnd type="none" w="med" len="med"/>
                      <a:tailEnd type="none" w="med" len="med"/>
                    </a:lnB>
                    <a:solidFill>
                      <a:schemeClr val="bg2"/>
                    </a:solidFill>
                  </a:tcPr>
                </a:tc>
              </a:tr>
            </a:tbl>
          </a:graphicData>
        </a:graphic>
      </p:graphicFrame>
      <p:sp>
        <p:nvSpPr>
          <p:cNvPr id="4" name="Entrega completa"/>
          <p:cNvSpPr/>
          <p:nvPr/>
        </p:nvSpPr>
        <p:spPr>
          <a:xfrm>
            <a:off x="9189720" y="2148840"/>
            <a:ext cx="1828800" cy="1828800"/>
          </a:xfrm>
          <a:prstGeom prst="ellipse">
            <a:avLst/>
          </a:prstGeom>
          <a:solidFill>
            <a:schemeClr val="accent1"/>
          </a:solidFill>
          <a:ln w="12700">
            <a:solidFill>
              <a:schemeClr val="accent1"/>
            </a:solidFill>
            <a:prstDash val="solid"/>
          </a:ln>
        </p:spPr>
      </p:sp>
      <p:pic>
        <p:nvPicPr>
          <p:cNvPr id="5" name="Entrega completa (ícone)" descr="preencoded.png">    </p:cNvPr>
          <p:cNvPicPr>
            <a:picLocks noChangeAspect="1"/>
          </p:cNvPicPr>
          <p:nvPr/>
        </p:nvPicPr>
        <p:blipFill>
          <a:blip r:embed="rId1"/>
          <a:stretch>
            <a:fillRect/>
          </a:stretch>
        </p:blipFill>
        <p:spPr>
          <a:xfrm>
            <a:off x="9646920" y="2606040"/>
            <a:ext cx="914400" cy="914400"/>
          </a:xfrm>
          <a:prstGeom prst="rect">
            <a:avLst/>
          </a:prstGeom>
        </p:spPr>
      </p:pic>
      <p:sp>
        <p:nvSpPr>
          <p:cNvPr id="6" name="Text 2"/>
          <p:cNvSpPr txBox="1"/>
          <p:nvPr/>
        </p:nvSpPr>
        <p:spPr>
          <a:xfrm>
            <a:off x="8732520" y="4160520"/>
            <a:ext cx="2743200" cy="457200"/>
          </a:xfrm>
          <a:prstGeom prst="rect">
            <a:avLst/>
          </a:prstGeom>
          <a:noFill/>
          <a:ln/>
        </p:spPr>
        <p:txBody>
          <a:bodyPr wrap="square" lIns="0" tIns="0" rIns="0" bIns="0" rtlCol="0" anchor="t"/>
          <a:lstStyle/>
          <a:p>
            <a:pPr algn="ctr" indent="0" marL="0">
              <a:buNone/>
            </a:pPr>
            <a:r>
              <a:rPr lang="en-US" sz="2200" b="1" dirty="0">
                <a:solidFill>
                  <a:schemeClr val="tx2"/>
                </a:solidFill>
              </a:rPr>
              <a:t>7 de 7 itens</a:t>
            </a:r>
            <a:endParaRPr lang="en-US" sz="2200" dirty="0"/>
          </a:p>
        </p:txBody>
      </p:sp>
      <p:sp>
        <p:nvSpPr>
          <p:cNvPr id="7" name="Text 3"/>
          <p:cNvSpPr txBox="1"/>
          <p:nvPr/>
        </p:nvSpPr>
        <p:spPr>
          <a:xfrm>
            <a:off x="8732520" y="4663440"/>
            <a:ext cx="2743200" cy="731520"/>
          </a:xfrm>
          <a:prstGeom prst="rect">
            <a:avLst/>
          </a:prstGeom>
          <a:noFill/>
          <a:ln/>
        </p:spPr>
        <p:txBody>
          <a:bodyPr wrap="square" lIns="0" tIns="0" rIns="0" bIns="0" rtlCol="0" anchor="t"/>
          <a:lstStyle/>
          <a:p>
            <a:pPr algn="ctr" indent="0" marL="0">
              <a:buNone/>
            </a:pPr>
            <a:r>
              <a:rPr lang="en-US" sz="1300" dirty="0">
                <a:solidFill>
                  <a:schemeClr val="accent5"/>
                </a:solidFill>
              </a:rPr>
              <a:t>Arquivos no .zip, README com prints e esta documentação</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5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640080"/>
            <a:ext cx="10789920" cy="914400"/>
          </a:xfrm>
          <a:prstGeom prst="rect">
            <a:avLst/>
          </a:prstGeom>
          <a:noFill/>
          <a:ln/>
        </p:spPr>
        <p:txBody>
          <a:bodyPr wrap="square" lIns="0" tIns="0" rIns="0" bIns="0" rtlCol="0" anchor="ctr"/>
          <a:lstStyle/>
          <a:p>
            <a:pPr algn="l" indent="0" marL="0">
              <a:buNone/>
            </a:pPr>
            <a:r>
              <a:rPr lang="en-US" sz="3600" b="1" dirty="0">
                <a:solidFill>
                  <a:schemeClr val="bg1"/>
                </a:solidFill>
              </a:rPr>
              <a:t>Links do projeto</a:t>
            </a:r>
            <a:endParaRPr lang="en-US" sz="3600" dirty="0"/>
          </a:p>
        </p:txBody>
      </p:sp>
      <p:sp>
        <p:nvSpPr>
          <p:cNvPr id="3" name="Repositório"/>
          <p:cNvSpPr/>
          <p:nvPr/>
        </p:nvSpPr>
        <p:spPr>
          <a:xfrm>
            <a:off x="685800" y="1828800"/>
            <a:ext cx="658368" cy="658368"/>
          </a:xfrm>
          <a:prstGeom prst="ellipse">
            <a:avLst/>
          </a:prstGeom>
          <a:solidFill>
            <a:schemeClr val="accent1"/>
          </a:solidFill>
          <a:ln w="12700">
            <a:solidFill>
              <a:schemeClr val="accent1"/>
            </a:solidFill>
            <a:prstDash val="solid"/>
          </a:ln>
        </p:spPr>
      </p:sp>
      <p:pic>
        <p:nvPicPr>
          <p:cNvPr id="4" name="Repositório (ícone)" descr="preencoded.png">    </p:cNvPr>
          <p:cNvPicPr>
            <a:picLocks noChangeAspect="1"/>
          </p:cNvPicPr>
          <p:nvPr/>
        </p:nvPicPr>
        <p:blipFill>
          <a:blip r:embed="rId1"/>
          <a:stretch>
            <a:fillRect/>
          </a:stretch>
        </p:blipFill>
        <p:spPr>
          <a:xfrm>
            <a:off x="850392" y="1993392"/>
            <a:ext cx="329184" cy="329184"/>
          </a:xfrm>
          <a:prstGeom prst="rect">
            <a:avLst/>
          </a:prstGeom>
        </p:spPr>
      </p:pic>
      <p:sp>
        <p:nvSpPr>
          <p:cNvPr id="5" name="Text 2"/>
          <p:cNvSpPr txBox="1"/>
          <p:nvPr/>
        </p:nvSpPr>
        <p:spPr>
          <a:xfrm>
            <a:off x="1554480" y="1810512"/>
            <a:ext cx="6949440" cy="777240"/>
          </a:xfrm>
          <a:prstGeom prst="rect">
            <a:avLst/>
          </a:prstGeom>
          <a:noFill/>
          <a:ln/>
        </p:spPr>
        <p:txBody>
          <a:bodyPr wrap="square" lIns="0" tIns="0" rIns="0" bIns="0" rtlCol="0" anchor="t"/>
          <a:lstStyle/>
          <a:p>
            <a:pPr indent="0" marL="0">
              <a:buNone/>
            </a:pPr>
            <a:r>
              <a:rPr lang="en-US" sz="1800" b="1" dirty="0">
                <a:solidFill>
                  <a:schemeClr val="bg1"/>
                </a:solidFill>
              </a:rPr>
              <a:t>Repositório</a:t>
            </a:r>
            <a:endParaRPr lang="en-US" sz="1400" dirty="0"/>
          </a:p>
          <a:p>
            <a:pPr indent="0" marL="0">
              <a:buNone/>
            </a:pPr>
            <a:r>
              <a:rPr lang="en-US" sz="1400" u="sng" dirty="0">
                <a:solidFill>
                  <a:schemeClr val="accent4"/>
                </a:solidFill>
                <a:latin typeface="Courier New" pitchFamily="34" charset="0"/>
                <a:ea typeface="Courier New" pitchFamily="34" charset="-122"/>
                <a:cs typeface="Courier New" pitchFamily="34" charset="-120"/>
                <a:hlinkClick r:id="rId2" invalidUrl="" action="" tgtFrame="" tooltip="Abrir Repositório" history="1" highlightClick="0" endSnd="0">
                  <a:extLst>
                    <a:ext uri="{A12FA001-AC4F-418D-AE19-62706E023703}">
                      <ahyp:hlinkClr xmlns:ahyp="http://schemas.microsoft.com/office/drawing/2018/hyperlinkcolor" val="tx"/>
                    </a:ext>
                  </a:extLst>
                </a:hlinkClick>
              </a:rPr>
              <a:t>https://github.com/Julhaalmeida/cidades-esg-inteligentes</a:t>
            </a:r>
            <a:endParaRPr lang="en-US" sz="1400" dirty="0"/>
          </a:p>
        </p:txBody>
      </p:sp>
      <p:sp>
        <p:nvSpPr>
          <p:cNvPr id="6" name="Staging"/>
          <p:cNvSpPr/>
          <p:nvPr/>
        </p:nvSpPr>
        <p:spPr>
          <a:xfrm>
            <a:off x="685800" y="2788920"/>
            <a:ext cx="658368" cy="658368"/>
          </a:xfrm>
          <a:prstGeom prst="ellipse">
            <a:avLst/>
          </a:prstGeom>
          <a:solidFill>
            <a:schemeClr val="accent1"/>
          </a:solidFill>
          <a:ln w="12700">
            <a:solidFill>
              <a:schemeClr val="accent1"/>
            </a:solidFill>
            <a:prstDash val="solid"/>
          </a:ln>
        </p:spPr>
      </p:sp>
      <p:pic>
        <p:nvPicPr>
          <p:cNvPr id="7" name="Staging (ícone)" descr="preencoded.png">    </p:cNvPr>
          <p:cNvPicPr>
            <a:picLocks noChangeAspect="1"/>
          </p:cNvPicPr>
          <p:nvPr/>
        </p:nvPicPr>
        <p:blipFill>
          <a:blip r:embed="rId3"/>
          <a:stretch>
            <a:fillRect/>
          </a:stretch>
        </p:blipFill>
        <p:spPr>
          <a:xfrm>
            <a:off x="850392" y="2953512"/>
            <a:ext cx="329184" cy="329184"/>
          </a:xfrm>
          <a:prstGeom prst="rect">
            <a:avLst/>
          </a:prstGeom>
        </p:spPr>
      </p:pic>
      <p:sp>
        <p:nvSpPr>
          <p:cNvPr id="8" name="Text 4"/>
          <p:cNvSpPr txBox="1"/>
          <p:nvPr/>
        </p:nvSpPr>
        <p:spPr>
          <a:xfrm>
            <a:off x="1554480" y="2770632"/>
            <a:ext cx="6949440" cy="777240"/>
          </a:xfrm>
          <a:prstGeom prst="rect">
            <a:avLst/>
          </a:prstGeom>
          <a:noFill/>
          <a:ln/>
        </p:spPr>
        <p:txBody>
          <a:bodyPr wrap="square" lIns="0" tIns="0" rIns="0" bIns="0" rtlCol="0" anchor="t"/>
          <a:lstStyle/>
          <a:p>
            <a:pPr indent="0" marL="0">
              <a:buNone/>
            </a:pPr>
            <a:r>
              <a:rPr lang="en-US" sz="1800" b="1" dirty="0">
                <a:solidFill>
                  <a:schemeClr val="bg1"/>
                </a:solidFill>
              </a:rPr>
              <a:t>Staging</a:t>
            </a:r>
            <a:endParaRPr lang="en-US" sz="1400" dirty="0"/>
          </a:p>
          <a:p>
            <a:pPr indent="0" marL="0">
              <a:buNone/>
            </a:pPr>
            <a:r>
              <a:rPr lang="en-US" sz="1400" u="sng" dirty="0">
                <a:solidFill>
                  <a:schemeClr val="accent4"/>
                </a:solidFill>
                <a:latin typeface="Courier New" pitchFamily="34" charset="0"/>
                <a:ea typeface="Courier New" pitchFamily="34" charset="-122"/>
                <a:cs typeface="Courier New" pitchFamily="34" charset="-120"/>
                <a:hlinkClick r:id="rId4" invalidUrl="" action="" tgtFrame="" tooltip="Abrir Staging" history="1" highlightClick="0" endSnd="0">
                  <a:extLst>
                    <a:ext uri="{A12FA001-AC4F-418D-AE19-62706E023703}">
                      <ahyp:hlinkClr xmlns:ahyp="http://schemas.microsoft.com/office/drawing/2018/hyperlinkcolor" val="tx"/>
                    </a:ext>
                  </a:extLst>
                </a:hlinkClick>
              </a:rPr>
              <a:t>https://cidades-esg-staging.onrender.com</a:t>
            </a:r>
            <a:endParaRPr lang="en-US" sz="1400" dirty="0"/>
          </a:p>
        </p:txBody>
      </p:sp>
      <p:sp>
        <p:nvSpPr>
          <p:cNvPr id="9" name="Produção"/>
          <p:cNvSpPr/>
          <p:nvPr/>
        </p:nvSpPr>
        <p:spPr>
          <a:xfrm>
            <a:off x="685800" y="3749040"/>
            <a:ext cx="658368" cy="658368"/>
          </a:xfrm>
          <a:prstGeom prst="ellipse">
            <a:avLst/>
          </a:prstGeom>
          <a:solidFill>
            <a:schemeClr val="accent1"/>
          </a:solidFill>
          <a:ln w="12700">
            <a:solidFill>
              <a:schemeClr val="accent1"/>
            </a:solidFill>
            <a:prstDash val="solid"/>
          </a:ln>
        </p:spPr>
      </p:sp>
      <p:pic>
        <p:nvPicPr>
          <p:cNvPr id="10" name="Produção (ícone)" descr="preencoded.png">    </p:cNvPr>
          <p:cNvPicPr>
            <a:picLocks noChangeAspect="1"/>
          </p:cNvPicPr>
          <p:nvPr/>
        </p:nvPicPr>
        <p:blipFill>
          <a:blip r:embed="rId5"/>
          <a:stretch>
            <a:fillRect/>
          </a:stretch>
        </p:blipFill>
        <p:spPr>
          <a:xfrm>
            <a:off x="850392" y="3913632"/>
            <a:ext cx="329184" cy="329184"/>
          </a:xfrm>
          <a:prstGeom prst="rect">
            <a:avLst/>
          </a:prstGeom>
        </p:spPr>
      </p:pic>
      <p:sp>
        <p:nvSpPr>
          <p:cNvPr id="11" name="Text 6"/>
          <p:cNvSpPr txBox="1"/>
          <p:nvPr/>
        </p:nvSpPr>
        <p:spPr>
          <a:xfrm>
            <a:off x="1554480" y="3730752"/>
            <a:ext cx="6949440" cy="777240"/>
          </a:xfrm>
          <a:prstGeom prst="rect">
            <a:avLst/>
          </a:prstGeom>
          <a:noFill/>
          <a:ln/>
        </p:spPr>
        <p:txBody>
          <a:bodyPr wrap="square" lIns="0" tIns="0" rIns="0" bIns="0" rtlCol="0" anchor="t"/>
          <a:lstStyle/>
          <a:p>
            <a:pPr indent="0" marL="0">
              <a:buNone/>
            </a:pPr>
            <a:r>
              <a:rPr lang="en-US" sz="1800" b="1" dirty="0">
                <a:solidFill>
                  <a:schemeClr val="bg1"/>
                </a:solidFill>
              </a:rPr>
              <a:t>Produção</a:t>
            </a:r>
            <a:endParaRPr lang="en-US" sz="1400" dirty="0"/>
          </a:p>
          <a:p>
            <a:pPr indent="0" marL="0">
              <a:buNone/>
            </a:pPr>
            <a:r>
              <a:rPr lang="en-US" sz="1400" u="sng" dirty="0">
                <a:solidFill>
                  <a:schemeClr val="accent4"/>
                </a:solidFill>
                <a:latin typeface="Courier New" pitchFamily="34" charset="0"/>
                <a:ea typeface="Courier New" pitchFamily="34" charset="-122"/>
                <a:cs typeface="Courier New" pitchFamily="34" charset="-120"/>
                <a:hlinkClick r:id="rId6" invalidUrl="" action="" tgtFrame="" tooltip="Abrir Produção" history="1" highlightClick="0" endSnd="0">
                  <a:extLst>
                    <a:ext uri="{A12FA001-AC4F-418D-AE19-62706E023703}">
                      <ahyp:hlinkClr xmlns:ahyp="http://schemas.microsoft.com/office/drawing/2018/hyperlinkcolor" val="tx"/>
                    </a:ext>
                  </a:extLst>
                </a:hlinkClick>
              </a:rPr>
              <a:t>https://cidades-esg-production.onrender.com</a:t>
            </a:r>
            <a:endParaRPr lang="en-US" sz="1400" dirty="0"/>
          </a:p>
        </p:txBody>
      </p:sp>
      <p:sp>
        <p:nvSpPr>
          <p:cNvPr id="12" name="Swagger (produção)"/>
          <p:cNvSpPr/>
          <p:nvPr/>
        </p:nvSpPr>
        <p:spPr>
          <a:xfrm>
            <a:off x="685800" y="4709160"/>
            <a:ext cx="658368" cy="658368"/>
          </a:xfrm>
          <a:prstGeom prst="ellipse">
            <a:avLst/>
          </a:prstGeom>
          <a:solidFill>
            <a:schemeClr val="accent1"/>
          </a:solidFill>
          <a:ln w="12700">
            <a:solidFill>
              <a:schemeClr val="accent1"/>
            </a:solidFill>
            <a:prstDash val="solid"/>
          </a:ln>
        </p:spPr>
      </p:sp>
      <p:pic>
        <p:nvPicPr>
          <p:cNvPr id="13" name="Swagger (produção) (ícone)" descr="preencoded.png">    </p:cNvPr>
          <p:cNvPicPr>
            <a:picLocks noChangeAspect="1"/>
          </p:cNvPicPr>
          <p:nvPr/>
        </p:nvPicPr>
        <p:blipFill>
          <a:blip r:embed="rId7"/>
          <a:stretch>
            <a:fillRect/>
          </a:stretch>
        </p:blipFill>
        <p:spPr>
          <a:xfrm>
            <a:off x="850392" y="4873752"/>
            <a:ext cx="329184" cy="329184"/>
          </a:xfrm>
          <a:prstGeom prst="rect">
            <a:avLst/>
          </a:prstGeom>
        </p:spPr>
      </p:pic>
      <p:sp>
        <p:nvSpPr>
          <p:cNvPr id="14" name="Text 8"/>
          <p:cNvSpPr txBox="1"/>
          <p:nvPr/>
        </p:nvSpPr>
        <p:spPr>
          <a:xfrm>
            <a:off x="1554480" y="4690872"/>
            <a:ext cx="6949440" cy="777240"/>
          </a:xfrm>
          <a:prstGeom prst="rect">
            <a:avLst/>
          </a:prstGeom>
          <a:noFill/>
          <a:ln/>
        </p:spPr>
        <p:txBody>
          <a:bodyPr wrap="square" lIns="0" tIns="0" rIns="0" bIns="0" rtlCol="0" anchor="t"/>
          <a:lstStyle/>
          <a:p>
            <a:pPr indent="0" marL="0">
              <a:buNone/>
            </a:pPr>
            <a:r>
              <a:rPr lang="en-US" sz="1800" b="1" dirty="0">
                <a:solidFill>
                  <a:schemeClr val="bg1"/>
                </a:solidFill>
              </a:rPr>
              <a:t>Swagger (produção)</a:t>
            </a:r>
            <a:endParaRPr lang="en-US" sz="1400" dirty="0"/>
          </a:p>
          <a:p>
            <a:pPr indent="0" marL="0">
              <a:buNone/>
            </a:pPr>
            <a:r>
              <a:rPr lang="en-US" sz="1400" u="sng" dirty="0">
                <a:solidFill>
                  <a:schemeClr val="accent4"/>
                </a:solidFill>
                <a:latin typeface="Courier New" pitchFamily="34" charset="0"/>
                <a:ea typeface="Courier New" pitchFamily="34" charset="-122"/>
                <a:cs typeface="Courier New" pitchFamily="34" charset="-120"/>
                <a:hlinkClick r:id="rId8" invalidUrl="" action="" tgtFrame="" tooltip="Abrir Swagger (produção)" history="1" highlightClick="0" endSnd="0">
                  <a:extLst>
                    <a:ext uri="{A12FA001-AC4F-418D-AE19-62706E023703}">
                      <ahyp:hlinkClr xmlns:ahyp="http://schemas.microsoft.com/office/drawing/2018/hyperlinkcolor" val="tx"/>
                    </a:ext>
                  </a:extLst>
                </a:hlinkClick>
              </a:rPr>
              <a:t>https://cidades-esg-production.onrender.com/swagger-ui.html</a:t>
            </a:r>
            <a:endParaRPr lang="en-US" sz="1400" dirty="0"/>
          </a:p>
        </p:txBody>
      </p:sp>
      <p:sp>
        <p:nvSpPr>
          <p:cNvPr id="15" name="Text 9"/>
          <p:cNvSpPr txBox="1"/>
          <p:nvPr/>
        </p:nvSpPr>
        <p:spPr>
          <a:xfrm>
            <a:off x="7863840" y="4206240"/>
            <a:ext cx="3840480" cy="1645920"/>
          </a:xfrm>
          <a:prstGeom prst="rect">
            <a:avLst/>
          </a:prstGeom>
          <a:noFill/>
          <a:ln/>
        </p:spPr>
        <p:txBody>
          <a:bodyPr wrap="square" lIns="0" tIns="0" rIns="0" bIns="0" rtlCol="0" anchor="t"/>
          <a:lstStyle/>
          <a:p>
            <a:pPr algn="r" indent="0" marL="0">
              <a:buNone/>
            </a:pPr>
            <a:r>
              <a:rPr lang="en-US" sz="4000" b="1" dirty="0">
                <a:solidFill>
                  <a:schemeClr val="bg1"/>
                </a:solidFill>
              </a:rPr>
              <a:t>Obrigado!</a:t>
            </a:r>
            <a:endParaRPr lang="en-US" sz="1400" dirty="0"/>
          </a:p>
          <a:p>
            <a:pPr algn="r" indent="0" marL="0">
              <a:buNone/>
            </a:pPr>
            <a:r>
              <a:rPr lang="en-US" sz="1600" dirty="0">
                <a:solidFill>
                  <a:schemeClr val="bg2"/>
                </a:solidFill>
              </a:rPr>
              <a:t>Julha Almeida Araujo, RM 562697</a:t>
            </a:r>
            <a:endParaRPr lang="en-US" sz="1400" dirty="0"/>
          </a:p>
          <a:p>
            <a:pPr algn="r" indent="0" marL="0">
              <a:buNone/>
            </a:pPr>
            <a:r>
              <a:rPr lang="en-US" sz="1600" dirty="0">
                <a:solidFill>
                  <a:schemeClr val="bg2"/>
                </a:solidFill>
              </a:rPr>
              <a:t>Walter Seixas Nogueira, RM 565533</a:t>
            </a:r>
            <a:endParaRPr lang="en-US" sz="1400" dirty="0"/>
          </a:p>
        </p:txBody>
      </p:sp>
    </p:spTree>
  </p:cSld>
  <p:clrMapOvr>
    <a:masterClrMapping/>
  </p:clrMapOvr>
</p:sld>
</file>

<file path=ppt/theme/theme1.xml><?xml version="1.0" encoding="utf-8"?>
<a:theme xmlns:a="http://schemas.openxmlformats.org/drawingml/2006/main" name="Cidades ESG">
  <a:themeElements>
    <a:clrScheme name="Cidades ESG">
      <a:dk1>
        <a:srgbClr val="18241E"/>
      </a:dk1>
      <a:lt1>
        <a:srgbClr val="FFFFFF"/>
      </a:lt1>
      <a:dk2>
        <a:srgbClr val="173D2C"/>
      </a:dk2>
      <a:lt2>
        <a:srgbClr val="F3F6F4"/>
      </a:lt2>
      <a:accent1>
        <a:srgbClr val="2E8A57"/>
      </a:accent1>
      <a:accent2>
        <a:srgbClr val="C98A17"/>
      </a:accent2>
      <a:accent3>
        <a:srgbClr val="2F62B3"/>
      </a:accent3>
      <a:accent4>
        <a:srgbClr val="F2B632"/>
      </a:accent4>
      <a:accent5>
        <a:srgbClr val="4A5852"/>
      </a:accent5>
      <a:accent6>
        <a:srgbClr val="D9E1DC"/>
      </a:accent6>
      <a:hlink>
        <a:srgbClr val="F2B632"/>
      </a:hlink>
      <a:folHlink>
        <a:srgbClr val="D9E1DC"/>
      </a:folHlink>
    </a:clrScheme>
    <a:fontScheme name="Cidades ES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Cidades ESG Inteligentes - Documentação técnica de DevOps</dc:title>
  <dc:subject>Pipeline CI/CD, Docker e deploy em staging e produção</dc:subject>
  <dc:creator>Julha Almeida Araujo e Walter Seixas Nogueira</dc:creator>
  <cp:lastModifiedBy>Julha Almeida Araujo e Walter Seixas Nogueira</cp:lastModifiedBy>
  <cp:revision>1</cp:revision>
  <dcterms:created xsi:type="dcterms:W3CDTF">2026-10-09T18:25:22Z</dcterms:created>
  <dcterms:modified xsi:type="dcterms:W3CDTF">2026-10-09T18:25:22Z</dcterms:modified>
</cp:coreProperties>
</file>