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48cdff99-3022-a5c5-b98b-7df5cfeddd9b}">
          <p14:sldIdLst>
            <p14:sldId id="256"/>
          </p14:sldIdLst>
        </p14:section>
        <p14:section name="Projeto e arquitetura" id="{5a239663-61bb-cf56-9c92-47465cf8d710}">
          <p14:sldIdLst>
            <p14:sldId id="257"/>
            <p14:sldId id="258"/>
          </p14:sldIdLst>
        </p14:section>
        <p14:section name="Pipeline CI/CD" id="{ca4e2b0d-9afe-34b5-0bac-5986c924fd79}">
          <p14:sldIdLst>
            <p14:sldId id="259"/>
            <p14:sldId id="260"/>
            <p14:sldId id="261"/>
          </p14:sldIdLst>
        </p14:section>
        <p14:section name="Docker" id="{78c29a59-4fc7-ec3e-9293-d14f96e4abc3}">
          <p14:sldIdLst>
            <p14:sldId id="262"/>
            <p14:sldId id="263"/>
            <p14:sldId id="264"/>
          </p14:sldIdLst>
        </p14:section>
        <p14:section name="Evidências" id="{cb11228b-22af-1dce-6244-7546f204a614}">
          <p14:sldIdLst>
            <p14:sldId id="265"/>
            <p14:sldId id="266"/>
            <p14:sldId id="267"/>
            <p14:sldId id="268"/>
            <p14:sldId id="269"/>
            <p14:sldId id="270"/>
          </p14:sldIdLst>
        </p14:section>
        <p14:section name="Desafios e checklist" id="{28a4f420-dc10-0088-a253-4d61233fef6d}">
          <p14:sldIdLst>
            <p14:sldId id="271"/>
            <p14:sldId id="272"/>
          </p14:sldIdLst>
        </p14:section>
        <p14:section name="Encerramento" id="{dd0bd5d3-26a2-f9b5-fe16-c26028c6615b}">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8241E"/>
                </a:solidFill>
                <a:latin typeface="+mn-lt"/>
              </a:defRPr>
            </a:pPr>
            <a:r>
              <a:rPr sz="1300" b="0" i="0" u="none" strike="noStrike">
                <a:solidFill>
                  <a:srgbClr val="18241E"/>
                </a:solidFill>
                <a:latin typeface="+mn-lt"/>
              </a:rPr>
              <a:t>Ranking ESG com os dados de demonstração (ilustrativos)</a:t>
            </a:r>
          </a:p>
        </c:rich>
      </c:tx>
      <c:layout/>
      <c:overlay val="0"/>
    </c:title>
    <c:autoTitleDeleted val="0"/>
    <c:plotArea>
      <c:layout/>
      <c:barChart>
        <c:barDir val="bar"/>
        <c:grouping val="clustered"/>
        <c:varyColors val="0"/>
        <c:ser>
          <c:idx val="0"/>
          <c:order val="0"/>
          <c:tx>
            <c:strRef>
              <c:f>Sheet1!$B$1</c:f>
              <c:strCache>
                <c:ptCount val="1"/>
                <c:pt idx="0">
                  <c:v>Score ESG</c:v>
                </c:pt>
              </c:strCache>
            </c:strRef>
          </c:tx>
          <c:spPr>
            <a:solidFill>
              <a:srgbClr val="2E8A57"/>
            </a:solidFill>
            <a:effectLst/>
          </c:spPr>
          <c:invertIfNegative val="0"/>
          <c:dLbls>
            <c:numFmt formatCode="0.0" sourceLinked="0"/>
            <c:txPr>
              <a:bodyPr/>
              <a:lstStyle/>
              <a:p>
                <a:pPr>
                  <a:defRPr b="0" i="0" strike="noStrike" sz="1200" u="none">
                    <a:solidFill>
                      <a:srgbClr val="18241E"/>
                    </a:solidFill>
                    <a:latin typeface="+mn-lt"/>
                  </a:defRPr>
                </a:pPr>
              </a:p>
            </c:txPr>
            <c:showLegendKey val="0"/>
            <c:showVal val="1"/>
            <c:showCatName val="0"/>
            <c:showSerName val="0"/>
            <c:showPercent val="0"/>
            <c:showBubbleSize val="0"/>
            <c:showLeaderLines val="0"/>
          </c:dLbls>
          <c:cat>
            <c:multiLvlStrRef>
              <c:f>Sheet1!$A$2:$A$7</c:f>
              <c:multiLvlStrCache>
                <c:ptCount val="6"/>
                <c:lvl>
                  <c:pt idx="0">
                    <c:v>Curitiba (PR)</c:v>
                  </c:pt>
                  <c:pt idx="1">
                    <c:v>Florianópolis (SC)</c:v>
                  </c:pt>
                  <c:pt idx="2">
                    <c:v>Belo Horizonte (MG)</c:v>
                  </c:pt>
                  <c:pt idx="3">
                    <c:v>São Paulo (SP)</c:v>
                  </c:pt>
                  <c:pt idx="4">
                    <c:v>Recife (PE)</c:v>
                  </c:pt>
                  <c:pt idx="5">
                    <c:v>Belém (PA)</c:v>
                  </c:pt>
                </c:lvl>
              </c:multiLvlStrCache>
            </c:multiLvlStrRef>
          </c:cat>
          <c:val>
            <c:numRef>
              <c:f>Sheet1!$B$2:$B$7</c:f>
              <c:numCache>
                <c:formatCode>General</c:formatCode>
                <c:ptCount val="6"/>
                <c:pt idx="0">
                  <c:v>83</c:v>
                </c:pt>
                <c:pt idx="1">
                  <c:v>69.8</c:v>
                </c:pt>
                <c:pt idx="2">
                  <c:v>66.5</c:v>
                </c:pt>
                <c:pt idx="3">
                  <c:v>64.6</c:v>
                </c:pt>
                <c:pt idx="4">
                  <c:v>56.7</c:v>
                </c:pt>
                <c:pt idx="5">
                  <c:v>50</c:v>
                </c:pt>
              </c:numCache>
            </c:numRef>
          </c:val>
        </c:ser>
        <c:dLbls>
          <c:numFmt formatCode="0.0" sourceLinked="0"/>
          <c:txPr>
            <a:bodyPr/>
            <a:lstStyle/>
            <a:p>
              <a:pPr>
                <a:defRPr b="0" i="0" strike="noStrike" sz="1200" u="none">
                  <a:solidFill>
                    <a:srgbClr val="18241E"/>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A5852"/>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Apresentação do projeto Cidades ESG Inteligentes e dos integrantes. A proposta: aplicar práticas completas de DevOps (CI/CD, Docker, orquestração e deploy em dois ambientes) a uma API Java com tema ESG.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API tem 15 endpoints (CRUD de cidades e medições, score, ranking, info e health check), documentados no Swagger. O gráfico mostra o ranking gerado pelos dados de demonstração da migração V2, que são ilustrativos.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desenvolvedor faz push na main e o GitHub Actions executa o pipeline. A etapa Docker publica a imagem versionada no GitHub Container Registry. As etapas de deploy acionam os serviços do Render (infraestrutura definida no render.yaml), que usam um PostgreSQL gerenciado com um schema isolado para cada ambiente.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cinco jobs aparecem como um grafo na aba Actions. O ambiente production do GitHub tem revisores obrigatórios, então o último job espera a aprovação de um integrante.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com o que cada job faz e o critério para o pipeline seguir. Qualquer falha interrompe o fluxo antes do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ponto central é a rastreabilidade: o pipeline só considera o deploy concluído quando a aplicação responde com o commit esperado. Assim, produção recebe exatamente o que foi validado em staging.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Multi-stage: o compilador e o Maven ficam só na etapa de build. As camadas do Spring Boot fazem um novo deploy enviar só a camada do código. A imagem roda sem root, tem health check e a JVM está ajustada para os 512 MB do plano gratuito.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banco fica isolado em uma rede interna, sem porta exposta. Os dados ficam no volume pgdata e sobrevivem a reinícios. Todas as configurações vêm de variáveis de ambiente do arquivo .env.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Comandos usados no dia a dia e no pipeline. A imagem publicada no GitHub Container Registry recebe a tag com o commit, o que permite saber exatamente qual versão está em cada ambiente.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Evidência das etapas de build: grafo completo da execução e detalhe do job de build.
Para inserir o print: clique com o botão direito na imagem &gt; Alterar imagem &gt; selecione o arquivo. O tamanho e a posição são mantidos.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Evidência dos testes automatizados e da validação da imagem e do Compose dentro do pipeline.
Para inserir o print: clique com o botão direito na imagem &gt; Alterar imagem &gt; selecione o arquivo. O tamanho e a posição são mantidos.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Evidência do deploy automatizado em staging e do controle de aprovação antes de produção.
Para inserir o print: clique com o botão direito na imagem &gt; Alterar imagem &gt; selecione o arquivo. O tamanho e a posição são mantidos.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Evidência do deploy em produção e da imagem versionada no GitHub Container Registry.
Para inserir o print: clique com o botão direito na imagem &gt; Alterar imagem &gt; selecione o arquivo. O tamanho e a posição são mantidos.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Evidência dos dois ambientes no ar. A cor da faixa identifica o ambiente; versão e commit mostram que ambos rodam a mesma versão.
Para inserir o print: clique com o botão direito na imagem &gt; Alterar imagem &gt; selecione o arquivo. O tamanho e a posição são mantidos.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Evidência da infraestrutura criada pelo render.yaml e da execução local com Docker Compose.
Para inserir o print: clique com o botão direito na imagem &gt; Alterar imagem &gt; selecione o arquivo. O tamanho e a posição são mantidos.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Principais desafios do projeto e as soluções adotadas. Outros detalhes (fim de linha no Windows, HTTPS atrás do proxy do Render) estão no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obrigatório da atividade, também anexado ao final do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Substitua os links [PREENCHER] pelas URLs reais do repositório e dos serviços no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APA">
    <p:bg>
      <p:bgPr>
        <a:solidFill>
          <a:srgbClr val="173D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874520"/>
            <a:ext cx="6949440" cy="1417320"/>
          </a:xfrm>
          <a:prstGeom prst="rect">
            <a:avLst/>
          </a:prstGeom>
          <a:noFill/>
          <a:ln/>
        </p:spPr>
        <p:txBody>
          <a:bodyPr wrap="square" rtlCol="0"/>
          <a:lstStyle>
            <a:lvl1pPr indent="0" marL="0">
              <a:buNone/>
              <a:defRPr lang="en-US" sz="5200" b="1" dirty="0">
                <a:solidFill>
                  <a:schemeClr val="bg1"/>
                </a:solidFill>
              </a:defRPr>
            </a:lvl1pPr>
          </a:lstStyle>
          <a:p>
            <a:pPr indent="0" marL="0">
              <a:buNone/>
            </a:pPr>
            <a:endParaRPr lang="en-US" sz="5200" dirty="0"/>
          </a:p>
        </p:txBody>
      </p:sp>
      <p:sp>
        <p:nvSpPr>
          <p:cNvPr id="3" name="Text 0"/>
          <p:cNvSpPr/>
          <p:nvPr>
            <p:ph idx="101" type="body" hasCustomPrompt="1"/>
          </p:nvPr>
        </p:nvSpPr>
        <p:spPr>
          <a:xfrm>
            <a:off x="685800" y="3429000"/>
            <a:ext cx="667512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U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rgbClr val="4A5852"/>
                </a:solidFill>
              </a:rPr>
              <a:t>Cidades ESG Inteligentes | DevOps</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ECHAMENTO">
    <p:bg>
      <p:bgPr>
        <a:solidFill>
          <a:srgbClr val="173D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640080"/>
            <a:ext cx="10789920" cy="9144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40080"/>
            <a:ext cx="7315200" cy="365760"/>
          </a:xfrm>
          <a:prstGeom prst="rect">
            <a:avLst/>
          </a:prstGeom>
          <a:noFill/>
          <a:ln/>
        </p:spPr>
        <p:txBody>
          <a:bodyPr wrap="square" lIns="0" tIns="0" rIns="0" bIns="0" rtlCol="0" anchor="t"/>
          <a:lstStyle/>
          <a:p>
            <a:pPr indent="0" marL="0">
              <a:buNone/>
            </a:pPr>
            <a:r>
              <a:rPr lang="en-US" sz="1400" b="1" dirty="0">
                <a:solidFill>
                  <a:schemeClr val="accent4"/>
                </a:solidFill>
              </a:rPr>
              <a:t>Atividade avaliativa | Navegando pelo mundo DevOps</a:t>
            </a:r>
            <a:endParaRPr lang="en-US" sz="1400" dirty="0"/>
          </a:p>
        </p:txBody>
      </p:sp>
      <p:sp>
        <p:nvSpPr>
          <p:cNvPr id="3" name="Text 0"/>
          <p:cNvSpPr/>
          <p:nvPr>
            <p:ph idx="100" type="title" hasCustomPrompt="1"/>
          </p:nvPr>
        </p:nvSpPr>
        <p:spPr>
          <a:xfrm>
            <a:off x="685800" y="1874520"/>
            <a:ext cx="6949440" cy="1417320"/>
          </a:xfrm>
          <a:prstGeom prst="rect">
            <a:avLst/>
          </a:prstGeom>
          <a:noFill/>
          <a:ln/>
        </p:spPr>
        <p:txBody>
          <a:bodyPr wrap="square" lIns="0" tIns="0" rIns="0" bIns="0" rtlCol="0" anchor="b"/>
          <a:lstStyle/>
          <a:p>
            <a:pPr algn="l" indent="0" marL="0">
              <a:buNone/>
            </a:pPr>
            <a:r>
              <a:rPr lang="en-US" sz="5200" b="1" dirty="0">
                <a:solidFill>
                  <a:schemeClr val="bg1"/>
                </a:solidFill>
              </a:rPr>
              <a:t>Cidades ESG Inteligentes</a:t>
            </a:r>
            <a:endParaRPr lang="en-US" sz="5200" dirty="0"/>
          </a:p>
        </p:txBody>
      </p:sp>
      <p:sp>
        <p:nvSpPr>
          <p:cNvPr id="4" name="Text 0"/>
          <p:cNvSpPr/>
          <p:nvPr>
            <p:ph idx="101" type="body" hasCustomPrompt="1"/>
          </p:nvPr>
        </p:nvSpPr>
        <p:spPr>
          <a:xfrm>
            <a:off x="685800" y="3429000"/>
            <a:ext cx="6675120" cy="914400"/>
          </a:xfrm>
          <a:prstGeom prst="rect">
            <a:avLst/>
          </a:prstGeom>
          <a:noFill/>
          <a:ln/>
        </p:spPr>
        <p:txBody>
          <a:bodyPr wrap="square" lIns="0" tIns="0" rIns="0" bIns="0" rtlCol="0" anchor="t"/>
          <a:lstStyle/>
          <a:p>
            <a:pPr algn="l" indent="0" marL="0">
              <a:buNone/>
            </a:pPr>
            <a:r>
              <a:rPr lang="en-US" sz="2200" dirty="0">
                <a:solidFill>
                  <a:schemeClr val="bg2"/>
                </a:solidFill>
              </a:rPr>
              <a:t>Pipeline CI/CD, containerização com Docker e deploy automatizado em staging e produção</a:t>
            </a:r>
            <a:endParaRPr lang="en-US" sz="2200" dirty="0"/>
          </a:p>
        </p:txBody>
      </p:sp>
      <p:sp>
        <p:nvSpPr>
          <p:cNvPr id="5" name="Text 3"/>
          <p:cNvSpPr txBox="1"/>
          <p:nvPr/>
        </p:nvSpPr>
        <p:spPr>
          <a:xfrm>
            <a:off x="685800" y="4754880"/>
            <a:ext cx="6400800" cy="1143000"/>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Integrantes</a:t>
            </a:r>
            <a:endParaRPr lang="en-US" sz="1800" dirty="0"/>
          </a:p>
          <a:p>
            <a:pPr indent="0" marL="0">
              <a:spcAft>
                <a:spcPts val="400"/>
              </a:spcAft>
              <a:buNone/>
            </a:pPr>
            <a:r>
              <a:rPr lang="en-US" sz="1800" dirty="0">
                <a:solidFill>
                  <a:schemeClr val="bg1"/>
                </a:solidFill>
              </a:rPr>
              <a:t>Julha Almeida Araujo, RM 562697</a:t>
            </a:r>
            <a:endParaRPr lang="en-US" sz="1800" dirty="0"/>
          </a:p>
          <a:p>
            <a:pPr indent="0" marL="0">
              <a:spcAft>
                <a:spcPts val="400"/>
              </a:spcAft>
              <a:buNone/>
            </a:pPr>
            <a:r>
              <a:rPr lang="en-US" sz="1800" dirty="0">
                <a:solidFill>
                  <a:schemeClr val="bg1"/>
                </a:solidFill>
              </a:rPr>
              <a:t>Walter Seixas Nogueira, RM 565533</a:t>
            </a:r>
            <a:endParaRPr lang="en-US" sz="1800" dirty="0"/>
          </a:p>
        </p:txBody>
      </p:sp>
      <p:sp>
        <p:nvSpPr>
          <p:cNvPr id="6" name="Pilar ambiental"/>
          <p:cNvSpPr/>
          <p:nvPr/>
        </p:nvSpPr>
        <p:spPr>
          <a:xfrm>
            <a:off x="8549640" y="1234440"/>
            <a:ext cx="1600200" cy="1600200"/>
          </a:xfrm>
          <a:prstGeom prst="ellipse">
            <a:avLst/>
          </a:prstGeom>
          <a:solidFill>
            <a:schemeClr val="accent1"/>
          </a:solidFill>
          <a:ln w="12700">
            <a:solidFill>
              <a:schemeClr val="accent1"/>
            </a:solidFill>
            <a:prstDash val="solid"/>
          </a:ln>
        </p:spPr>
      </p:sp>
      <p:pic>
        <p:nvPicPr>
          <p:cNvPr id="7" name="Pilar ambiental (ícone)" descr="preencoded.png">    </p:cNvPr>
          <p:cNvPicPr>
            <a:picLocks noChangeAspect="1"/>
          </p:cNvPicPr>
          <p:nvPr/>
        </p:nvPicPr>
        <p:blipFill>
          <a:blip r:embed="rId1"/>
          <a:stretch>
            <a:fillRect/>
          </a:stretch>
        </p:blipFill>
        <p:spPr>
          <a:xfrm>
            <a:off x="8949690" y="1634490"/>
            <a:ext cx="800100" cy="800100"/>
          </a:xfrm>
          <a:prstGeom prst="rect">
            <a:avLst/>
          </a:prstGeom>
        </p:spPr>
      </p:pic>
      <p:sp>
        <p:nvSpPr>
          <p:cNvPr id="8" name="Pilar social"/>
          <p:cNvSpPr/>
          <p:nvPr/>
        </p:nvSpPr>
        <p:spPr>
          <a:xfrm>
            <a:off x="9829800" y="2697480"/>
            <a:ext cx="1600200" cy="1600200"/>
          </a:xfrm>
          <a:prstGeom prst="ellipse">
            <a:avLst/>
          </a:prstGeom>
          <a:solidFill>
            <a:schemeClr val="accent2"/>
          </a:solidFill>
          <a:ln w="12700">
            <a:solidFill>
              <a:schemeClr val="accent2"/>
            </a:solidFill>
            <a:prstDash val="solid"/>
          </a:ln>
        </p:spPr>
      </p:sp>
      <p:pic>
        <p:nvPicPr>
          <p:cNvPr id="9" name="Pilar social (ícone)" descr="preencoded.png">    </p:cNvPr>
          <p:cNvPicPr>
            <a:picLocks noChangeAspect="1"/>
          </p:cNvPicPr>
          <p:nvPr/>
        </p:nvPicPr>
        <p:blipFill>
          <a:blip r:embed="rId2"/>
          <a:stretch>
            <a:fillRect/>
          </a:stretch>
        </p:blipFill>
        <p:spPr>
          <a:xfrm>
            <a:off x="10229850" y="3097530"/>
            <a:ext cx="800100" cy="800100"/>
          </a:xfrm>
          <a:prstGeom prst="rect">
            <a:avLst/>
          </a:prstGeom>
        </p:spPr>
      </p:pic>
      <p:sp>
        <p:nvSpPr>
          <p:cNvPr id="10" name="Pilar de governança"/>
          <p:cNvSpPr/>
          <p:nvPr/>
        </p:nvSpPr>
        <p:spPr>
          <a:xfrm>
            <a:off x="8549640" y="4160520"/>
            <a:ext cx="1600200" cy="1600200"/>
          </a:xfrm>
          <a:prstGeom prst="ellipse">
            <a:avLst/>
          </a:prstGeom>
          <a:solidFill>
            <a:schemeClr val="accent3"/>
          </a:solidFill>
          <a:ln w="12700">
            <a:solidFill>
              <a:schemeClr val="accent3"/>
            </a:solidFill>
            <a:prstDash val="solid"/>
          </a:ln>
        </p:spPr>
      </p:sp>
      <p:pic>
        <p:nvPicPr>
          <p:cNvPr id="11" name="Pilar de governança (ícone)" descr="preencoded.png">    </p:cNvPr>
          <p:cNvPicPr>
            <a:picLocks noChangeAspect="1"/>
          </p:cNvPicPr>
          <p:nvPr/>
        </p:nvPicPr>
        <p:blipFill>
          <a:blip r:embed="rId3"/>
          <a:stretch>
            <a:fillRect/>
          </a:stretch>
        </p:blipFill>
        <p:spPr>
          <a:xfrm>
            <a:off x="8949690" y="4560570"/>
            <a:ext cx="800100" cy="800100"/>
          </a:xfrm>
          <a:prstGeom prst="rect">
            <a:avLst/>
          </a:prstGeom>
        </p:spPr>
      </p:pic>
      <p:sp>
        <p:nvSpPr>
          <p:cNvPr id="12" name="Text 7"/>
          <p:cNvSpPr txBox="1"/>
          <p:nvPr/>
        </p:nvSpPr>
        <p:spPr>
          <a:xfrm>
            <a:off x="10241280" y="1691640"/>
            <a:ext cx="548640" cy="640080"/>
          </a:xfrm>
          <a:prstGeom prst="rect">
            <a:avLst/>
          </a:prstGeom>
          <a:noFill/>
          <a:ln/>
        </p:spPr>
        <p:txBody>
          <a:bodyPr wrap="square" lIns="0" tIns="0" rIns="0" bIns="0" rtlCol="0" anchor="t"/>
          <a:lstStyle/>
          <a:p>
            <a:pPr indent="0" marL="0">
              <a:buNone/>
            </a:pPr>
            <a:r>
              <a:rPr lang="en-US" sz="3200" b="1" dirty="0">
                <a:solidFill>
                  <a:schemeClr val="bg1"/>
                </a:solidFill>
              </a:rPr>
              <a:t>E</a:t>
            </a:r>
            <a:endParaRPr lang="en-US" sz="3200" dirty="0"/>
          </a:p>
        </p:txBody>
      </p:sp>
      <p:sp>
        <p:nvSpPr>
          <p:cNvPr id="13" name="Text 8"/>
          <p:cNvSpPr txBox="1"/>
          <p:nvPr/>
        </p:nvSpPr>
        <p:spPr>
          <a:xfrm>
            <a:off x="9326880" y="3154680"/>
            <a:ext cx="548640" cy="640080"/>
          </a:xfrm>
          <a:prstGeom prst="rect">
            <a:avLst/>
          </a:prstGeom>
          <a:noFill/>
          <a:ln/>
        </p:spPr>
        <p:txBody>
          <a:bodyPr wrap="square" lIns="0" tIns="0" rIns="0" bIns="0" rtlCol="0" anchor="t"/>
          <a:lstStyle/>
          <a:p>
            <a:pPr indent="0" marL="0">
              <a:buNone/>
            </a:pPr>
            <a:r>
              <a:rPr lang="en-US" sz="3200" b="1" dirty="0">
                <a:solidFill>
                  <a:schemeClr val="bg1"/>
                </a:solidFill>
              </a:rPr>
              <a:t>S</a:t>
            </a:r>
            <a:endParaRPr lang="en-US" sz="3200" dirty="0"/>
          </a:p>
        </p:txBody>
      </p:sp>
      <p:sp>
        <p:nvSpPr>
          <p:cNvPr id="14" name="Text 9"/>
          <p:cNvSpPr txBox="1"/>
          <p:nvPr/>
        </p:nvSpPr>
        <p:spPr>
          <a:xfrm>
            <a:off x="10241280" y="4617720"/>
            <a:ext cx="548640" cy="640080"/>
          </a:xfrm>
          <a:prstGeom prst="rect">
            <a:avLst/>
          </a:prstGeom>
          <a:noFill/>
          <a:ln/>
        </p:spPr>
        <p:txBody>
          <a:bodyPr wrap="square" lIns="0" tIns="0" rIns="0" bIns="0" rtlCol="0" anchor="t"/>
          <a:lstStyle/>
          <a:p>
            <a:pPr indent="0" marL="0">
              <a:buNone/>
            </a:pPr>
            <a:r>
              <a:rPr lang="en-US" sz="3200" b="1" dirty="0">
                <a:solidFill>
                  <a:schemeClr val="bg1"/>
                </a:solidFill>
              </a:rPr>
              <a:t>G</a:t>
            </a:r>
            <a:endParaRPr lang="en-US"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Uma API que mede cidades pelos três pilares ESG</a:t>
            </a:r>
            <a:endParaRPr lang="en-US" sz="3000" dirty="0"/>
          </a:p>
        </p:txBody>
      </p:sp>
      <p:sp>
        <p:nvSpPr>
          <p:cNvPr id="3" name="Text 1"/>
          <p:cNvSpPr txBox="1"/>
          <p:nvPr/>
        </p:nvSpPr>
        <p:spPr>
          <a:xfrm>
            <a:off x="548640" y="1325880"/>
            <a:ext cx="5760720" cy="914400"/>
          </a:xfrm>
          <a:prstGeom prst="rect">
            <a:avLst/>
          </a:prstGeom>
          <a:noFill/>
          <a:ln/>
        </p:spPr>
        <p:txBody>
          <a:bodyPr wrap="square" lIns="0" tIns="0" rIns="0" bIns="0" rtlCol="0" anchor="t"/>
          <a:lstStyle/>
          <a:p>
            <a:pPr indent="0" marL="0">
              <a:buNone/>
            </a:pPr>
            <a:r>
              <a:rPr lang="en-US" sz="1500" dirty="0">
                <a:solidFill>
                  <a:schemeClr val="accent5"/>
                </a:solidFill>
              </a:rPr>
              <a:t>API REST em Java 21 e Spring Boot 4.1 que cadastra cidades, recebe medições de 9 indicadores e calcula um score ESG de 0 a 100 com ranking. Vale sempre a medição mais recente de cada indicador.</a:t>
            </a:r>
            <a:endParaRPr lang="en-US" sz="1500" dirty="0"/>
          </a:p>
        </p:txBody>
      </p:sp>
      <p:sp>
        <p:nvSpPr>
          <p:cNvPr id="4" name="Ambiental, peso 40%"/>
          <p:cNvSpPr/>
          <p:nvPr/>
        </p:nvSpPr>
        <p:spPr>
          <a:xfrm>
            <a:off x="548640" y="2423160"/>
            <a:ext cx="822960" cy="822960"/>
          </a:xfrm>
          <a:prstGeom prst="ellipse">
            <a:avLst/>
          </a:prstGeom>
          <a:solidFill>
            <a:schemeClr val="accent1"/>
          </a:solidFill>
          <a:ln w="12700">
            <a:solidFill>
              <a:schemeClr val="accent1"/>
            </a:solidFill>
            <a:prstDash val="solid"/>
          </a:ln>
        </p:spPr>
      </p:sp>
      <p:pic>
        <p:nvPicPr>
          <p:cNvPr id="5" name="Ambiental, peso 40% (ícone)" descr="preencoded.png">    </p:cNvPr>
          <p:cNvPicPr>
            <a:picLocks noChangeAspect="1"/>
          </p:cNvPicPr>
          <p:nvPr/>
        </p:nvPicPr>
        <p:blipFill>
          <a:blip r:embed="rId1"/>
          <a:stretch>
            <a:fillRect/>
          </a:stretch>
        </p:blipFill>
        <p:spPr>
          <a:xfrm>
            <a:off x="754380" y="2628900"/>
            <a:ext cx="411480" cy="411480"/>
          </a:xfrm>
          <a:prstGeom prst="rect">
            <a:avLst/>
          </a:prstGeom>
        </p:spPr>
      </p:pic>
      <p:sp>
        <p:nvSpPr>
          <p:cNvPr id="6" name="Text 3"/>
          <p:cNvSpPr txBox="1"/>
          <p:nvPr/>
        </p:nvSpPr>
        <p:spPr>
          <a:xfrm>
            <a:off x="1600200" y="2441448"/>
            <a:ext cx="4754880" cy="914400"/>
          </a:xfrm>
          <a:prstGeom prst="rect">
            <a:avLst/>
          </a:prstGeom>
          <a:noFill/>
          <a:ln/>
        </p:spPr>
        <p:txBody>
          <a:bodyPr wrap="square" lIns="0" tIns="0" rIns="0" bIns="0" rtlCol="0" anchor="t"/>
          <a:lstStyle/>
          <a:p>
            <a:pPr indent="0" marL="0">
              <a:buNone/>
            </a:pPr>
            <a:r>
              <a:rPr lang="en-US" sz="1700" b="1" dirty="0">
                <a:solidFill>
                  <a:schemeClr val="tx1"/>
                </a:solidFill>
              </a:rPr>
              <a:t>Ambiental, peso 40%</a:t>
            </a:r>
            <a:endParaRPr lang="en-US" sz="1400" dirty="0"/>
          </a:p>
          <a:p>
            <a:pPr indent="0" marL="0">
              <a:buNone/>
            </a:pPr>
            <a:r>
              <a:rPr lang="en-US" sz="1400" dirty="0">
                <a:solidFill>
                  <a:schemeClr val="accent5"/>
                </a:solidFill>
              </a:rPr>
              <a:t>Emissões de CO₂ per capita, energia renovável e reciclagem de resíduos</a:t>
            </a:r>
            <a:endParaRPr lang="en-US" sz="1400" dirty="0"/>
          </a:p>
        </p:txBody>
      </p:sp>
      <p:sp>
        <p:nvSpPr>
          <p:cNvPr id="7" name="Social, peso 30%"/>
          <p:cNvSpPr/>
          <p:nvPr/>
        </p:nvSpPr>
        <p:spPr>
          <a:xfrm>
            <a:off x="548640" y="3611880"/>
            <a:ext cx="822960" cy="822960"/>
          </a:xfrm>
          <a:prstGeom prst="ellipse">
            <a:avLst/>
          </a:prstGeom>
          <a:solidFill>
            <a:schemeClr val="accent2"/>
          </a:solidFill>
          <a:ln w="12700">
            <a:solidFill>
              <a:schemeClr val="accent2"/>
            </a:solidFill>
            <a:prstDash val="solid"/>
          </a:ln>
        </p:spPr>
      </p:sp>
      <p:pic>
        <p:nvPicPr>
          <p:cNvPr id="8" name="Social, peso 30% (ícone)" descr="preencoded.png">    </p:cNvPr>
          <p:cNvPicPr>
            <a:picLocks noChangeAspect="1"/>
          </p:cNvPicPr>
          <p:nvPr/>
        </p:nvPicPr>
        <p:blipFill>
          <a:blip r:embed="rId2"/>
          <a:stretch>
            <a:fillRect/>
          </a:stretch>
        </p:blipFill>
        <p:spPr>
          <a:xfrm>
            <a:off x="754380" y="3817620"/>
            <a:ext cx="411480" cy="411480"/>
          </a:xfrm>
          <a:prstGeom prst="rect">
            <a:avLst/>
          </a:prstGeom>
        </p:spPr>
      </p:pic>
      <p:sp>
        <p:nvSpPr>
          <p:cNvPr id="9" name="Text 5"/>
          <p:cNvSpPr txBox="1"/>
          <p:nvPr/>
        </p:nvSpPr>
        <p:spPr>
          <a:xfrm>
            <a:off x="1600200" y="3630168"/>
            <a:ext cx="4754880" cy="914400"/>
          </a:xfrm>
          <a:prstGeom prst="rect">
            <a:avLst/>
          </a:prstGeom>
          <a:noFill/>
          <a:ln/>
        </p:spPr>
        <p:txBody>
          <a:bodyPr wrap="square" lIns="0" tIns="0" rIns="0" bIns="0" rtlCol="0" anchor="t"/>
          <a:lstStyle/>
          <a:p>
            <a:pPr indent="0" marL="0">
              <a:buNone/>
            </a:pPr>
            <a:r>
              <a:rPr lang="en-US" sz="1700" b="1" dirty="0">
                <a:solidFill>
                  <a:schemeClr val="tx1"/>
                </a:solidFill>
              </a:rPr>
              <a:t>Social, peso 30%</a:t>
            </a:r>
            <a:endParaRPr lang="en-US" sz="1400" dirty="0"/>
          </a:p>
          <a:p>
            <a:pPr indent="0" marL="0">
              <a:buNone/>
            </a:pPr>
            <a:r>
              <a:rPr lang="en-US" sz="1400" dirty="0">
                <a:solidFill>
                  <a:schemeClr val="accent5"/>
                </a:solidFill>
              </a:rPr>
              <a:t>Coleta de esgoto, acesso a transporte público e mortalidade infantil</a:t>
            </a:r>
            <a:endParaRPr lang="en-US" sz="1400" dirty="0"/>
          </a:p>
        </p:txBody>
      </p:sp>
      <p:sp>
        <p:nvSpPr>
          <p:cNvPr id="10" name="Governança, peso 30%"/>
          <p:cNvSpPr/>
          <p:nvPr/>
        </p:nvSpPr>
        <p:spPr>
          <a:xfrm>
            <a:off x="548640" y="4800600"/>
            <a:ext cx="822960" cy="822960"/>
          </a:xfrm>
          <a:prstGeom prst="ellipse">
            <a:avLst/>
          </a:prstGeom>
          <a:solidFill>
            <a:schemeClr val="accent3"/>
          </a:solidFill>
          <a:ln w="12700">
            <a:solidFill>
              <a:schemeClr val="accent3"/>
            </a:solidFill>
            <a:prstDash val="solid"/>
          </a:ln>
        </p:spPr>
      </p:sp>
      <p:pic>
        <p:nvPicPr>
          <p:cNvPr id="11" name="Governança, peso 30% (ícone)" descr="preencoded.png">    </p:cNvPr>
          <p:cNvPicPr>
            <a:picLocks noChangeAspect="1"/>
          </p:cNvPicPr>
          <p:nvPr/>
        </p:nvPicPr>
        <p:blipFill>
          <a:blip r:embed="rId3"/>
          <a:stretch>
            <a:fillRect/>
          </a:stretch>
        </p:blipFill>
        <p:spPr>
          <a:xfrm>
            <a:off x="754380" y="5006340"/>
            <a:ext cx="411480" cy="411480"/>
          </a:xfrm>
          <a:prstGeom prst="rect">
            <a:avLst/>
          </a:prstGeom>
        </p:spPr>
      </p:pic>
      <p:sp>
        <p:nvSpPr>
          <p:cNvPr id="12" name="Text 7"/>
          <p:cNvSpPr txBox="1"/>
          <p:nvPr/>
        </p:nvSpPr>
        <p:spPr>
          <a:xfrm>
            <a:off x="1600200" y="4818888"/>
            <a:ext cx="4754880" cy="914400"/>
          </a:xfrm>
          <a:prstGeom prst="rect">
            <a:avLst/>
          </a:prstGeom>
          <a:noFill/>
          <a:ln/>
        </p:spPr>
        <p:txBody>
          <a:bodyPr wrap="square" lIns="0" tIns="0" rIns="0" bIns="0" rtlCol="0" anchor="t"/>
          <a:lstStyle/>
          <a:p>
            <a:pPr indent="0" marL="0">
              <a:buNone/>
            </a:pPr>
            <a:r>
              <a:rPr lang="en-US" sz="1700" b="1" dirty="0">
                <a:solidFill>
                  <a:schemeClr val="tx1"/>
                </a:solidFill>
              </a:rPr>
              <a:t>Governança, peso 30%</a:t>
            </a:r>
            <a:endParaRPr lang="en-US" sz="1400" dirty="0"/>
          </a:p>
          <a:p>
            <a:pPr indent="0" marL="0">
              <a:buNone/>
            </a:pPr>
            <a:r>
              <a:rPr lang="en-US" sz="1400" dirty="0">
                <a:solidFill>
                  <a:schemeClr val="accent5"/>
                </a:solidFill>
              </a:rPr>
              <a:t>Transparência pública, serviços digitais e participação cidadã</a:t>
            </a:r>
            <a:endParaRPr lang="en-US" sz="1400" dirty="0"/>
          </a:p>
        </p:txBody>
      </p:sp>
      <p:graphicFrame>
        <p:nvGraphicFramePr>
          <p:cNvPr id="13" name="Chart 0" descr=""/>
          <p:cNvGraphicFramePr/>
          <p:nvPr/>
        </p:nvGraphicFramePr>
        <p:xfrm>
          <a:off x="6720840" y="1280160"/>
          <a:ext cx="4937760" cy="484632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Arquitetura: do push à produção</a:t>
            </a:r>
            <a:endParaRPr lang="en-US" sz="3000" dirty="0"/>
          </a:p>
        </p:txBody>
      </p:sp>
      <p:sp>
        <p:nvSpPr>
          <p:cNvPr id="3" name="Shape 1"/>
          <p:cNvSpPr/>
          <p:nvPr/>
        </p:nvSpPr>
        <p:spPr>
          <a:xfrm>
            <a:off x="548640" y="1417320"/>
            <a:ext cx="2240280" cy="1051560"/>
          </a:xfrm>
          <a:prstGeom prst="roundRect">
            <a:avLst>
              <a:gd name="adj" fmla="val 8696"/>
            </a:avLst>
          </a:prstGeom>
          <a:solidFill>
            <a:schemeClr val="bg2"/>
          </a:solidFill>
          <a:ln w="12700">
            <a:solidFill>
              <a:schemeClr val="bg2"/>
            </a:solidFill>
            <a:prstDash val="solid"/>
          </a:ln>
        </p:spPr>
      </p:sp>
      <p:sp>
        <p:nvSpPr>
          <p:cNvPr id="4" name="Desenvolvedor"/>
          <p:cNvSpPr/>
          <p:nvPr/>
        </p:nvSpPr>
        <p:spPr>
          <a:xfrm>
            <a:off x="713232" y="1627632"/>
            <a:ext cx="640080" cy="640080"/>
          </a:xfrm>
          <a:prstGeom prst="ellipse">
            <a:avLst/>
          </a:prstGeom>
          <a:solidFill>
            <a:schemeClr val="accent5"/>
          </a:solidFill>
          <a:ln w="12700">
            <a:solidFill>
              <a:schemeClr val="accent5"/>
            </a:solidFill>
            <a:prstDash val="solid"/>
          </a:ln>
        </p:spPr>
      </p:sp>
      <p:pic>
        <p:nvPicPr>
          <p:cNvPr id="5" name="Desenvolvedor (ícone)" descr="preencoded.png">    </p:cNvPr>
          <p:cNvPicPr>
            <a:picLocks noChangeAspect="1"/>
          </p:cNvPicPr>
          <p:nvPr/>
        </p:nvPicPr>
        <p:blipFill>
          <a:blip r:embed="rId1"/>
          <a:stretch>
            <a:fillRect/>
          </a:stretch>
        </p:blipFill>
        <p:spPr>
          <a:xfrm>
            <a:off x="873252" y="1787652"/>
            <a:ext cx="320040" cy="320040"/>
          </a:xfrm>
          <a:prstGeom prst="rect">
            <a:avLst/>
          </a:prstGeom>
        </p:spPr>
      </p:pic>
      <p:sp>
        <p:nvSpPr>
          <p:cNvPr id="6" name="Text 3"/>
          <p:cNvSpPr txBox="1"/>
          <p:nvPr/>
        </p:nvSpPr>
        <p:spPr>
          <a:xfrm>
            <a:off x="1463040" y="1664208"/>
            <a:ext cx="1280160" cy="731520"/>
          </a:xfrm>
          <a:prstGeom prst="rect">
            <a:avLst/>
          </a:prstGeom>
          <a:noFill/>
          <a:ln/>
        </p:spPr>
        <p:txBody>
          <a:bodyPr wrap="square" lIns="0" tIns="0" rIns="0" bIns="0" rtlCol="0" anchor="t"/>
          <a:lstStyle/>
          <a:p>
            <a:pPr indent="0" marL="0">
              <a:buNone/>
            </a:pPr>
            <a:r>
              <a:rPr lang="en-US" sz="1500" b="1" dirty="0">
                <a:solidFill>
                  <a:schemeClr val="tx1"/>
                </a:solidFill>
              </a:rPr>
              <a:t>Desenvolvedor</a:t>
            </a:r>
            <a:endParaRPr lang="en-US" sz="1400" dirty="0"/>
          </a:p>
          <a:p>
            <a:pPr indent="0" marL="0">
              <a:buNone/>
            </a:pPr>
            <a:r>
              <a:rPr lang="en-US" sz="1200" dirty="0">
                <a:solidFill>
                  <a:schemeClr val="accent5"/>
                </a:solidFill>
              </a:rPr>
              <a:t>git push na main</a:t>
            </a:r>
            <a:endParaRPr lang="en-US" sz="1400" dirty="0"/>
          </a:p>
        </p:txBody>
      </p:sp>
      <p:sp>
        <p:nvSpPr>
          <p:cNvPr id="7" name="Shape 4"/>
          <p:cNvSpPr/>
          <p:nvPr/>
        </p:nvSpPr>
        <p:spPr>
          <a:xfrm>
            <a:off x="548640" y="3246120"/>
            <a:ext cx="2240280" cy="1051560"/>
          </a:xfrm>
          <a:prstGeom prst="roundRect">
            <a:avLst>
              <a:gd name="adj" fmla="val 8696"/>
            </a:avLst>
          </a:prstGeom>
          <a:solidFill>
            <a:schemeClr val="bg2"/>
          </a:solidFill>
          <a:ln w="12700">
            <a:solidFill>
              <a:schemeClr val="bg2"/>
            </a:solidFill>
            <a:prstDash val="solid"/>
          </a:ln>
        </p:spPr>
      </p:sp>
      <p:sp>
        <p:nvSpPr>
          <p:cNvPr id="8" name="GitHub"/>
          <p:cNvSpPr/>
          <p:nvPr/>
        </p:nvSpPr>
        <p:spPr>
          <a:xfrm>
            <a:off x="713232" y="3456432"/>
            <a:ext cx="640080" cy="640080"/>
          </a:xfrm>
          <a:prstGeom prst="ellipse">
            <a:avLst/>
          </a:prstGeom>
          <a:solidFill>
            <a:schemeClr val="tx1"/>
          </a:solidFill>
          <a:ln w="12700">
            <a:solidFill>
              <a:schemeClr val="tx1"/>
            </a:solidFill>
            <a:prstDash val="solid"/>
          </a:ln>
        </p:spPr>
      </p:sp>
      <p:pic>
        <p:nvPicPr>
          <p:cNvPr id="9" name="GitHub (ícone)" descr="preencoded.png">    </p:cNvPr>
          <p:cNvPicPr>
            <a:picLocks noChangeAspect="1"/>
          </p:cNvPicPr>
          <p:nvPr/>
        </p:nvPicPr>
        <p:blipFill>
          <a:blip r:embed="rId2"/>
          <a:stretch>
            <a:fillRect/>
          </a:stretch>
        </p:blipFill>
        <p:spPr>
          <a:xfrm>
            <a:off x="873252" y="3616452"/>
            <a:ext cx="320040" cy="320040"/>
          </a:xfrm>
          <a:prstGeom prst="rect">
            <a:avLst/>
          </a:prstGeom>
        </p:spPr>
      </p:pic>
      <p:sp>
        <p:nvSpPr>
          <p:cNvPr id="10" name="Text 6"/>
          <p:cNvSpPr txBox="1"/>
          <p:nvPr/>
        </p:nvSpPr>
        <p:spPr>
          <a:xfrm>
            <a:off x="1463040" y="3493008"/>
            <a:ext cx="1280160" cy="731520"/>
          </a:xfrm>
          <a:prstGeom prst="rect">
            <a:avLst/>
          </a:prstGeom>
          <a:noFill/>
          <a:ln/>
        </p:spPr>
        <p:txBody>
          <a:bodyPr wrap="square" lIns="0" tIns="0" rIns="0" bIns="0" rtlCol="0" anchor="t"/>
          <a:lstStyle/>
          <a:p>
            <a:pPr indent="0" marL="0">
              <a:buNone/>
            </a:pPr>
            <a:r>
              <a:rPr lang="en-US" sz="1500" b="1" dirty="0">
                <a:solidFill>
                  <a:schemeClr val="tx1"/>
                </a:solidFill>
              </a:rPr>
              <a:t>GitHub</a:t>
            </a:r>
            <a:endParaRPr lang="en-US" sz="1400" dirty="0"/>
          </a:p>
          <a:p>
            <a:pPr indent="0" marL="0">
              <a:buNone/>
            </a:pPr>
            <a:r>
              <a:rPr lang="en-US" sz="1200" dirty="0">
                <a:solidFill>
                  <a:schemeClr val="accent5"/>
                </a:solidFill>
              </a:rPr>
              <a:t>repositório público</a:t>
            </a:r>
            <a:endParaRPr lang="en-US" sz="1400" dirty="0"/>
          </a:p>
        </p:txBody>
      </p:sp>
      <p:sp>
        <p:nvSpPr>
          <p:cNvPr id="11" name="Shape 7"/>
          <p:cNvSpPr/>
          <p:nvPr/>
        </p:nvSpPr>
        <p:spPr>
          <a:xfrm>
            <a:off x="1673352" y="2468880"/>
            <a:ext cx="914" cy="777240"/>
          </a:xfrm>
          <a:prstGeom prst="line">
            <a:avLst/>
          </a:prstGeom>
          <a:noFill/>
          <a:ln w="22225">
            <a:solidFill>
              <a:srgbClr val="4A5852"/>
            </a:solidFill>
            <a:prstDash val="solid"/>
            <a:tailEnd type="triangle"/>
          </a:ln>
        </p:spPr>
      </p:sp>
      <p:sp>
        <p:nvSpPr>
          <p:cNvPr id="12" name="Shape 8"/>
          <p:cNvSpPr/>
          <p:nvPr/>
        </p:nvSpPr>
        <p:spPr>
          <a:xfrm>
            <a:off x="2788920" y="3767328"/>
            <a:ext cx="502920" cy="914"/>
          </a:xfrm>
          <a:prstGeom prst="line">
            <a:avLst/>
          </a:prstGeom>
          <a:noFill/>
          <a:ln w="22225">
            <a:solidFill>
              <a:srgbClr val="4A5852"/>
            </a:solidFill>
            <a:prstDash val="solid"/>
            <a:tailEnd type="triangle"/>
          </a:ln>
        </p:spPr>
      </p:sp>
      <p:sp>
        <p:nvSpPr>
          <p:cNvPr id="13" name="Shape 9"/>
          <p:cNvSpPr/>
          <p:nvPr/>
        </p:nvSpPr>
        <p:spPr>
          <a:xfrm>
            <a:off x="3291840" y="1325880"/>
            <a:ext cx="3703320" cy="4846320"/>
          </a:xfrm>
          <a:prstGeom prst="roundRect">
            <a:avLst>
              <a:gd name="adj" fmla="val 2469"/>
            </a:avLst>
          </a:prstGeom>
          <a:solidFill>
            <a:schemeClr val="bg2"/>
          </a:solidFill>
          <a:ln w="12700">
            <a:solidFill>
              <a:schemeClr val="bg2"/>
            </a:solidFill>
            <a:prstDash val="solid"/>
          </a:ln>
        </p:spPr>
      </p:sp>
      <p:sp>
        <p:nvSpPr>
          <p:cNvPr id="14" name="Text 10"/>
          <p:cNvSpPr txBox="1"/>
          <p:nvPr/>
        </p:nvSpPr>
        <p:spPr>
          <a:xfrm>
            <a:off x="3520440" y="1463040"/>
            <a:ext cx="3291840" cy="365760"/>
          </a:xfrm>
          <a:prstGeom prst="rect">
            <a:avLst/>
          </a:prstGeom>
          <a:noFill/>
          <a:ln/>
        </p:spPr>
        <p:txBody>
          <a:bodyPr wrap="square" lIns="0" tIns="0" rIns="0" bIns="0" rtlCol="0" anchor="t"/>
          <a:lstStyle/>
          <a:p>
            <a:pPr indent="0" marL="0">
              <a:buNone/>
            </a:pPr>
            <a:r>
              <a:rPr lang="en-US" sz="1500" b="1" dirty="0">
                <a:solidFill>
                  <a:schemeClr val="tx2"/>
                </a:solidFill>
              </a:rPr>
              <a:t>Pipeline no GitHub Actions</a:t>
            </a:r>
            <a:endParaRPr lang="en-US" sz="1500" dirty="0"/>
          </a:p>
        </p:txBody>
      </p:sp>
      <p:sp>
        <p:nvSpPr>
          <p:cNvPr id="15" name="Etapa 1  Build"/>
          <p:cNvSpPr/>
          <p:nvPr/>
        </p:nvSpPr>
        <p:spPr>
          <a:xfrm>
            <a:off x="3520440" y="1965960"/>
            <a:ext cx="3246120" cy="548640"/>
          </a:xfrm>
          <a:prstGeom prst="roundRect">
            <a:avLst>
              <a:gd name="adj" fmla="val 50000"/>
            </a:avLst>
          </a:prstGeom>
          <a:solidFill>
            <a:schemeClr val="accent5"/>
          </a:solidFill>
          <a:ln w="12700">
            <a:solidFill>
              <a:schemeClr val="accent5"/>
            </a:solidFill>
            <a:prstDash val="solid"/>
          </a:ln>
        </p:spPr>
      </p:sp>
      <p:sp>
        <p:nvSpPr>
          <p:cNvPr id="16" name="Text 12"/>
          <p:cNvSpPr txBox="1"/>
          <p:nvPr/>
        </p:nvSpPr>
        <p:spPr>
          <a:xfrm>
            <a:off x="3749040" y="2075688"/>
            <a:ext cx="2926080" cy="329184"/>
          </a:xfrm>
          <a:prstGeom prst="rect">
            <a:avLst/>
          </a:prstGeom>
          <a:noFill/>
          <a:ln/>
        </p:spPr>
        <p:txBody>
          <a:bodyPr wrap="square" lIns="0" tIns="0" rIns="0" bIns="0" rtlCol="0" anchor="t"/>
          <a:lstStyle/>
          <a:p>
            <a:pPr indent="0" marL="0">
              <a:buNone/>
            </a:pPr>
            <a:r>
              <a:rPr lang="en-US" sz="1500" b="1" dirty="0">
                <a:solidFill>
                  <a:schemeClr val="bg1"/>
                </a:solidFill>
              </a:rPr>
              <a:t>1  Build</a:t>
            </a:r>
            <a:endParaRPr lang="en-US" sz="1500" dirty="0"/>
          </a:p>
        </p:txBody>
      </p:sp>
      <p:sp>
        <p:nvSpPr>
          <p:cNvPr id="17" name="Etapa 2  Testes"/>
          <p:cNvSpPr/>
          <p:nvPr/>
        </p:nvSpPr>
        <p:spPr>
          <a:xfrm>
            <a:off x="3520440" y="2788920"/>
            <a:ext cx="3246120" cy="548640"/>
          </a:xfrm>
          <a:prstGeom prst="roundRect">
            <a:avLst>
              <a:gd name="adj" fmla="val 50000"/>
            </a:avLst>
          </a:prstGeom>
          <a:solidFill>
            <a:schemeClr val="accent5"/>
          </a:solidFill>
          <a:ln w="12700">
            <a:solidFill>
              <a:schemeClr val="accent5"/>
            </a:solidFill>
            <a:prstDash val="solid"/>
          </a:ln>
        </p:spPr>
      </p:sp>
      <p:sp>
        <p:nvSpPr>
          <p:cNvPr id="18" name="Text 14"/>
          <p:cNvSpPr txBox="1"/>
          <p:nvPr/>
        </p:nvSpPr>
        <p:spPr>
          <a:xfrm>
            <a:off x="3749040" y="2898648"/>
            <a:ext cx="2926080" cy="329184"/>
          </a:xfrm>
          <a:prstGeom prst="rect">
            <a:avLst/>
          </a:prstGeom>
          <a:noFill/>
          <a:ln/>
        </p:spPr>
        <p:txBody>
          <a:bodyPr wrap="square" lIns="0" tIns="0" rIns="0" bIns="0" rtlCol="0" anchor="t"/>
          <a:lstStyle/>
          <a:p>
            <a:pPr indent="0" marL="0">
              <a:buNone/>
            </a:pPr>
            <a:r>
              <a:rPr lang="en-US" sz="1500" b="1" dirty="0">
                <a:solidFill>
                  <a:schemeClr val="bg1"/>
                </a:solidFill>
              </a:rPr>
              <a:t>2  Testes</a:t>
            </a:r>
            <a:endParaRPr lang="en-US" sz="1500" dirty="0"/>
          </a:p>
        </p:txBody>
      </p:sp>
      <p:sp>
        <p:nvSpPr>
          <p:cNvPr id="19" name="Etapa 3  Docker"/>
          <p:cNvSpPr/>
          <p:nvPr/>
        </p:nvSpPr>
        <p:spPr>
          <a:xfrm>
            <a:off x="3520440" y="3611880"/>
            <a:ext cx="3246120" cy="548640"/>
          </a:xfrm>
          <a:prstGeom prst="roundRect">
            <a:avLst>
              <a:gd name="adj" fmla="val 50000"/>
            </a:avLst>
          </a:prstGeom>
          <a:solidFill>
            <a:schemeClr val="accent3"/>
          </a:solidFill>
          <a:ln w="12700">
            <a:solidFill>
              <a:schemeClr val="accent3"/>
            </a:solidFill>
            <a:prstDash val="solid"/>
          </a:ln>
        </p:spPr>
      </p:sp>
      <p:sp>
        <p:nvSpPr>
          <p:cNvPr id="20" name="Text 16"/>
          <p:cNvSpPr txBox="1"/>
          <p:nvPr/>
        </p:nvSpPr>
        <p:spPr>
          <a:xfrm>
            <a:off x="3749040" y="3721608"/>
            <a:ext cx="2926080" cy="329184"/>
          </a:xfrm>
          <a:prstGeom prst="rect">
            <a:avLst/>
          </a:prstGeom>
          <a:noFill/>
          <a:ln/>
        </p:spPr>
        <p:txBody>
          <a:bodyPr wrap="square" lIns="0" tIns="0" rIns="0" bIns="0" rtlCol="0" anchor="t"/>
          <a:lstStyle/>
          <a:p>
            <a:pPr indent="0" marL="0">
              <a:buNone/>
            </a:pPr>
            <a:r>
              <a:rPr lang="en-US" sz="1500" b="1" dirty="0">
                <a:solidFill>
                  <a:schemeClr val="bg1"/>
                </a:solidFill>
              </a:rPr>
              <a:t>3  Docker</a:t>
            </a:r>
            <a:endParaRPr lang="en-US" sz="1500" dirty="0"/>
          </a:p>
        </p:txBody>
      </p:sp>
      <p:sp>
        <p:nvSpPr>
          <p:cNvPr id="21" name="Etapa 4  Deploy staging"/>
          <p:cNvSpPr/>
          <p:nvPr/>
        </p:nvSpPr>
        <p:spPr>
          <a:xfrm>
            <a:off x="3520440" y="4434840"/>
            <a:ext cx="3246120" cy="548640"/>
          </a:xfrm>
          <a:prstGeom prst="roundRect">
            <a:avLst>
              <a:gd name="adj" fmla="val 50000"/>
            </a:avLst>
          </a:prstGeom>
          <a:solidFill>
            <a:schemeClr val="accent2"/>
          </a:solidFill>
          <a:ln w="12700">
            <a:solidFill>
              <a:schemeClr val="accent2"/>
            </a:solidFill>
            <a:prstDash val="solid"/>
          </a:ln>
        </p:spPr>
      </p:sp>
      <p:sp>
        <p:nvSpPr>
          <p:cNvPr id="22" name="Text 18"/>
          <p:cNvSpPr txBox="1"/>
          <p:nvPr/>
        </p:nvSpPr>
        <p:spPr>
          <a:xfrm>
            <a:off x="3749040" y="4544568"/>
            <a:ext cx="2926080" cy="329184"/>
          </a:xfrm>
          <a:prstGeom prst="rect">
            <a:avLst/>
          </a:prstGeom>
          <a:noFill/>
          <a:ln/>
        </p:spPr>
        <p:txBody>
          <a:bodyPr wrap="square" lIns="0" tIns="0" rIns="0" bIns="0" rtlCol="0" anchor="t"/>
          <a:lstStyle/>
          <a:p>
            <a:pPr indent="0" marL="0">
              <a:buNone/>
            </a:pPr>
            <a:r>
              <a:rPr lang="en-US" sz="1500" b="1" dirty="0">
                <a:solidFill>
                  <a:schemeClr val="bg1"/>
                </a:solidFill>
              </a:rPr>
              <a:t>4  Deploy staging</a:t>
            </a:r>
            <a:endParaRPr lang="en-US" sz="1500" dirty="0"/>
          </a:p>
        </p:txBody>
      </p:sp>
      <p:sp>
        <p:nvSpPr>
          <p:cNvPr id="23" name="Etapa 5  Deploy produção"/>
          <p:cNvSpPr/>
          <p:nvPr/>
        </p:nvSpPr>
        <p:spPr>
          <a:xfrm>
            <a:off x="3520440" y="5257800"/>
            <a:ext cx="3246120" cy="548640"/>
          </a:xfrm>
          <a:prstGeom prst="roundRect">
            <a:avLst>
              <a:gd name="adj" fmla="val 50000"/>
            </a:avLst>
          </a:prstGeom>
          <a:solidFill>
            <a:schemeClr val="accent1"/>
          </a:solidFill>
          <a:ln w="12700">
            <a:solidFill>
              <a:schemeClr val="accent1"/>
            </a:solidFill>
            <a:prstDash val="solid"/>
          </a:ln>
        </p:spPr>
      </p:sp>
      <p:sp>
        <p:nvSpPr>
          <p:cNvPr id="24" name="Text 20"/>
          <p:cNvSpPr txBox="1"/>
          <p:nvPr/>
        </p:nvSpPr>
        <p:spPr>
          <a:xfrm>
            <a:off x="3749040" y="5367528"/>
            <a:ext cx="2926080" cy="329184"/>
          </a:xfrm>
          <a:prstGeom prst="rect">
            <a:avLst/>
          </a:prstGeom>
          <a:noFill/>
          <a:ln/>
        </p:spPr>
        <p:txBody>
          <a:bodyPr wrap="square" lIns="0" tIns="0" rIns="0" bIns="0" rtlCol="0" anchor="t"/>
          <a:lstStyle/>
          <a:p>
            <a:pPr indent="0" marL="0">
              <a:buNone/>
            </a:pPr>
            <a:r>
              <a:rPr lang="en-US" sz="1500" b="1" dirty="0">
                <a:solidFill>
                  <a:schemeClr val="bg1"/>
                </a:solidFill>
              </a:rPr>
              <a:t>5  Deploy produção</a:t>
            </a:r>
            <a:endParaRPr lang="en-US" sz="1500" dirty="0"/>
          </a:p>
        </p:txBody>
      </p:sp>
      <p:sp>
        <p:nvSpPr>
          <p:cNvPr id="25" name="Text 21"/>
          <p:cNvSpPr txBox="1"/>
          <p:nvPr/>
        </p:nvSpPr>
        <p:spPr>
          <a:xfrm>
            <a:off x="4754880" y="5001768"/>
            <a:ext cx="2011680" cy="237744"/>
          </a:xfrm>
          <a:prstGeom prst="rect">
            <a:avLst/>
          </a:prstGeom>
          <a:noFill/>
          <a:ln/>
        </p:spPr>
        <p:txBody>
          <a:bodyPr wrap="square" lIns="0" tIns="0" rIns="0" bIns="0" rtlCol="0" anchor="t"/>
          <a:lstStyle/>
          <a:p>
            <a:pPr algn="r" indent="0" marL="0">
              <a:buNone/>
            </a:pPr>
            <a:r>
              <a:rPr lang="en-US" sz="1100" i="1" dirty="0">
                <a:solidFill>
                  <a:schemeClr val="accent5"/>
                </a:solidFill>
              </a:rPr>
              <a:t>aprovação manual</a:t>
            </a:r>
            <a:endParaRPr lang="en-US" sz="1100" dirty="0"/>
          </a:p>
        </p:txBody>
      </p:sp>
      <p:sp>
        <p:nvSpPr>
          <p:cNvPr id="26" name="Shape 22"/>
          <p:cNvSpPr/>
          <p:nvPr/>
        </p:nvSpPr>
        <p:spPr>
          <a:xfrm>
            <a:off x="7635240" y="1417320"/>
            <a:ext cx="4005072" cy="914400"/>
          </a:xfrm>
          <a:prstGeom prst="roundRect">
            <a:avLst>
              <a:gd name="adj" fmla="val 10000"/>
            </a:avLst>
          </a:prstGeom>
          <a:solidFill>
            <a:schemeClr val="bg2"/>
          </a:solidFill>
          <a:ln w="12700">
            <a:solidFill>
              <a:schemeClr val="bg2"/>
            </a:solidFill>
            <a:prstDash val="solid"/>
          </a:ln>
        </p:spPr>
      </p:sp>
      <p:sp>
        <p:nvSpPr>
          <p:cNvPr id="27" name="GitHub Container Registry"/>
          <p:cNvSpPr/>
          <p:nvPr/>
        </p:nvSpPr>
        <p:spPr>
          <a:xfrm>
            <a:off x="7772400" y="1581912"/>
            <a:ext cx="585216" cy="585216"/>
          </a:xfrm>
          <a:prstGeom prst="ellipse">
            <a:avLst/>
          </a:prstGeom>
          <a:solidFill>
            <a:schemeClr val="accent3"/>
          </a:solidFill>
          <a:ln w="12700">
            <a:solidFill>
              <a:schemeClr val="accent3"/>
            </a:solidFill>
            <a:prstDash val="solid"/>
          </a:ln>
        </p:spPr>
      </p:sp>
      <p:pic>
        <p:nvPicPr>
          <p:cNvPr id="28" name="GitHub Container Registry (ícone)" descr="preencoded.png">    </p:cNvPr>
          <p:cNvPicPr>
            <a:picLocks noChangeAspect="1"/>
          </p:cNvPicPr>
          <p:nvPr/>
        </p:nvPicPr>
        <p:blipFill>
          <a:blip r:embed="rId3"/>
          <a:stretch>
            <a:fillRect/>
          </a:stretch>
        </p:blipFill>
        <p:spPr>
          <a:xfrm>
            <a:off x="7918704" y="1728216"/>
            <a:ext cx="292608" cy="292608"/>
          </a:xfrm>
          <a:prstGeom prst="rect">
            <a:avLst/>
          </a:prstGeom>
        </p:spPr>
      </p:pic>
      <p:sp>
        <p:nvSpPr>
          <p:cNvPr id="29" name="Text 24"/>
          <p:cNvSpPr txBox="1"/>
          <p:nvPr/>
        </p:nvSpPr>
        <p:spPr>
          <a:xfrm>
            <a:off x="8503920" y="1572768"/>
            <a:ext cx="3063240" cy="685800"/>
          </a:xfrm>
          <a:prstGeom prst="rect">
            <a:avLst/>
          </a:prstGeom>
          <a:noFill/>
          <a:ln/>
        </p:spPr>
        <p:txBody>
          <a:bodyPr wrap="square" lIns="0" tIns="0" rIns="0" bIns="0" rtlCol="0" anchor="t"/>
          <a:lstStyle/>
          <a:p>
            <a:pPr indent="0" marL="0">
              <a:buNone/>
            </a:pPr>
            <a:r>
              <a:rPr lang="en-US" sz="1500" b="1" dirty="0">
                <a:solidFill>
                  <a:schemeClr val="tx1"/>
                </a:solidFill>
              </a:rPr>
              <a:t>GitHub Container Registry</a:t>
            </a:r>
            <a:endParaRPr lang="en-US" sz="1400" dirty="0"/>
          </a:p>
          <a:p>
            <a:pPr indent="0" marL="0">
              <a:buNone/>
            </a:pPr>
            <a:r>
              <a:rPr lang="en-US" sz="1200" dirty="0">
                <a:solidFill>
                  <a:schemeClr val="accent5"/>
                </a:solidFill>
              </a:rPr>
              <a:t>imagem com tags sha-&lt;commit&gt; e latest</a:t>
            </a:r>
            <a:endParaRPr lang="en-US" sz="1400" dirty="0"/>
          </a:p>
        </p:txBody>
      </p:sp>
      <p:sp>
        <p:nvSpPr>
          <p:cNvPr id="30" name="Shape 25"/>
          <p:cNvSpPr/>
          <p:nvPr/>
        </p:nvSpPr>
        <p:spPr>
          <a:xfrm>
            <a:off x="7635240" y="2697480"/>
            <a:ext cx="4005072" cy="914400"/>
          </a:xfrm>
          <a:prstGeom prst="roundRect">
            <a:avLst>
              <a:gd name="adj" fmla="val 10000"/>
            </a:avLst>
          </a:prstGeom>
          <a:solidFill>
            <a:schemeClr val="bg2"/>
          </a:solidFill>
          <a:ln w="12700">
            <a:solidFill>
              <a:schemeClr val="bg2"/>
            </a:solidFill>
            <a:prstDash val="solid"/>
          </a:ln>
        </p:spPr>
      </p:sp>
      <p:sp>
        <p:nvSpPr>
          <p:cNvPr id="31" name="Render: staging"/>
          <p:cNvSpPr/>
          <p:nvPr/>
        </p:nvSpPr>
        <p:spPr>
          <a:xfrm>
            <a:off x="7772400" y="2862072"/>
            <a:ext cx="585216" cy="585216"/>
          </a:xfrm>
          <a:prstGeom prst="ellipse">
            <a:avLst/>
          </a:prstGeom>
          <a:solidFill>
            <a:schemeClr val="accent2"/>
          </a:solidFill>
          <a:ln w="12700">
            <a:solidFill>
              <a:schemeClr val="accent2"/>
            </a:solidFill>
            <a:prstDash val="solid"/>
          </a:ln>
        </p:spPr>
      </p:sp>
      <p:pic>
        <p:nvPicPr>
          <p:cNvPr id="32" name="Render: staging (ícone)" descr="preencoded.png">    </p:cNvPr>
          <p:cNvPicPr>
            <a:picLocks noChangeAspect="1"/>
          </p:cNvPicPr>
          <p:nvPr/>
        </p:nvPicPr>
        <p:blipFill>
          <a:blip r:embed="rId4"/>
          <a:stretch>
            <a:fillRect/>
          </a:stretch>
        </p:blipFill>
        <p:spPr>
          <a:xfrm>
            <a:off x="7918704" y="3008376"/>
            <a:ext cx="292608" cy="292608"/>
          </a:xfrm>
          <a:prstGeom prst="rect">
            <a:avLst/>
          </a:prstGeom>
        </p:spPr>
      </p:pic>
      <p:sp>
        <p:nvSpPr>
          <p:cNvPr id="33" name="Text 27"/>
          <p:cNvSpPr txBox="1"/>
          <p:nvPr/>
        </p:nvSpPr>
        <p:spPr>
          <a:xfrm>
            <a:off x="8503920" y="2852928"/>
            <a:ext cx="3063240" cy="685800"/>
          </a:xfrm>
          <a:prstGeom prst="rect">
            <a:avLst/>
          </a:prstGeom>
          <a:noFill/>
          <a:ln/>
        </p:spPr>
        <p:txBody>
          <a:bodyPr wrap="square" lIns="0" tIns="0" rIns="0" bIns="0" rtlCol="0" anchor="t"/>
          <a:lstStyle/>
          <a:p>
            <a:pPr indent="0" marL="0">
              <a:buNone/>
            </a:pPr>
            <a:r>
              <a:rPr lang="en-US" sz="1500" b="1" dirty="0">
                <a:solidFill>
                  <a:schemeClr val="tx1"/>
                </a:solidFill>
              </a:rPr>
              <a:t>Render: staging</a:t>
            </a:r>
            <a:endParaRPr lang="en-US" sz="1400" dirty="0"/>
          </a:p>
          <a:p>
            <a:pPr indent="0" marL="0">
              <a:buNone/>
            </a:pPr>
            <a:r>
              <a:rPr lang="en-US" sz="1200" dirty="0">
                <a:solidFill>
                  <a:schemeClr val="accent5"/>
                </a:solidFill>
              </a:rPr>
              <a:t>cidades-esg-staging, perfil staging</a:t>
            </a:r>
            <a:endParaRPr lang="en-US" sz="1400" dirty="0"/>
          </a:p>
        </p:txBody>
      </p:sp>
      <p:sp>
        <p:nvSpPr>
          <p:cNvPr id="34" name="Shape 28"/>
          <p:cNvSpPr/>
          <p:nvPr/>
        </p:nvSpPr>
        <p:spPr>
          <a:xfrm>
            <a:off x="7635240" y="3977640"/>
            <a:ext cx="4005072" cy="914400"/>
          </a:xfrm>
          <a:prstGeom prst="roundRect">
            <a:avLst>
              <a:gd name="adj" fmla="val 10000"/>
            </a:avLst>
          </a:prstGeom>
          <a:solidFill>
            <a:schemeClr val="bg2"/>
          </a:solidFill>
          <a:ln w="12700">
            <a:solidFill>
              <a:schemeClr val="bg2"/>
            </a:solidFill>
            <a:prstDash val="solid"/>
          </a:ln>
        </p:spPr>
      </p:sp>
      <p:sp>
        <p:nvSpPr>
          <p:cNvPr id="35" name="Render: produção"/>
          <p:cNvSpPr/>
          <p:nvPr/>
        </p:nvSpPr>
        <p:spPr>
          <a:xfrm>
            <a:off x="7772400" y="4142232"/>
            <a:ext cx="585216" cy="585216"/>
          </a:xfrm>
          <a:prstGeom prst="ellipse">
            <a:avLst/>
          </a:prstGeom>
          <a:solidFill>
            <a:schemeClr val="accent1"/>
          </a:solidFill>
          <a:ln w="12700">
            <a:solidFill>
              <a:schemeClr val="accent1"/>
            </a:solidFill>
            <a:prstDash val="solid"/>
          </a:ln>
        </p:spPr>
      </p:sp>
      <p:pic>
        <p:nvPicPr>
          <p:cNvPr id="36" name="Render: produção (ícone)" descr="preencoded.png">    </p:cNvPr>
          <p:cNvPicPr>
            <a:picLocks noChangeAspect="1"/>
          </p:cNvPicPr>
          <p:nvPr/>
        </p:nvPicPr>
        <p:blipFill>
          <a:blip r:embed="rId5"/>
          <a:stretch>
            <a:fillRect/>
          </a:stretch>
        </p:blipFill>
        <p:spPr>
          <a:xfrm>
            <a:off x="7918704" y="4288536"/>
            <a:ext cx="292608" cy="292608"/>
          </a:xfrm>
          <a:prstGeom prst="rect">
            <a:avLst/>
          </a:prstGeom>
        </p:spPr>
      </p:pic>
      <p:sp>
        <p:nvSpPr>
          <p:cNvPr id="37" name="Text 30"/>
          <p:cNvSpPr txBox="1"/>
          <p:nvPr/>
        </p:nvSpPr>
        <p:spPr>
          <a:xfrm>
            <a:off x="8503920" y="4133088"/>
            <a:ext cx="3063240" cy="685800"/>
          </a:xfrm>
          <a:prstGeom prst="rect">
            <a:avLst/>
          </a:prstGeom>
          <a:noFill/>
          <a:ln/>
        </p:spPr>
        <p:txBody>
          <a:bodyPr wrap="square" lIns="0" tIns="0" rIns="0" bIns="0" rtlCol="0" anchor="t"/>
          <a:lstStyle/>
          <a:p>
            <a:pPr indent="0" marL="0">
              <a:buNone/>
            </a:pPr>
            <a:r>
              <a:rPr lang="en-US" sz="1500" b="1" dirty="0">
                <a:solidFill>
                  <a:schemeClr val="tx1"/>
                </a:solidFill>
              </a:rPr>
              <a:t>Render: produção</a:t>
            </a:r>
            <a:endParaRPr lang="en-US" sz="1400" dirty="0"/>
          </a:p>
          <a:p>
            <a:pPr indent="0" marL="0">
              <a:buNone/>
            </a:pPr>
            <a:r>
              <a:rPr lang="en-US" sz="1200" dirty="0">
                <a:solidFill>
                  <a:schemeClr val="accent5"/>
                </a:solidFill>
              </a:rPr>
              <a:t>cidades-esg-production, perfil production</a:t>
            </a:r>
            <a:endParaRPr lang="en-US" sz="1400" dirty="0"/>
          </a:p>
        </p:txBody>
      </p:sp>
      <p:sp>
        <p:nvSpPr>
          <p:cNvPr id="38" name="Shape 31"/>
          <p:cNvSpPr/>
          <p:nvPr/>
        </p:nvSpPr>
        <p:spPr>
          <a:xfrm>
            <a:off x="7635240" y="5257800"/>
            <a:ext cx="4005072" cy="914400"/>
          </a:xfrm>
          <a:prstGeom prst="roundRect">
            <a:avLst>
              <a:gd name="adj" fmla="val 10000"/>
            </a:avLst>
          </a:prstGeom>
          <a:solidFill>
            <a:schemeClr val="bg2"/>
          </a:solidFill>
          <a:ln w="12700">
            <a:solidFill>
              <a:schemeClr val="bg2"/>
            </a:solidFill>
            <a:prstDash val="solid"/>
          </a:ln>
        </p:spPr>
      </p:sp>
      <p:sp>
        <p:nvSpPr>
          <p:cNvPr id="39" name="PostgreSQL 17 (Render)"/>
          <p:cNvSpPr/>
          <p:nvPr/>
        </p:nvSpPr>
        <p:spPr>
          <a:xfrm>
            <a:off x="7772400" y="5422392"/>
            <a:ext cx="585216" cy="585216"/>
          </a:xfrm>
          <a:prstGeom prst="ellipse">
            <a:avLst/>
          </a:prstGeom>
          <a:solidFill>
            <a:schemeClr val="tx2"/>
          </a:solidFill>
          <a:ln w="12700">
            <a:solidFill>
              <a:schemeClr val="tx2"/>
            </a:solidFill>
            <a:prstDash val="solid"/>
          </a:ln>
        </p:spPr>
      </p:sp>
      <p:pic>
        <p:nvPicPr>
          <p:cNvPr id="40" name="PostgreSQL 17 (Render) (ícone)" descr="preencoded.png">    </p:cNvPr>
          <p:cNvPicPr>
            <a:picLocks noChangeAspect="1"/>
          </p:cNvPicPr>
          <p:nvPr/>
        </p:nvPicPr>
        <p:blipFill>
          <a:blip r:embed="rId6"/>
          <a:stretch>
            <a:fillRect/>
          </a:stretch>
        </p:blipFill>
        <p:spPr>
          <a:xfrm>
            <a:off x="7918704" y="5568696"/>
            <a:ext cx="292608" cy="292608"/>
          </a:xfrm>
          <a:prstGeom prst="rect">
            <a:avLst/>
          </a:prstGeom>
        </p:spPr>
      </p:pic>
      <p:sp>
        <p:nvSpPr>
          <p:cNvPr id="41" name="Text 33"/>
          <p:cNvSpPr txBox="1"/>
          <p:nvPr/>
        </p:nvSpPr>
        <p:spPr>
          <a:xfrm>
            <a:off x="8503920" y="5413248"/>
            <a:ext cx="3063240" cy="685800"/>
          </a:xfrm>
          <a:prstGeom prst="rect">
            <a:avLst/>
          </a:prstGeom>
          <a:noFill/>
          <a:ln/>
        </p:spPr>
        <p:txBody>
          <a:bodyPr wrap="square" lIns="0" tIns="0" rIns="0" bIns="0" rtlCol="0" anchor="t"/>
          <a:lstStyle/>
          <a:p>
            <a:pPr indent="0" marL="0">
              <a:buNone/>
            </a:pPr>
            <a:r>
              <a:rPr lang="en-US" sz="1500" b="1" dirty="0">
                <a:solidFill>
                  <a:schemeClr val="tx1"/>
                </a:solidFill>
              </a:rPr>
              <a:t>PostgreSQL 17 (Render)</a:t>
            </a:r>
            <a:endParaRPr lang="en-US" sz="1400" dirty="0"/>
          </a:p>
          <a:p>
            <a:pPr indent="0" marL="0">
              <a:buNone/>
            </a:pPr>
            <a:r>
              <a:rPr lang="en-US" sz="1200" dirty="0">
                <a:solidFill>
                  <a:schemeClr val="accent5"/>
                </a:solidFill>
              </a:rPr>
              <a:t>um banco, schemas staging e production</a:t>
            </a:r>
            <a:endParaRPr lang="en-US" sz="1400" dirty="0"/>
          </a:p>
        </p:txBody>
      </p:sp>
      <p:sp>
        <p:nvSpPr>
          <p:cNvPr id="42" name="Shape 34"/>
          <p:cNvSpPr/>
          <p:nvPr/>
        </p:nvSpPr>
        <p:spPr>
          <a:xfrm flipV="1">
            <a:off x="6766560" y="1874520"/>
            <a:ext cx="868680" cy="2011680"/>
          </a:xfrm>
          <a:prstGeom prst="line">
            <a:avLst/>
          </a:prstGeom>
          <a:noFill/>
          <a:ln w="22225">
            <a:solidFill>
              <a:srgbClr val="4A5852"/>
            </a:solidFill>
            <a:prstDash val="solid"/>
            <a:tailEnd type="triangle"/>
          </a:ln>
        </p:spPr>
      </p:sp>
      <p:sp>
        <p:nvSpPr>
          <p:cNvPr id="43" name="Shape 35"/>
          <p:cNvSpPr/>
          <p:nvPr/>
        </p:nvSpPr>
        <p:spPr>
          <a:xfrm flipV="1">
            <a:off x="6766560" y="3154680"/>
            <a:ext cx="868680" cy="1554480"/>
          </a:xfrm>
          <a:prstGeom prst="line">
            <a:avLst/>
          </a:prstGeom>
          <a:noFill/>
          <a:ln w="22225">
            <a:solidFill>
              <a:srgbClr val="4A5852"/>
            </a:solidFill>
            <a:prstDash val="solid"/>
            <a:tailEnd type="triangle"/>
          </a:ln>
        </p:spPr>
      </p:sp>
      <p:sp>
        <p:nvSpPr>
          <p:cNvPr id="44" name="Shape 36"/>
          <p:cNvSpPr/>
          <p:nvPr/>
        </p:nvSpPr>
        <p:spPr>
          <a:xfrm flipV="1">
            <a:off x="6766560" y="4434840"/>
            <a:ext cx="868680" cy="1097280"/>
          </a:xfrm>
          <a:prstGeom prst="line">
            <a:avLst/>
          </a:prstGeom>
          <a:noFill/>
          <a:ln w="22225">
            <a:solidFill>
              <a:srgbClr val="4A5852"/>
            </a:solidFill>
            <a:prstDash val="solid"/>
            <a:tailEnd type="triangle"/>
          </a:ln>
        </p:spPr>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Pipeline CI/CD com GitHub Actions</a:t>
            </a:r>
            <a:endParaRPr lang="en-US" sz="3000" dirty="0"/>
          </a:p>
        </p:txBody>
      </p:sp>
      <p:sp>
        <p:nvSpPr>
          <p:cNvPr id="3" name="Text 1"/>
          <p:cNvSpPr txBox="1"/>
          <p:nvPr/>
        </p:nvSpPr>
        <p:spPr>
          <a:xfrm>
            <a:off x="548640" y="1280160"/>
            <a:ext cx="11064240" cy="457200"/>
          </a:xfrm>
          <a:prstGeom prst="rect">
            <a:avLst/>
          </a:prstGeom>
          <a:noFill/>
          <a:ln/>
        </p:spPr>
        <p:txBody>
          <a:bodyPr wrap="square" lIns="0" tIns="0" rIns="0" bIns="0" rtlCol="0" anchor="t"/>
          <a:lstStyle/>
          <a:p>
            <a:pPr indent="0" marL="0">
              <a:buNone/>
            </a:pPr>
            <a:r>
              <a:rPr lang="en-US" sz="1500" b="1" dirty="0">
                <a:solidFill>
                  <a:schemeClr val="tx1"/>
                </a:solidFill>
              </a:rPr>
              <a:t>Ferramenta: </a:t>
            </a:r>
            <a:pPr indent="0" marL="0">
              <a:buNone/>
            </a:pPr>
            <a:r>
              <a:rPr lang="en-US" sz="1500" dirty="0">
                <a:solidFill>
                  <a:schemeClr val="accent5"/>
                </a:solidFill>
              </a:rPr>
              <a:t>GitHub Actions, arquivo .github/workflows/ci-cd.yml, com cinco jobs encadeados. Cada etapa só começa se a anterior passou.</a:t>
            </a:r>
            <a:endParaRPr lang="en-US" sz="1500" dirty="0"/>
          </a:p>
        </p:txBody>
      </p:sp>
      <p:sp>
        <p:nvSpPr>
          <p:cNvPr id="4" name="Build"/>
          <p:cNvSpPr/>
          <p:nvPr/>
        </p:nvSpPr>
        <p:spPr>
          <a:xfrm>
            <a:off x="1005840" y="2011680"/>
            <a:ext cx="1143000" cy="1143000"/>
          </a:xfrm>
          <a:prstGeom prst="ellipse">
            <a:avLst/>
          </a:prstGeom>
          <a:solidFill>
            <a:schemeClr val="accent5"/>
          </a:solidFill>
          <a:ln w="12700">
            <a:solidFill>
              <a:schemeClr val="accent5"/>
            </a:solidFill>
            <a:prstDash val="solid"/>
          </a:ln>
        </p:spPr>
      </p:sp>
      <p:pic>
        <p:nvPicPr>
          <p:cNvPr id="5" name="Build (ícone)" descr="preencoded.png">    </p:cNvPr>
          <p:cNvPicPr>
            <a:picLocks noChangeAspect="1"/>
          </p:cNvPicPr>
          <p:nvPr/>
        </p:nvPicPr>
        <p:blipFill>
          <a:blip r:embed="rId1"/>
          <a:stretch>
            <a:fillRect/>
          </a:stretch>
        </p:blipFill>
        <p:spPr>
          <a:xfrm>
            <a:off x="1291590" y="2297430"/>
            <a:ext cx="571500" cy="571500"/>
          </a:xfrm>
          <a:prstGeom prst="rect">
            <a:avLst/>
          </a:prstGeom>
        </p:spPr>
      </p:pic>
      <p:sp>
        <p:nvSpPr>
          <p:cNvPr id="6" name="Text 3"/>
          <p:cNvSpPr txBox="1"/>
          <p:nvPr/>
        </p:nvSpPr>
        <p:spPr>
          <a:xfrm>
            <a:off x="502920" y="3291840"/>
            <a:ext cx="1965960" cy="868680"/>
          </a:xfrm>
          <a:prstGeom prst="rect">
            <a:avLst/>
          </a:prstGeom>
          <a:noFill/>
          <a:ln/>
        </p:spPr>
        <p:txBody>
          <a:bodyPr wrap="square" lIns="0" tIns="0" rIns="0" bIns="0" rtlCol="0" anchor="t"/>
          <a:lstStyle/>
          <a:p>
            <a:pPr algn="ctr" indent="0" marL="0">
              <a:buNone/>
            </a:pPr>
            <a:r>
              <a:rPr lang="en-US" sz="1600" b="1" dirty="0">
                <a:solidFill>
                  <a:schemeClr val="tx1"/>
                </a:solidFill>
              </a:rPr>
              <a:t>Build</a:t>
            </a:r>
            <a:endParaRPr lang="en-US" sz="1400" dirty="0"/>
          </a:p>
          <a:p>
            <a:pPr algn="ctr" indent="0" marL="0">
              <a:buNone/>
            </a:pPr>
            <a:r>
              <a:rPr lang="en-US" sz="1300" dirty="0">
                <a:solidFill>
                  <a:schemeClr val="accent5"/>
                </a:solidFill>
              </a:rPr>
              <a:t>compila e empacota o JAR</a:t>
            </a:r>
            <a:endParaRPr lang="en-US" sz="1400" dirty="0"/>
          </a:p>
        </p:txBody>
      </p:sp>
      <p:sp>
        <p:nvSpPr>
          <p:cNvPr id="7" name="Shape 4"/>
          <p:cNvSpPr/>
          <p:nvPr/>
        </p:nvSpPr>
        <p:spPr>
          <a:xfrm>
            <a:off x="2258568" y="2578608"/>
            <a:ext cx="694944" cy="914"/>
          </a:xfrm>
          <a:prstGeom prst="line">
            <a:avLst/>
          </a:prstGeom>
          <a:noFill/>
          <a:ln w="22225">
            <a:solidFill>
              <a:srgbClr val="4A5852"/>
            </a:solidFill>
            <a:prstDash val="solid"/>
            <a:tailEnd type="triangle"/>
          </a:ln>
        </p:spPr>
      </p:sp>
      <p:sp>
        <p:nvSpPr>
          <p:cNvPr id="8" name="Testes"/>
          <p:cNvSpPr/>
          <p:nvPr/>
        </p:nvSpPr>
        <p:spPr>
          <a:xfrm>
            <a:off x="3200400" y="2011680"/>
            <a:ext cx="1143000" cy="1143000"/>
          </a:xfrm>
          <a:prstGeom prst="ellipse">
            <a:avLst/>
          </a:prstGeom>
          <a:solidFill>
            <a:schemeClr val="accent5"/>
          </a:solidFill>
          <a:ln w="12700">
            <a:solidFill>
              <a:schemeClr val="accent5"/>
            </a:solidFill>
            <a:prstDash val="solid"/>
          </a:ln>
        </p:spPr>
      </p:sp>
      <p:pic>
        <p:nvPicPr>
          <p:cNvPr id="9" name="Testes (ícone)" descr="preencoded.png">    </p:cNvPr>
          <p:cNvPicPr>
            <a:picLocks noChangeAspect="1"/>
          </p:cNvPicPr>
          <p:nvPr/>
        </p:nvPicPr>
        <p:blipFill>
          <a:blip r:embed="rId2"/>
          <a:stretch>
            <a:fillRect/>
          </a:stretch>
        </p:blipFill>
        <p:spPr>
          <a:xfrm>
            <a:off x="3486150" y="2297430"/>
            <a:ext cx="571500" cy="571500"/>
          </a:xfrm>
          <a:prstGeom prst="rect">
            <a:avLst/>
          </a:prstGeom>
        </p:spPr>
      </p:pic>
      <p:sp>
        <p:nvSpPr>
          <p:cNvPr id="10" name="Text 6"/>
          <p:cNvSpPr txBox="1"/>
          <p:nvPr/>
        </p:nvSpPr>
        <p:spPr>
          <a:xfrm>
            <a:off x="2697480" y="3291840"/>
            <a:ext cx="1965960" cy="868680"/>
          </a:xfrm>
          <a:prstGeom prst="rect">
            <a:avLst/>
          </a:prstGeom>
          <a:noFill/>
          <a:ln/>
        </p:spPr>
        <p:txBody>
          <a:bodyPr wrap="square" lIns="0" tIns="0" rIns="0" bIns="0" rtlCol="0" anchor="t"/>
          <a:lstStyle/>
          <a:p>
            <a:pPr algn="ctr" indent="0" marL="0">
              <a:buNone/>
            </a:pPr>
            <a:r>
              <a:rPr lang="en-US" sz="1600" b="1" dirty="0">
                <a:solidFill>
                  <a:schemeClr val="tx1"/>
                </a:solidFill>
              </a:rPr>
              <a:t>Testes</a:t>
            </a:r>
            <a:endParaRPr lang="en-US" sz="1400" dirty="0"/>
          </a:p>
          <a:p>
            <a:pPr algn="ctr" indent="0" marL="0">
              <a:buNone/>
            </a:pPr>
            <a:r>
              <a:rPr lang="en-US" sz="1300" dirty="0">
                <a:solidFill>
                  <a:schemeClr val="accent5"/>
                </a:solidFill>
              </a:rPr>
              <a:t>40 unitários + 4 de integração</a:t>
            </a:r>
            <a:endParaRPr lang="en-US" sz="1400" dirty="0"/>
          </a:p>
        </p:txBody>
      </p:sp>
      <p:sp>
        <p:nvSpPr>
          <p:cNvPr id="11" name="Shape 7"/>
          <p:cNvSpPr/>
          <p:nvPr/>
        </p:nvSpPr>
        <p:spPr>
          <a:xfrm>
            <a:off x="4453128" y="2578608"/>
            <a:ext cx="694944" cy="914"/>
          </a:xfrm>
          <a:prstGeom prst="line">
            <a:avLst/>
          </a:prstGeom>
          <a:noFill/>
          <a:ln w="22225">
            <a:solidFill>
              <a:srgbClr val="4A5852"/>
            </a:solidFill>
            <a:prstDash val="solid"/>
            <a:tailEnd type="triangle"/>
          </a:ln>
        </p:spPr>
      </p:sp>
      <p:sp>
        <p:nvSpPr>
          <p:cNvPr id="12" name="Docker"/>
          <p:cNvSpPr/>
          <p:nvPr/>
        </p:nvSpPr>
        <p:spPr>
          <a:xfrm>
            <a:off x="5394960" y="2011680"/>
            <a:ext cx="1143000" cy="1143000"/>
          </a:xfrm>
          <a:prstGeom prst="ellipse">
            <a:avLst/>
          </a:prstGeom>
          <a:solidFill>
            <a:schemeClr val="accent3"/>
          </a:solidFill>
          <a:ln w="12700">
            <a:solidFill>
              <a:schemeClr val="accent3"/>
            </a:solidFill>
            <a:prstDash val="solid"/>
          </a:ln>
        </p:spPr>
      </p:sp>
      <p:pic>
        <p:nvPicPr>
          <p:cNvPr id="13" name="Docker (ícone)" descr="preencoded.png">    </p:cNvPr>
          <p:cNvPicPr>
            <a:picLocks noChangeAspect="1"/>
          </p:cNvPicPr>
          <p:nvPr/>
        </p:nvPicPr>
        <p:blipFill>
          <a:blip r:embed="rId3"/>
          <a:stretch>
            <a:fillRect/>
          </a:stretch>
        </p:blipFill>
        <p:spPr>
          <a:xfrm>
            <a:off x="5680710" y="2297430"/>
            <a:ext cx="571500" cy="571500"/>
          </a:xfrm>
          <a:prstGeom prst="rect">
            <a:avLst/>
          </a:prstGeom>
        </p:spPr>
      </p:pic>
      <p:sp>
        <p:nvSpPr>
          <p:cNvPr id="14" name="Text 9"/>
          <p:cNvSpPr txBox="1"/>
          <p:nvPr/>
        </p:nvSpPr>
        <p:spPr>
          <a:xfrm>
            <a:off x="4892040" y="3291840"/>
            <a:ext cx="1965960" cy="868680"/>
          </a:xfrm>
          <a:prstGeom prst="rect">
            <a:avLst/>
          </a:prstGeom>
          <a:noFill/>
          <a:ln/>
        </p:spPr>
        <p:txBody>
          <a:bodyPr wrap="square" lIns="0" tIns="0" rIns="0" bIns="0" rtlCol="0" anchor="t"/>
          <a:lstStyle/>
          <a:p>
            <a:pPr algn="ctr" indent="0" marL="0">
              <a:buNone/>
            </a:pPr>
            <a:r>
              <a:rPr lang="en-US" sz="1600" b="1" dirty="0">
                <a:solidFill>
                  <a:schemeClr val="tx1"/>
                </a:solidFill>
              </a:rPr>
              <a:t>Docker</a:t>
            </a:r>
            <a:endParaRPr lang="en-US" sz="1400" dirty="0"/>
          </a:p>
          <a:p>
            <a:pPr algn="ctr" indent="0" marL="0">
              <a:buNone/>
            </a:pPr>
            <a:r>
              <a:rPr lang="en-US" sz="1300" dirty="0">
                <a:solidFill>
                  <a:schemeClr val="accent5"/>
                </a:solidFill>
              </a:rPr>
              <a:t>imagem, Compose e smoke tests</a:t>
            </a:r>
            <a:endParaRPr lang="en-US" sz="1400" dirty="0"/>
          </a:p>
        </p:txBody>
      </p:sp>
      <p:sp>
        <p:nvSpPr>
          <p:cNvPr id="15" name="Shape 10"/>
          <p:cNvSpPr/>
          <p:nvPr/>
        </p:nvSpPr>
        <p:spPr>
          <a:xfrm>
            <a:off x="6647688" y="2578608"/>
            <a:ext cx="694944" cy="914"/>
          </a:xfrm>
          <a:prstGeom prst="line">
            <a:avLst/>
          </a:prstGeom>
          <a:noFill/>
          <a:ln w="22225">
            <a:solidFill>
              <a:srgbClr val="4A5852"/>
            </a:solidFill>
            <a:prstDash val="solid"/>
            <a:tailEnd type="triangle"/>
          </a:ln>
        </p:spPr>
      </p:sp>
      <p:sp>
        <p:nvSpPr>
          <p:cNvPr id="16" name="Deploy staging"/>
          <p:cNvSpPr/>
          <p:nvPr/>
        </p:nvSpPr>
        <p:spPr>
          <a:xfrm>
            <a:off x="7589520" y="2011680"/>
            <a:ext cx="1143000" cy="1143000"/>
          </a:xfrm>
          <a:prstGeom prst="ellipse">
            <a:avLst/>
          </a:prstGeom>
          <a:solidFill>
            <a:schemeClr val="accent2"/>
          </a:solidFill>
          <a:ln w="12700">
            <a:solidFill>
              <a:schemeClr val="accent2"/>
            </a:solidFill>
            <a:prstDash val="solid"/>
          </a:ln>
        </p:spPr>
      </p:sp>
      <p:pic>
        <p:nvPicPr>
          <p:cNvPr id="17" name="Deploy staging (ícone)" descr="preencoded.png">    </p:cNvPr>
          <p:cNvPicPr>
            <a:picLocks noChangeAspect="1"/>
          </p:cNvPicPr>
          <p:nvPr/>
        </p:nvPicPr>
        <p:blipFill>
          <a:blip r:embed="rId4"/>
          <a:stretch>
            <a:fillRect/>
          </a:stretch>
        </p:blipFill>
        <p:spPr>
          <a:xfrm>
            <a:off x="7875270" y="2297430"/>
            <a:ext cx="571500" cy="571500"/>
          </a:xfrm>
          <a:prstGeom prst="rect">
            <a:avLst/>
          </a:prstGeom>
        </p:spPr>
      </p:pic>
      <p:sp>
        <p:nvSpPr>
          <p:cNvPr id="18" name="Text 12"/>
          <p:cNvSpPr txBox="1"/>
          <p:nvPr/>
        </p:nvSpPr>
        <p:spPr>
          <a:xfrm>
            <a:off x="7086600" y="3291840"/>
            <a:ext cx="1965960" cy="868680"/>
          </a:xfrm>
          <a:prstGeom prst="rect">
            <a:avLst/>
          </a:prstGeom>
          <a:noFill/>
          <a:ln/>
        </p:spPr>
        <p:txBody>
          <a:bodyPr wrap="square" lIns="0" tIns="0" rIns="0" bIns="0" rtlCol="0" anchor="t"/>
          <a:lstStyle/>
          <a:p>
            <a:pPr algn="ctr" indent="0" marL="0">
              <a:buNone/>
            </a:pPr>
            <a:r>
              <a:rPr lang="en-US" sz="1600" b="1" dirty="0">
                <a:solidFill>
                  <a:schemeClr val="tx1"/>
                </a:solidFill>
              </a:rPr>
              <a:t>Deploy staging</a:t>
            </a:r>
            <a:endParaRPr lang="en-US" sz="1400" dirty="0"/>
          </a:p>
          <a:p>
            <a:pPr algn="ctr" indent="0" marL="0">
              <a:buNone/>
            </a:pPr>
            <a:r>
              <a:rPr lang="en-US" sz="1300" dirty="0">
                <a:solidFill>
                  <a:schemeClr val="accent5"/>
                </a:solidFill>
              </a:rPr>
              <a:t>Render + smoke tests</a:t>
            </a:r>
            <a:endParaRPr lang="en-US" sz="1400" dirty="0"/>
          </a:p>
        </p:txBody>
      </p:sp>
      <p:sp>
        <p:nvSpPr>
          <p:cNvPr id="19" name="Deploy produção"/>
          <p:cNvSpPr/>
          <p:nvPr/>
        </p:nvSpPr>
        <p:spPr>
          <a:xfrm>
            <a:off x="10515600" y="2011680"/>
            <a:ext cx="1143000" cy="1143000"/>
          </a:xfrm>
          <a:prstGeom prst="ellipse">
            <a:avLst/>
          </a:prstGeom>
          <a:solidFill>
            <a:schemeClr val="accent1"/>
          </a:solidFill>
          <a:ln w="12700">
            <a:solidFill>
              <a:schemeClr val="accent1"/>
            </a:solidFill>
            <a:prstDash val="solid"/>
          </a:ln>
        </p:spPr>
      </p:sp>
      <p:pic>
        <p:nvPicPr>
          <p:cNvPr id="20" name="Deploy produção (ícone)" descr="preencoded.png">    </p:cNvPr>
          <p:cNvPicPr>
            <a:picLocks noChangeAspect="1"/>
          </p:cNvPicPr>
          <p:nvPr/>
        </p:nvPicPr>
        <p:blipFill>
          <a:blip r:embed="rId5"/>
          <a:stretch>
            <a:fillRect/>
          </a:stretch>
        </p:blipFill>
        <p:spPr>
          <a:xfrm>
            <a:off x="10801350" y="2297430"/>
            <a:ext cx="571500" cy="571500"/>
          </a:xfrm>
          <a:prstGeom prst="rect">
            <a:avLst/>
          </a:prstGeom>
        </p:spPr>
      </p:pic>
      <p:sp>
        <p:nvSpPr>
          <p:cNvPr id="21" name="Text 14"/>
          <p:cNvSpPr txBox="1"/>
          <p:nvPr/>
        </p:nvSpPr>
        <p:spPr>
          <a:xfrm>
            <a:off x="10012680" y="3291840"/>
            <a:ext cx="1965960" cy="868680"/>
          </a:xfrm>
          <a:prstGeom prst="rect">
            <a:avLst/>
          </a:prstGeom>
          <a:noFill/>
          <a:ln/>
        </p:spPr>
        <p:txBody>
          <a:bodyPr wrap="square" lIns="0" tIns="0" rIns="0" bIns="0" rtlCol="0" anchor="t"/>
          <a:lstStyle/>
          <a:p>
            <a:pPr algn="ctr" indent="0" marL="0">
              <a:buNone/>
            </a:pPr>
            <a:r>
              <a:rPr lang="en-US" sz="1600" b="1" dirty="0">
                <a:solidFill>
                  <a:schemeClr val="tx1"/>
                </a:solidFill>
              </a:rPr>
              <a:t>Deploy produção</a:t>
            </a:r>
            <a:endParaRPr lang="en-US" sz="1400" dirty="0"/>
          </a:p>
          <a:p>
            <a:pPr algn="ctr" indent="0" marL="0">
              <a:buNone/>
            </a:pPr>
            <a:r>
              <a:rPr lang="en-US" sz="1300" dirty="0">
                <a:solidFill>
                  <a:schemeClr val="accent5"/>
                </a:solidFill>
              </a:rPr>
              <a:t>mesmo commit de staging</a:t>
            </a:r>
            <a:endParaRPr lang="en-US" sz="1400" dirty="0"/>
          </a:p>
        </p:txBody>
      </p:sp>
      <p:sp>
        <p:nvSpPr>
          <p:cNvPr id="22" name="Aprovação manual"/>
          <p:cNvSpPr/>
          <p:nvPr/>
        </p:nvSpPr>
        <p:spPr>
          <a:xfrm>
            <a:off x="9098280" y="2167128"/>
            <a:ext cx="822960" cy="822960"/>
          </a:xfrm>
          <a:prstGeom prst="diamond">
            <a:avLst/>
          </a:prstGeom>
          <a:solidFill>
            <a:schemeClr val="accent4"/>
          </a:solidFill>
          <a:ln w="12700">
            <a:solidFill>
              <a:schemeClr val="accent4"/>
            </a:solidFill>
            <a:prstDash val="solid"/>
          </a:ln>
        </p:spPr>
      </p:sp>
      <p:pic>
        <p:nvPicPr>
          <p:cNvPr id="23" name="Image 5" descr="preencoded.png">    </p:cNvPr>
          <p:cNvPicPr>
            <a:picLocks noChangeAspect="1"/>
          </p:cNvPicPr>
          <p:nvPr/>
        </p:nvPicPr>
        <p:blipFill>
          <a:blip r:embed="rId6"/>
          <a:stretch>
            <a:fillRect/>
          </a:stretch>
        </p:blipFill>
        <p:spPr>
          <a:xfrm>
            <a:off x="9326880" y="2395728"/>
            <a:ext cx="365760" cy="365760"/>
          </a:xfrm>
          <a:prstGeom prst="rect">
            <a:avLst/>
          </a:prstGeom>
        </p:spPr>
      </p:pic>
      <p:sp>
        <p:nvSpPr>
          <p:cNvPr id="24" name="Text 16"/>
          <p:cNvSpPr txBox="1"/>
          <p:nvPr/>
        </p:nvSpPr>
        <p:spPr>
          <a:xfrm>
            <a:off x="8915400" y="3035808"/>
            <a:ext cx="1188720" cy="274320"/>
          </a:xfrm>
          <a:prstGeom prst="rect">
            <a:avLst/>
          </a:prstGeom>
          <a:noFill/>
          <a:ln/>
        </p:spPr>
        <p:txBody>
          <a:bodyPr wrap="square" lIns="0" tIns="0" rIns="0" bIns="0" rtlCol="0" anchor="t"/>
          <a:lstStyle/>
          <a:p>
            <a:pPr algn="ctr" indent="0" marL="0">
              <a:buNone/>
            </a:pPr>
            <a:r>
              <a:rPr lang="en-US" sz="1200" i="1" dirty="0">
                <a:solidFill>
                  <a:schemeClr val="accent5"/>
                </a:solidFill>
              </a:rPr>
              <a:t>aprovação</a:t>
            </a:r>
            <a:endParaRPr lang="en-US" sz="1200" dirty="0"/>
          </a:p>
        </p:txBody>
      </p:sp>
      <p:sp>
        <p:nvSpPr>
          <p:cNvPr id="25" name="Shape 17"/>
          <p:cNvSpPr/>
          <p:nvPr/>
        </p:nvSpPr>
        <p:spPr>
          <a:xfrm>
            <a:off x="8659368" y="2578608"/>
            <a:ext cx="438912" cy="914"/>
          </a:xfrm>
          <a:prstGeom prst="line">
            <a:avLst/>
          </a:prstGeom>
          <a:noFill/>
          <a:ln w="22225">
            <a:solidFill>
              <a:srgbClr val="4A5852"/>
            </a:solidFill>
            <a:prstDash val="solid"/>
            <a:tailEnd type="triangle"/>
          </a:ln>
        </p:spPr>
      </p:sp>
      <p:sp>
        <p:nvSpPr>
          <p:cNvPr id="26" name="Shape 18"/>
          <p:cNvSpPr/>
          <p:nvPr/>
        </p:nvSpPr>
        <p:spPr>
          <a:xfrm>
            <a:off x="9921240" y="2578608"/>
            <a:ext cx="594360" cy="914"/>
          </a:xfrm>
          <a:prstGeom prst="line">
            <a:avLst/>
          </a:prstGeom>
          <a:noFill/>
          <a:ln w="22225">
            <a:solidFill>
              <a:srgbClr val="4A5852"/>
            </a:solidFill>
            <a:prstDash val="solid"/>
            <a:tailEnd type="triangle"/>
          </a:ln>
        </p:spPr>
      </p:sp>
      <p:sp>
        <p:nvSpPr>
          <p:cNvPr id="27" name="Shape 19"/>
          <p:cNvSpPr/>
          <p:nvPr/>
        </p:nvSpPr>
        <p:spPr>
          <a:xfrm>
            <a:off x="548640" y="4526280"/>
            <a:ext cx="5394960" cy="1325880"/>
          </a:xfrm>
          <a:prstGeom prst="roundRect">
            <a:avLst>
              <a:gd name="adj" fmla="val 6897"/>
            </a:avLst>
          </a:prstGeom>
          <a:solidFill>
            <a:schemeClr val="bg2"/>
          </a:solidFill>
          <a:ln w="12700">
            <a:solidFill>
              <a:schemeClr val="bg2"/>
            </a:solidFill>
            <a:prstDash val="solid"/>
          </a:ln>
        </p:spPr>
      </p:sp>
      <p:sp>
        <p:nvSpPr>
          <p:cNvPr id="28" name="Shape 20"/>
          <p:cNvSpPr/>
          <p:nvPr/>
        </p:nvSpPr>
        <p:spPr>
          <a:xfrm>
            <a:off x="6245352" y="4526280"/>
            <a:ext cx="5394960" cy="1325880"/>
          </a:xfrm>
          <a:prstGeom prst="roundRect">
            <a:avLst>
              <a:gd name="adj" fmla="val 6897"/>
            </a:avLst>
          </a:prstGeom>
          <a:solidFill>
            <a:schemeClr val="bg2"/>
          </a:solidFill>
          <a:ln w="12700">
            <a:solidFill>
              <a:schemeClr val="bg2"/>
            </a:solidFill>
            <a:prstDash val="solid"/>
          </a:ln>
        </p:spPr>
      </p:sp>
      <p:sp>
        <p:nvSpPr>
          <p:cNvPr id="29" name="Text 21"/>
          <p:cNvSpPr txBox="1"/>
          <p:nvPr/>
        </p:nvSpPr>
        <p:spPr>
          <a:xfrm>
            <a:off x="777240" y="4709160"/>
            <a:ext cx="4937760" cy="1051560"/>
          </a:xfrm>
          <a:prstGeom prst="rect">
            <a:avLst/>
          </a:prstGeom>
          <a:noFill/>
          <a:ln/>
        </p:spPr>
        <p:txBody>
          <a:bodyPr wrap="square" lIns="0" tIns="0" rIns="0" bIns="0" rtlCol="0" anchor="t"/>
          <a:lstStyle/>
          <a:p>
            <a:pPr indent="0" marL="0">
              <a:buNone/>
            </a:pPr>
            <a:r>
              <a:rPr lang="en-US" sz="1600" b="1" dirty="0">
                <a:solidFill>
                  <a:schemeClr val="tx2"/>
                </a:solidFill>
              </a:rPr>
              <a:t>Pull request para a main</a:t>
            </a:r>
            <a:endParaRPr lang="en-US" sz="1400" dirty="0"/>
          </a:p>
          <a:p>
            <a:pPr indent="0" marL="0">
              <a:buNone/>
            </a:pPr>
            <a:r>
              <a:rPr lang="en-US" sz="1400" dirty="0">
                <a:solidFill>
                  <a:schemeClr val="tx1"/>
                </a:solidFill>
              </a:rPr>
              <a:t>Roda Build, Testes e Docker para validar a mudança antes do merge. Não faz deploy.</a:t>
            </a:r>
            <a:endParaRPr lang="en-US" sz="1400" dirty="0"/>
          </a:p>
        </p:txBody>
      </p:sp>
      <p:sp>
        <p:nvSpPr>
          <p:cNvPr id="30" name="Text 22"/>
          <p:cNvSpPr txBox="1"/>
          <p:nvPr/>
        </p:nvSpPr>
        <p:spPr>
          <a:xfrm>
            <a:off x="6473952" y="4709160"/>
            <a:ext cx="4937760" cy="1051560"/>
          </a:xfrm>
          <a:prstGeom prst="rect">
            <a:avLst/>
          </a:prstGeom>
          <a:noFill/>
          <a:ln/>
        </p:spPr>
        <p:txBody>
          <a:bodyPr wrap="square" lIns="0" tIns="0" rIns="0" bIns="0" rtlCol="0" anchor="t"/>
          <a:lstStyle/>
          <a:p>
            <a:pPr indent="0" marL="0">
              <a:buNone/>
            </a:pPr>
            <a:r>
              <a:rPr lang="en-US" sz="1600" b="1" dirty="0">
                <a:solidFill>
                  <a:schemeClr val="tx2"/>
                </a:solidFill>
              </a:rPr>
              <a:t>Push na main ou execução manual</a:t>
            </a:r>
            <a:endParaRPr lang="en-US" sz="1400" dirty="0"/>
          </a:p>
          <a:p>
            <a:pPr indent="0" marL="0">
              <a:buNone/>
            </a:pPr>
            <a:r>
              <a:rPr lang="en-US" sz="1400" dirty="0">
                <a:solidFill>
                  <a:schemeClr val="tx1"/>
                </a:solidFill>
              </a:rPr>
              <a:t>Fluxo completo: publica em staging, roda os smoke tests e, após a aprovação, publica o mesmo commit em produção.</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Etapas do pipeline e critério para avançar</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828800"/>
                <a:gridCol w="6702552"/>
                <a:gridCol w="2560320"/>
              </a:tblGrid>
              <a:tr h="0">
                <a:tc>
                  <a:txBody>
                    <a:bodyPr/>
                    <a:lstStyle/>
                    <a:p>
                      <a:pPr indent="0" marL="0">
                        <a:buNone/>
                      </a:pPr>
                      <a:r>
                        <a:rPr lang="en-US" sz="1500" b="1" dirty="0">
                          <a:solidFill>
                            <a:schemeClr val="bg1"/>
                          </a:solidFill>
                        </a:rPr>
                        <a:t>Etapa</a:t>
                      </a:r>
                      <a:endParaRPr lang="en-US" sz="15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O que acontece</a:t>
                      </a:r>
                      <a:endParaRPr lang="en-US" sz="15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Avança quando</a:t>
                      </a:r>
                      <a:endParaRPr lang="en-US" sz="15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tx2"/>
                    </a:solidFill>
                  </a:tcPr>
                </a:tc>
              </a:tr>
              <a:tr h="0">
                <a:tc>
                  <a:txBody>
                    <a:bodyPr/>
                    <a:lstStyle/>
                    <a:p>
                      <a:pPr indent="0" marL="0">
                        <a:buNone/>
                      </a:pPr>
                      <a:r>
                        <a:rPr lang="en-US" sz="1400" b="1" dirty="0">
                          <a:solidFill>
                            <a:schemeClr val="tx2"/>
                          </a:solidFill>
                        </a:rPr>
                        <a:t>Build</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Java 21 (Temurin) com cache do Maven; ./mvnw package; o JAR fica guardado como artefato da execução.</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 projeto compila e empacota</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r h="0">
                <a:tc>
                  <a:txBody>
                    <a:bodyPr/>
                    <a:lstStyle/>
                    <a:p>
                      <a:pPr indent="0" marL="0">
                        <a:buNone/>
                      </a:pPr>
                      <a:r>
                        <a:rPr lang="en-US" sz="1400" b="1" dirty="0">
                          <a:solidFill>
                            <a:schemeClr val="tx2"/>
                          </a:solidFill>
                        </a:rPr>
                        <a:t>Testes</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mvn verify: testes unitários (score, serviços com Mockito, API com MockMvc) e de integração com PostgreSQL 17 real (service container) e migrações Flyway. Publica relatório de testes e cobertura JaCoCo.</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Todos os testes passam</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2"/>
                          </a:solidFill>
                        </a:rPr>
                        <a:t>Docker</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Build da imagem multi-stage com cache; sobe app + PostgreSQL com Docker Compose e espera os health checks; roda smoke tests; publica no GHCR (sha-&lt;commit&gt; e latest).</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Containers saudáveis e smoke tests OK</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r h="0">
                <a:tc>
                  <a:txBody>
                    <a:bodyPr/>
                    <a:lstStyle/>
                    <a:p>
                      <a:pPr indent="0" marL="0">
                        <a:buNone/>
                      </a:pPr>
                      <a:r>
                        <a:rPr lang="en-US" sz="1400" b="1" dirty="0">
                          <a:solidFill>
                            <a:schemeClr val="tx2"/>
                          </a:solidFill>
                        </a:rPr>
                        <a:t>Deploy staging</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Chama o deploy hook do Render com ref=&lt;sha&gt;, espera /api/info responder com o novo commit e roda smoke tests de leitura e escrita.</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Staging no ar com o commit novo</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2"/>
                          </a:solidFill>
                        </a:rPr>
                        <a:t>Deploy produção</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Após aprovação manual no ambiente production do GitHub, repete o deploy com o mesmo commit e roda smoke tests somente leitura.</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Produção no ar com o mesmo commit</a:t>
                      </a:r>
                      <a:endParaRPr lang="en-US" sz="1400" dirty="0"/>
                    </a:p>
                  </a:txBody>
                  <a:tcPr marL="109728" marR="109728" marT="100584" marB="10058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Lógica de deploy: o mesmo commit, verificado em cada ambiente</a:t>
            </a:r>
            <a:endParaRPr lang="en-US" sz="3000" dirty="0"/>
          </a:p>
        </p:txBody>
      </p:sp>
      <p:sp>
        <p:nvSpPr>
          <p:cNvPr id="3" name="Passo 1"/>
          <p:cNvSpPr/>
          <p:nvPr/>
        </p:nvSpPr>
        <p:spPr>
          <a:xfrm>
            <a:off x="548640" y="137160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548640" y="1444752"/>
            <a:ext cx="566928" cy="411480"/>
          </a:xfrm>
          <a:prstGeom prst="rect">
            <a:avLst/>
          </a:prstGeom>
          <a:noFill/>
          <a:ln/>
        </p:spPr>
        <p:txBody>
          <a:bodyPr wrap="square" lIns="0" tIns="0" rIns="0" bIns="0" rtlCol="0" anchor="t"/>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25880"/>
            <a:ext cx="5806440" cy="896112"/>
          </a:xfrm>
          <a:prstGeom prst="rect">
            <a:avLst/>
          </a:prstGeom>
          <a:noFill/>
          <a:ln/>
        </p:spPr>
        <p:txBody>
          <a:bodyPr wrap="square" lIns="0" tIns="0" rIns="0" bIns="0" rtlCol="0" anchor="t"/>
          <a:lstStyle/>
          <a:p>
            <a:pPr indent="0" marL="0">
              <a:buNone/>
            </a:pPr>
            <a:r>
              <a:rPr lang="en-US" sz="1600" b="1" dirty="0">
                <a:solidFill>
                  <a:schemeClr val="tx1"/>
                </a:solidFill>
              </a:rPr>
              <a:t>Deploy hook com o commit</a:t>
            </a:r>
            <a:endParaRPr lang="en-US" sz="1400" dirty="0"/>
          </a:p>
          <a:p>
            <a:pPr indent="0" marL="0">
              <a:buNone/>
            </a:pPr>
            <a:r>
              <a:rPr lang="en-US" sz="1350" dirty="0">
                <a:solidFill>
                  <a:schemeClr val="accent5"/>
                </a:solidFill>
              </a:rPr>
              <a:t>O script render-deploy.sh chama o deploy hook do Render com ref=&lt;sha&gt;: o Render constrói exatamente aquele commit.</a:t>
            </a:r>
            <a:endParaRPr lang="en-US" sz="1400" dirty="0"/>
          </a:p>
        </p:txBody>
      </p:sp>
      <p:sp>
        <p:nvSpPr>
          <p:cNvPr id="6" name="Passo 2"/>
          <p:cNvSpPr/>
          <p:nvPr/>
        </p:nvSpPr>
        <p:spPr>
          <a:xfrm>
            <a:off x="548640" y="2350008"/>
            <a:ext cx="566928" cy="566928"/>
          </a:xfrm>
          <a:prstGeom prst="ellipse">
            <a:avLst/>
          </a:prstGeom>
          <a:solidFill>
            <a:schemeClr val="accent1"/>
          </a:solidFill>
          <a:ln w="12700">
            <a:solidFill>
              <a:schemeClr val="accent1"/>
            </a:solidFill>
            <a:prstDash val="solid"/>
          </a:ln>
        </p:spPr>
      </p:sp>
      <p:sp>
        <p:nvSpPr>
          <p:cNvPr id="7" name="Text 5"/>
          <p:cNvSpPr txBox="1"/>
          <p:nvPr/>
        </p:nvSpPr>
        <p:spPr>
          <a:xfrm>
            <a:off x="548640" y="2423160"/>
            <a:ext cx="566928" cy="411480"/>
          </a:xfrm>
          <a:prstGeom prst="rect">
            <a:avLst/>
          </a:prstGeom>
          <a:noFill/>
          <a:ln/>
        </p:spPr>
        <p:txBody>
          <a:bodyPr wrap="square" lIns="0" tIns="0" rIns="0" bIns="0" rtlCol="0" anchor="t"/>
          <a:lstStyle/>
          <a:p>
            <a:pPr algn="ctr" indent="0" marL="0">
              <a:buNone/>
            </a:pPr>
            <a:r>
              <a:rPr lang="en-US" sz="1800" b="1" dirty="0">
                <a:solidFill>
                  <a:schemeClr val="bg1"/>
                </a:solidFill>
              </a:rPr>
              <a:t>2</a:t>
            </a:r>
            <a:endParaRPr lang="en-US" sz="1800" dirty="0"/>
          </a:p>
        </p:txBody>
      </p:sp>
      <p:sp>
        <p:nvSpPr>
          <p:cNvPr id="8" name="Text 6"/>
          <p:cNvSpPr txBox="1"/>
          <p:nvPr/>
        </p:nvSpPr>
        <p:spPr>
          <a:xfrm>
            <a:off x="1325880" y="2304288"/>
            <a:ext cx="5806440" cy="896112"/>
          </a:xfrm>
          <a:prstGeom prst="rect">
            <a:avLst/>
          </a:prstGeom>
          <a:noFill/>
          <a:ln/>
        </p:spPr>
        <p:txBody>
          <a:bodyPr wrap="square" lIns="0" tIns="0" rIns="0" bIns="0" rtlCol="0" anchor="t"/>
          <a:lstStyle/>
          <a:p>
            <a:pPr indent="0" marL="0">
              <a:buNone/>
            </a:pPr>
            <a:r>
              <a:rPr lang="en-US" sz="1600" b="1" dirty="0">
                <a:solidFill>
                  <a:schemeClr val="tx1"/>
                </a:solidFill>
              </a:rPr>
              <a:t>Troca sem indisponibilidade</a:t>
            </a:r>
            <a:endParaRPr lang="en-US" sz="1400" dirty="0"/>
          </a:p>
          <a:p>
            <a:pPr indent="0" marL="0">
              <a:buNone/>
            </a:pPr>
            <a:r>
              <a:rPr lang="en-US" sz="1350" dirty="0">
                <a:solidFill>
                  <a:schemeClr val="accent5"/>
                </a:solidFill>
              </a:rPr>
              <a:t>O Render só envia tráfego para a nova versão quando /actuator/health/readiness (aplicação + banco) responde OK.</a:t>
            </a:r>
            <a:endParaRPr lang="en-US" sz="1400" dirty="0"/>
          </a:p>
        </p:txBody>
      </p:sp>
      <p:sp>
        <p:nvSpPr>
          <p:cNvPr id="9" name="Passo 3"/>
          <p:cNvSpPr/>
          <p:nvPr/>
        </p:nvSpPr>
        <p:spPr>
          <a:xfrm>
            <a:off x="548640" y="3328416"/>
            <a:ext cx="566928" cy="566928"/>
          </a:xfrm>
          <a:prstGeom prst="ellipse">
            <a:avLst/>
          </a:prstGeom>
          <a:solidFill>
            <a:schemeClr val="accent1"/>
          </a:solidFill>
          <a:ln w="12700">
            <a:solidFill>
              <a:schemeClr val="accent1"/>
            </a:solidFill>
            <a:prstDash val="solid"/>
          </a:ln>
        </p:spPr>
      </p:sp>
      <p:sp>
        <p:nvSpPr>
          <p:cNvPr id="10" name="Text 8"/>
          <p:cNvSpPr txBox="1"/>
          <p:nvPr/>
        </p:nvSpPr>
        <p:spPr>
          <a:xfrm>
            <a:off x="548640" y="3401568"/>
            <a:ext cx="566928" cy="411480"/>
          </a:xfrm>
          <a:prstGeom prst="rect">
            <a:avLst/>
          </a:prstGeom>
          <a:noFill/>
          <a:ln/>
        </p:spPr>
        <p:txBody>
          <a:bodyPr wrap="square" lIns="0" tIns="0" rIns="0" bIns="0" rtlCol="0" anchor="t"/>
          <a:lstStyle/>
          <a:p>
            <a:pPr algn="ctr" indent="0" marL="0">
              <a:buNone/>
            </a:pPr>
            <a:r>
              <a:rPr lang="en-US" sz="1800" b="1" dirty="0">
                <a:solidFill>
                  <a:schemeClr val="bg1"/>
                </a:solidFill>
              </a:rPr>
              <a:t>3</a:t>
            </a:r>
            <a:endParaRPr lang="en-US" sz="1800" dirty="0"/>
          </a:p>
        </p:txBody>
      </p:sp>
      <p:sp>
        <p:nvSpPr>
          <p:cNvPr id="11" name="Text 9"/>
          <p:cNvSpPr txBox="1"/>
          <p:nvPr/>
        </p:nvSpPr>
        <p:spPr>
          <a:xfrm>
            <a:off x="1325880" y="3282696"/>
            <a:ext cx="5806440" cy="896112"/>
          </a:xfrm>
          <a:prstGeom prst="rect">
            <a:avLst/>
          </a:prstGeom>
          <a:noFill/>
          <a:ln/>
        </p:spPr>
        <p:txBody>
          <a:bodyPr wrap="square" lIns="0" tIns="0" rIns="0" bIns="0" rtlCol="0" anchor="t"/>
          <a:lstStyle/>
          <a:p>
            <a:pPr indent="0" marL="0">
              <a:buNone/>
            </a:pPr>
            <a:r>
              <a:rPr lang="en-US" sz="1600" b="1" dirty="0">
                <a:solidFill>
                  <a:schemeClr val="tx1"/>
                </a:solidFill>
              </a:rPr>
              <a:t>Confirmação da versão</a:t>
            </a:r>
            <a:endParaRPr lang="en-US" sz="1400" dirty="0"/>
          </a:p>
          <a:p>
            <a:pPr indent="0" marL="0">
              <a:buNone/>
            </a:pPr>
            <a:r>
              <a:rPr lang="en-US" sz="1350" dirty="0">
                <a:solidFill>
                  <a:schemeClr val="accent5"/>
                </a:solidFill>
              </a:rPr>
              <a:t>O pipeline consulta /api/info até o commit novo aparecer, com tempo limite de 20 minutos e erro claro se falhar.</a:t>
            </a:r>
            <a:endParaRPr lang="en-US" sz="1400" dirty="0"/>
          </a:p>
        </p:txBody>
      </p:sp>
      <p:sp>
        <p:nvSpPr>
          <p:cNvPr id="12" name="Passo 4"/>
          <p:cNvSpPr/>
          <p:nvPr/>
        </p:nvSpPr>
        <p:spPr>
          <a:xfrm>
            <a:off x="548640" y="4306824"/>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548640" y="4379976"/>
            <a:ext cx="566928" cy="411480"/>
          </a:xfrm>
          <a:prstGeom prst="rect">
            <a:avLst/>
          </a:prstGeom>
          <a:noFill/>
          <a:ln/>
        </p:spPr>
        <p:txBody>
          <a:bodyPr wrap="square" lIns="0" tIns="0" rIns="0" bIns="0" rtlCol="0" anchor="t"/>
          <a:lstStyle/>
          <a:p>
            <a:pPr algn="ctr" indent="0" marL="0">
              <a:buNone/>
            </a:pPr>
            <a:r>
              <a:rPr lang="en-US" sz="1800" b="1" dirty="0">
                <a:solidFill>
                  <a:schemeClr val="bg1"/>
                </a:solidFill>
              </a:rPr>
              <a:t>4</a:t>
            </a:r>
            <a:endParaRPr lang="en-US" sz="1800" dirty="0"/>
          </a:p>
        </p:txBody>
      </p:sp>
      <p:sp>
        <p:nvSpPr>
          <p:cNvPr id="14" name="Text 12"/>
          <p:cNvSpPr txBox="1"/>
          <p:nvPr/>
        </p:nvSpPr>
        <p:spPr>
          <a:xfrm>
            <a:off x="1325880" y="4261104"/>
            <a:ext cx="5806440" cy="896112"/>
          </a:xfrm>
          <a:prstGeom prst="rect">
            <a:avLst/>
          </a:prstGeom>
          <a:noFill/>
          <a:ln/>
        </p:spPr>
        <p:txBody>
          <a:bodyPr wrap="square" lIns="0" tIns="0" rIns="0" bIns="0" rtlCol="0" anchor="t"/>
          <a:lstStyle/>
          <a:p>
            <a:pPr indent="0" marL="0">
              <a:buNone/>
            </a:pPr>
            <a:r>
              <a:rPr lang="en-US" sz="1600" b="1" dirty="0">
                <a:solidFill>
                  <a:schemeClr val="tx1"/>
                </a:solidFill>
              </a:rPr>
              <a:t>Smoke tests</a:t>
            </a:r>
            <a:endParaRPr lang="en-US" sz="1400" dirty="0"/>
          </a:p>
          <a:p>
            <a:pPr indent="0" marL="0">
              <a:buNone/>
            </a:pPr>
            <a:r>
              <a:rPr lang="en-US" sz="1350" dirty="0">
                <a:solidFill>
                  <a:schemeClr val="accent5"/>
                </a:solidFill>
              </a:rPr>
              <a:t>Staging: leitura e escrita (cria, pontua e remove uma cidade). Produção: somente leitura.</a:t>
            </a:r>
            <a:endParaRPr lang="en-US" sz="1400" dirty="0"/>
          </a:p>
        </p:txBody>
      </p:sp>
      <p:sp>
        <p:nvSpPr>
          <p:cNvPr id="15" name="Passo 5"/>
          <p:cNvSpPr/>
          <p:nvPr/>
        </p:nvSpPr>
        <p:spPr>
          <a:xfrm>
            <a:off x="548640" y="5285232"/>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548640" y="5358384"/>
            <a:ext cx="566928" cy="411480"/>
          </a:xfrm>
          <a:prstGeom prst="rect">
            <a:avLst/>
          </a:prstGeom>
          <a:noFill/>
          <a:ln/>
        </p:spPr>
        <p:txBody>
          <a:bodyPr wrap="square" lIns="0" tIns="0" rIns="0" bIns="0" rtlCol="0" anchor="t"/>
          <a:lstStyle/>
          <a:p>
            <a:pPr algn="ctr" indent="0" marL="0">
              <a:buNone/>
            </a:pPr>
            <a:r>
              <a:rPr lang="en-US" sz="1800" b="1" dirty="0">
                <a:solidFill>
                  <a:schemeClr val="bg1"/>
                </a:solidFill>
              </a:rPr>
              <a:t>5</a:t>
            </a:r>
            <a:endParaRPr lang="en-US" sz="1800" dirty="0"/>
          </a:p>
        </p:txBody>
      </p:sp>
      <p:sp>
        <p:nvSpPr>
          <p:cNvPr id="17" name="Text 15"/>
          <p:cNvSpPr txBox="1"/>
          <p:nvPr/>
        </p:nvSpPr>
        <p:spPr>
          <a:xfrm>
            <a:off x="1325880" y="5239512"/>
            <a:ext cx="5806440" cy="896112"/>
          </a:xfrm>
          <a:prstGeom prst="rect">
            <a:avLst/>
          </a:prstGeom>
          <a:noFill/>
          <a:ln/>
        </p:spPr>
        <p:txBody>
          <a:bodyPr wrap="square" lIns="0" tIns="0" rIns="0" bIns="0" rtlCol="0" anchor="t"/>
          <a:lstStyle/>
          <a:p>
            <a:pPr indent="0" marL="0">
              <a:buNone/>
            </a:pPr>
            <a:r>
              <a:rPr lang="en-US" sz="1600" b="1" dirty="0">
                <a:solidFill>
                  <a:schemeClr val="tx1"/>
                </a:solidFill>
              </a:rPr>
              <a:t>Aprovação para produção</a:t>
            </a:r>
            <a:endParaRPr lang="en-US" sz="1400" dirty="0"/>
          </a:p>
          <a:p>
            <a:pPr indent="0" marL="0">
              <a:buNone/>
            </a:pPr>
            <a:r>
              <a:rPr lang="en-US" sz="1350" dirty="0">
                <a:solidFill>
                  <a:schemeClr val="accent5"/>
                </a:solidFill>
              </a:rPr>
              <a:t>O ambiente production do GitHub exige um revisor; só então o mesmo commit vai para produção.</a:t>
            </a:r>
            <a:endParaRPr lang="en-US" sz="1400" dirty="0"/>
          </a:p>
        </p:txBody>
      </p:sp>
      <p:sp>
        <p:nvSpPr>
          <p:cNvPr id="18" name="Shape 16"/>
          <p:cNvSpPr/>
          <p:nvPr/>
        </p:nvSpPr>
        <p:spPr>
          <a:xfrm>
            <a:off x="7543800" y="1325880"/>
            <a:ext cx="4096512" cy="4846320"/>
          </a:xfrm>
          <a:prstGeom prst="roundRect">
            <a:avLst>
              <a:gd name="adj" fmla="val 2232"/>
            </a:avLst>
          </a:prstGeom>
          <a:solidFill>
            <a:schemeClr val="tx2"/>
          </a:solidFill>
          <a:ln w="12700">
            <a:solidFill>
              <a:schemeClr val="tx2"/>
            </a:solidFill>
            <a:prstDash val="solid"/>
          </a:ln>
        </p:spPr>
      </p:sp>
      <p:sp>
        <p:nvSpPr>
          <p:cNvPr id="19" name="Segredos"/>
          <p:cNvSpPr/>
          <p:nvPr/>
        </p:nvSpPr>
        <p:spPr>
          <a:xfrm>
            <a:off x="7818120" y="1600200"/>
            <a:ext cx="685800" cy="685800"/>
          </a:xfrm>
          <a:prstGeom prst="ellipse">
            <a:avLst/>
          </a:prstGeom>
          <a:solidFill>
            <a:schemeClr val="accent4"/>
          </a:solidFill>
          <a:ln w="12700">
            <a:solidFill>
              <a:schemeClr val="accent4"/>
            </a:solidFill>
            <a:prstDash val="solid"/>
          </a:ln>
        </p:spPr>
      </p:sp>
      <p:pic>
        <p:nvPicPr>
          <p:cNvPr id="20" name="Segredos (ícone)" descr="preencoded.png">    </p:cNvPr>
          <p:cNvPicPr>
            <a:picLocks noChangeAspect="1"/>
          </p:cNvPicPr>
          <p:nvPr/>
        </p:nvPicPr>
        <p:blipFill>
          <a:blip r:embed="rId1"/>
          <a:stretch>
            <a:fillRect/>
          </a:stretch>
        </p:blipFill>
        <p:spPr>
          <a:xfrm>
            <a:off x="7989570" y="1771650"/>
            <a:ext cx="342900" cy="342900"/>
          </a:xfrm>
          <a:prstGeom prst="rect">
            <a:avLst/>
          </a:prstGeom>
        </p:spPr>
      </p:pic>
      <p:sp>
        <p:nvSpPr>
          <p:cNvPr id="21" name="Text 18"/>
          <p:cNvSpPr txBox="1"/>
          <p:nvPr/>
        </p:nvSpPr>
        <p:spPr>
          <a:xfrm>
            <a:off x="8641080" y="1737360"/>
            <a:ext cx="2834640" cy="457200"/>
          </a:xfrm>
          <a:prstGeom prst="rect">
            <a:avLst/>
          </a:prstGeom>
          <a:noFill/>
          <a:ln/>
        </p:spPr>
        <p:txBody>
          <a:bodyPr wrap="square" lIns="0" tIns="0" rIns="0" bIns="0" rtlCol="0" anchor="t"/>
          <a:lstStyle/>
          <a:p>
            <a:pPr indent="0" marL="0">
              <a:buNone/>
            </a:pPr>
            <a:r>
              <a:rPr lang="en-US" sz="1700" b="1" dirty="0">
                <a:solidFill>
                  <a:schemeClr val="bg1"/>
                </a:solidFill>
              </a:rPr>
              <a:t>Segredos e configuração</a:t>
            </a:r>
            <a:endParaRPr lang="en-US" sz="1700" dirty="0"/>
          </a:p>
        </p:txBody>
      </p:sp>
      <p:sp>
        <p:nvSpPr>
          <p:cNvPr id="22" name="Text 19"/>
          <p:cNvSpPr txBox="1"/>
          <p:nvPr/>
        </p:nvSpPr>
        <p:spPr>
          <a:xfrm>
            <a:off x="7818120" y="2514600"/>
            <a:ext cx="3611880" cy="3520440"/>
          </a:xfrm>
          <a:prstGeom prst="rect">
            <a:avLst/>
          </a:prstGeom>
          <a:noFill/>
          <a:ln/>
        </p:spPr>
        <p:txBody>
          <a:bodyPr wrap="square" lIns="0" tIns="0" rIns="0" bIns="0" rtlCol="0" anchor="t"/>
          <a:lstStyle/>
          <a:p>
            <a:pPr indent="0" marL="0">
              <a:buNone/>
            </a:pPr>
            <a:r>
              <a:rPr lang="en-US" sz="1350" b="1" dirty="0">
                <a:solidFill>
                  <a:schemeClr val="accent4"/>
                </a:solidFill>
              </a:rPr>
              <a:t>GitHub Secrets</a:t>
            </a:r>
            <a:endParaRPr lang="en-US" sz="1350" dirty="0"/>
          </a:p>
          <a:p>
            <a:pPr indent="0" marL="0">
              <a:buNone/>
            </a:pPr>
            <a:r>
              <a:rPr lang="en-US" sz="1350" dirty="0">
                <a:solidFill>
                  <a:schemeClr val="bg1"/>
                </a:solidFill>
              </a:rPr>
              <a:t>RENDER_DEPLOY_HOOK_STAGING e RENDER_DEPLOY_HOOK_PRODUCTION</a:t>
            </a:r>
            <a:endParaRPr lang="en-US" sz="1350" dirty="0"/>
          </a:p>
          <a:p>
            <a:pPr indent="0" marL="0">
              <a:buNone/>
            </a:pPr>
            <a:r>
              <a:rPr lang="en-US" sz="600" dirty="0">
                <a:solidFill>
                  <a:schemeClr val="bg1"/>
                </a:solidFill>
              </a:rPr>
              <a:t> </a:t>
            </a:r>
            <a:endParaRPr lang="en-US" sz="1350" dirty="0"/>
          </a:p>
          <a:p>
            <a:pPr indent="0" marL="0">
              <a:buNone/>
            </a:pPr>
            <a:r>
              <a:rPr lang="en-US" sz="1350" b="1" dirty="0">
                <a:solidFill>
                  <a:schemeClr val="accent4"/>
                </a:solidFill>
              </a:rPr>
              <a:t>GitHub Variables</a:t>
            </a:r>
            <a:endParaRPr lang="en-US" sz="1350" dirty="0"/>
          </a:p>
          <a:p>
            <a:pPr indent="0" marL="0">
              <a:buNone/>
            </a:pPr>
            <a:r>
              <a:rPr lang="en-US" sz="1350" dirty="0">
                <a:solidFill>
                  <a:schemeClr val="bg1"/>
                </a:solidFill>
              </a:rPr>
              <a:t>STAGING_URL e PRODUCTION_URL</a:t>
            </a:r>
            <a:endParaRPr lang="en-US" sz="1350" dirty="0"/>
          </a:p>
          <a:p>
            <a:pPr indent="0" marL="0">
              <a:buNone/>
            </a:pPr>
            <a:r>
              <a:rPr lang="en-US" sz="600" dirty="0">
                <a:solidFill>
                  <a:schemeClr val="bg1"/>
                </a:solidFill>
              </a:rPr>
              <a:t> </a:t>
            </a:r>
            <a:endParaRPr lang="en-US" sz="1350" dirty="0"/>
          </a:p>
          <a:p>
            <a:pPr indent="0" marL="0">
              <a:buNone/>
            </a:pPr>
            <a:r>
              <a:rPr lang="en-US" sz="1350" b="1" dirty="0">
                <a:solidFill>
                  <a:schemeClr val="accent4"/>
                </a:solidFill>
              </a:rPr>
              <a:t>GitHub Environments</a:t>
            </a:r>
            <a:endParaRPr lang="en-US" sz="1350" dirty="0"/>
          </a:p>
          <a:p>
            <a:pPr indent="0" marL="0">
              <a:buNone/>
            </a:pPr>
            <a:r>
              <a:rPr lang="en-US" sz="1350" dirty="0">
                <a:solidFill>
                  <a:schemeClr val="bg1"/>
                </a:solidFill>
              </a:rPr>
              <a:t>staging e production, com histórico de deploys e revisores obrigatórios</a:t>
            </a:r>
            <a:endParaRPr lang="en-US" sz="1350" dirty="0"/>
          </a:p>
          <a:p>
            <a:pPr indent="0" marL="0">
              <a:buNone/>
            </a:pPr>
            <a:r>
              <a:rPr lang="en-US" sz="600" dirty="0">
                <a:solidFill>
                  <a:schemeClr val="bg1"/>
                </a:solidFill>
              </a:rPr>
              <a:t> </a:t>
            </a:r>
            <a:endParaRPr lang="en-US" sz="1350" dirty="0"/>
          </a:p>
          <a:p>
            <a:pPr indent="0" marL="0">
              <a:buNone/>
            </a:pPr>
            <a:r>
              <a:rPr lang="en-US" sz="1350" b="1" dirty="0">
                <a:solidFill>
                  <a:schemeClr val="accent4"/>
                </a:solidFill>
              </a:rPr>
              <a:t>Render</a:t>
            </a:r>
            <a:endParaRPr lang="en-US" sz="1350" dirty="0"/>
          </a:p>
          <a:p>
            <a:pPr indent="0" marL="0">
              <a:buNone/>
            </a:pPr>
            <a:r>
              <a:rPr lang="en-US" sz="1350" dirty="0">
                <a:solidFill>
                  <a:schemeClr val="bg1"/>
                </a:solidFill>
              </a:rPr>
              <a:t>senha do banco injetada pela plataforma; nada sensível no código</a:t>
            </a:r>
            <a:endParaRPr lang="en-US" sz="135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Docker: imagem multi-stage, enxuta e segura</a:t>
            </a:r>
            <a:endParaRPr lang="en-US" sz="3000" dirty="0"/>
          </a:p>
        </p:txBody>
      </p:sp>
      <p:sp>
        <p:nvSpPr>
          <p:cNvPr id="3" name="Shape 1"/>
          <p:cNvSpPr/>
          <p:nvPr/>
        </p:nvSpPr>
        <p:spPr>
          <a:xfrm>
            <a:off x="548640" y="1325880"/>
            <a:ext cx="4754880" cy="3611880"/>
          </a:xfrm>
          <a:prstGeom prst="roundRect">
            <a:avLst>
              <a:gd name="adj" fmla="val 2532"/>
            </a:avLst>
          </a:prstGeom>
          <a:solidFill>
            <a:schemeClr val="bg2"/>
          </a:solidFill>
          <a:ln w="12700">
            <a:solidFill>
              <a:schemeClr val="bg2"/>
            </a:solidFill>
            <a:prstDash val="solid"/>
          </a:ln>
        </p:spPr>
      </p:sp>
      <p:sp>
        <p:nvSpPr>
          <p:cNvPr id="4" name="Etapa build"/>
          <p:cNvSpPr/>
          <p:nvPr/>
        </p:nvSpPr>
        <p:spPr>
          <a:xfrm>
            <a:off x="777240" y="1554480"/>
            <a:ext cx="640080" cy="640080"/>
          </a:xfrm>
          <a:prstGeom prst="ellipse">
            <a:avLst/>
          </a:prstGeom>
          <a:solidFill>
            <a:schemeClr val="accent5"/>
          </a:solidFill>
          <a:ln w="12700">
            <a:solidFill>
              <a:schemeClr val="accent5"/>
            </a:solidFill>
            <a:prstDash val="solid"/>
          </a:ln>
        </p:spPr>
      </p:sp>
      <p:pic>
        <p:nvPicPr>
          <p:cNvPr id="5" name="Etapa build (ícone)" descr="preencoded.png">    </p:cNvPr>
          <p:cNvPicPr>
            <a:picLocks noChangeAspect="1"/>
          </p:cNvPicPr>
          <p:nvPr/>
        </p:nvPicPr>
        <p:blipFill>
          <a:blip r:embed="rId1"/>
          <a:stretch>
            <a:fillRect/>
          </a:stretch>
        </p:blipFill>
        <p:spPr>
          <a:xfrm>
            <a:off x="937260" y="1714500"/>
            <a:ext cx="320040" cy="320040"/>
          </a:xfrm>
          <a:prstGeom prst="rect">
            <a:avLst/>
          </a:prstGeom>
        </p:spPr>
      </p:pic>
      <p:sp>
        <p:nvSpPr>
          <p:cNvPr id="6" name="Text 3"/>
          <p:cNvSpPr txBox="1"/>
          <p:nvPr/>
        </p:nvSpPr>
        <p:spPr>
          <a:xfrm>
            <a:off x="1600200" y="1600200"/>
            <a:ext cx="3566160" cy="640080"/>
          </a:xfrm>
          <a:prstGeom prst="rect">
            <a:avLst/>
          </a:prstGeom>
          <a:noFill/>
          <a:ln/>
        </p:spPr>
        <p:txBody>
          <a:bodyPr wrap="square" lIns="0" tIns="0" rIns="0" bIns="0" rtlCol="0" anchor="t"/>
          <a:lstStyle/>
          <a:p>
            <a:pPr indent="0" marL="0">
              <a:buNone/>
            </a:pPr>
            <a:r>
              <a:rPr lang="en-US" sz="1700" b="1" dirty="0">
                <a:solidFill>
                  <a:schemeClr val="tx1"/>
                </a:solidFill>
              </a:rPr>
              <a:t>Etapa 1: build</a:t>
            </a:r>
            <a:endParaRPr lang="en-US" sz="1400" dirty="0"/>
          </a:p>
          <a:p>
            <a:pPr indent="0" marL="0">
              <a:buNone/>
            </a:pPr>
            <a:r>
              <a:rPr lang="en-US" sz="1200" dirty="0">
                <a:solidFill>
                  <a:schemeClr val="accent5"/>
                </a:solidFill>
                <a:latin typeface="Courier New" pitchFamily="34" charset="0"/>
                <a:ea typeface="Courier New" pitchFamily="34" charset="-122"/>
                <a:cs typeface="Courier New" pitchFamily="34" charset="-120"/>
              </a:rPr>
              <a:t>eclipse-temurin:21-jdk-alpine</a:t>
            </a:r>
            <a:endParaRPr lang="en-US" sz="1400" dirty="0"/>
          </a:p>
        </p:txBody>
      </p:sp>
      <p:sp>
        <p:nvSpPr>
          <p:cNvPr id="7" name="Text 4"/>
          <p:cNvSpPr txBox="1"/>
          <p:nvPr/>
        </p:nvSpPr>
        <p:spPr>
          <a:xfrm>
            <a:off x="777240" y="2423160"/>
            <a:ext cx="4343400" cy="24231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Copia pom.xml e Maven Wrapper e baixa as dependências (camada em cache)</a:t>
            </a:r>
            <a:endParaRPr lang="en-US" sz="1500" dirty="0"/>
          </a:p>
          <a:p>
            <a:pPr marL="342900" indent="-342900">
              <a:spcAft>
                <a:spcPts val="900"/>
              </a:spcAft>
              <a:buSzPct val="100000"/>
              <a:buChar char="•"/>
            </a:pPr>
            <a:r>
              <a:rPr lang="en-US" sz="1500" dirty="0">
                <a:solidFill>
                  <a:schemeClr val="tx1"/>
                </a:solidFill>
              </a:rPr>
              <a:t>Copia o código e gera o JAR com ./mvnw package</a:t>
            </a:r>
            <a:endParaRPr lang="en-US" sz="1500" dirty="0"/>
          </a:p>
          <a:p>
            <a:pPr marL="342900" indent="-342900">
              <a:spcAft>
                <a:spcPts val="900"/>
              </a:spcAft>
              <a:buSzPct val="100000"/>
              <a:buChar char="•"/>
            </a:pPr>
            <a:r>
              <a:rPr lang="en-US" sz="1500" dirty="0">
                <a:solidFill>
                  <a:schemeClr val="tx1"/>
                </a:solidFill>
              </a:rPr>
              <a:t>Separa o JAR em camadas com jarmode=tools extract --layers</a:t>
            </a:r>
            <a:endParaRPr lang="en-US" sz="1500" dirty="0"/>
          </a:p>
          <a:p>
            <a:pPr marL="342900" indent="-342900">
              <a:spcAft>
                <a:spcPts val="900"/>
              </a:spcAft>
              <a:buSzPct val="100000"/>
              <a:buChar char="•"/>
            </a:pPr>
            <a:r>
              <a:rPr lang="en-US" sz="1500" dirty="0">
                <a:solidFill>
                  <a:schemeClr val="tx1"/>
                </a:solidFill>
              </a:rPr>
              <a:t>Não roda os testes de novo: eles já passaram na etapa Testes do pipeline</a:t>
            </a:r>
            <a:endParaRPr lang="en-US" sz="1500" dirty="0"/>
          </a:p>
        </p:txBody>
      </p:sp>
      <p:sp>
        <p:nvSpPr>
          <p:cNvPr id="8" name="Shape 5"/>
          <p:cNvSpPr/>
          <p:nvPr/>
        </p:nvSpPr>
        <p:spPr>
          <a:xfrm>
            <a:off x="5303520" y="3108960"/>
            <a:ext cx="685800" cy="914"/>
          </a:xfrm>
          <a:prstGeom prst="line">
            <a:avLst/>
          </a:prstGeom>
          <a:noFill/>
          <a:ln w="22225">
            <a:solidFill>
              <a:srgbClr val="2F62B3"/>
            </a:solidFill>
            <a:prstDash val="solid"/>
            <a:tailEnd type="triangle"/>
          </a:ln>
        </p:spPr>
      </p:sp>
      <p:sp>
        <p:nvSpPr>
          <p:cNvPr id="9" name="Shape 6"/>
          <p:cNvSpPr/>
          <p:nvPr/>
        </p:nvSpPr>
        <p:spPr>
          <a:xfrm>
            <a:off x="5989320" y="1325880"/>
            <a:ext cx="5650992" cy="3611880"/>
          </a:xfrm>
          <a:prstGeom prst="roundRect">
            <a:avLst>
              <a:gd name="adj" fmla="val 2532"/>
            </a:avLst>
          </a:prstGeom>
          <a:solidFill>
            <a:schemeClr val="tx2"/>
          </a:solidFill>
          <a:ln w="12700">
            <a:solidFill>
              <a:schemeClr val="tx2"/>
            </a:solidFill>
            <a:prstDash val="solid"/>
          </a:ln>
        </p:spPr>
      </p:sp>
      <p:sp>
        <p:nvSpPr>
          <p:cNvPr id="10" name="Etapa runtime"/>
          <p:cNvSpPr/>
          <p:nvPr/>
        </p:nvSpPr>
        <p:spPr>
          <a:xfrm>
            <a:off x="6217920" y="1554480"/>
            <a:ext cx="640080" cy="640080"/>
          </a:xfrm>
          <a:prstGeom prst="ellipse">
            <a:avLst/>
          </a:prstGeom>
          <a:solidFill>
            <a:schemeClr val="accent3"/>
          </a:solidFill>
          <a:ln w="12700">
            <a:solidFill>
              <a:schemeClr val="accent3"/>
            </a:solidFill>
            <a:prstDash val="solid"/>
          </a:ln>
        </p:spPr>
      </p:sp>
      <p:pic>
        <p:nvPicPr>
          <p:cNvPr id="11" name="Etapa runtime (ícone)" descr="preencoded.png">    </p:cNvPr>
          <p:cNvPicPr>
            <a:picLocks noChangeAspect="1"/>
          </p:cNvPicPr>
          <p:nvPr/>
        </p:nvPicPr>
        <p:blipFill>
          <a:blip r:embed="rId2"/>
          <a:stretch>
            <a:fillRect/>
          </a:stretch>
        </p:blipFill>
        <p:spPr>
          <a:xfrm>
            <a:off x="6377940" y="1714500"/>
            <a:ext cx="320040" cy="320040"/>
          </a:xfrm>
          <a:prstGeom prst="rect">
            <a:avLst/>
          </a:prstGeom>
        </p:spPr>
      </p:pic>
      <p:sp>
        <p:nvSpPr>
          <p:cNvPr id="12" name="Text 8"/>
          <p:cNvSpPr txBox="1"/>
          <p:nvPr/>
        </p:nvSpPr>
        <p:spPr>
          <a:xfrm>
            <a:off x="7040880" y="1600200"/>
            <a:ext cx="4480560" cy="640080"/>
          </a:xfrm>
          <a:prstGeom prst="rect">
            <a:avLst/>
          </a:prstGeom>
          <a:noFill/>
          <a:ln/>
        </p:spPr>
        <p:txBody>
          <a:bodyPr wrap="square" lIns="0" tIns="0" rIns="0" bIns="0" rtlCol="0" anchor="t"/>
          <a:lstStyle/>
          <a:p>
            <a:pPr indent="0" marL="0">
              <a:buNone/>
            </a:pPr>
            <a:r>
              <a:rPr lang="en-US" sz="1700" b="1" dirty="0">
                <a:solidFill>
                  <a:schemeClr val="bg1"/>
                </a:solidFill>
              </a:rPr>
              <a:t>Etapa 2: runtime (imagem final)</a:t>
            </a:r>
            <a:endParaRPr lang="en-US" sz="1400" dirty="0"/>
          </a:p>
          <a:p>
            <a:pPr indent="0" marL="0">
              <a:buNone/>
            </a:pPr>
            <a:r>
              <a:rPr lang="en-US" sz="1200" dirty="0">
                <a:solidFill>
                  <a:schemeClr val="accent4"/>
                </a:solidFill>
                <a:latin typeface="Courier New" pitchFamily="34" charset="0"/>
                <a:ea typeface="Courier New" pitchFamily="34" charset="-122"/>
                <a:cs typeface="Courier New" pitchFamily="34" charset="-120"/>
              </a:rPr>
              <a:t>eclipse-temurin:21-jre-alpine</a:t>
            </a:r>
            <a:endParaRPr lang="en-US" sz="1400" dirty="0"/>
          </a:p>
        </p:txBody>
      </p:sp>
      <p:sp>
        <p:nvSpPr>
          <p:cNvPr id="13" name="Camada application"/>
          <p:cNvSpPr/>
          <p:nvPr/>
        </p:nvSpPr>
        <p:spPr>
          <a:xfrm>
            <a:off x="6217920" y="2377440"/>
            <a:ext cx="5193792" cy="429768"/>
          </a:xfrm>
          <a:prstGeom prst="rect">
            <a:avLst/>
          </a:prstGeom>
          <a:solidFill>
            <a:schemeClr val="accent1"/>
          </a:solidFill>
          <a:ln w="12700">
            <a:solidFill>
              <a:srgbClr val="173D2C"/>
            </a:solidFill>
            <a:prstDash val="solid"/>
          </a:ln>
        </p:spPr>
      </p:sp>
      <p:sp>
        <p:nvSpPr>
          <p:cNvPr id="14" name="Text 10"/>
          <p:cNvSpPr txBox="1"/>
          <p:nvPr/>
        </p:nvSpPr>
        <p:spPr>
          <a:xfrm>
            <a:off x="6355080" y="2468880"/>
            <a:ext cx="4937760" cy="274320"/>
          </a:xfrm>
          <a:prstGeom prst="rect">
            <a:avLst/>
          </a:prstGeom>
          <a:noFill/>
          <a:ln/>
        </p:spPr>
        <p:txBody>
          <a:bodyPr wrap="square" lIns="0" tIns="0" rIns="0" bIns="0" rtlCol="0" anchor="t"/>
          <a:lstStyle/>
          <a:p>
            <a:pPr indent="0" marL="0">
              <a:buNone/>
            </a:pPr>
            <a:r>
              <a:rPr lang="en-US" sz="1200" b="1" dirty="0">
                <a:solidFill>
                  <a:schemeClr val="bg1"/>
                </a:solidFill>
                <a:latin typeface="Courier New" pitchFamily="34" charset="0"/>
                <a:ea typeface="Courier New" pitchFamily="34" charset="-122"/>
                <a:cs typeface="Courier New" pitchFamily="34" charset="-120"/>
              </a:rPr>
              <a:t>application  </a:t>
            </a:r>
            <a:pPr indent="0" marL="0">
              <a:buNone/>
            </a:pPr>
            <a:r>
              <a:rPr lang="en-US" sz="1200" dirty="0">
                <a:solidFill>
                  <a:schemeClr val="bg1"/>
                </a:solidFill>
              </a:rPr>
              <a:t>código da API (muda a cada commit)</a:t>
            </a:r>
            <a:endParaRPr lang="en-US" sz="1400" dirty="0"/>
          </a:p>
        </p:txBody>
      </p:sp>
      <p:sp>
        <p:nvSpPr>
          <p:cNvPr id="15" name="Camada snapshot-dependencies"/>
          <p:cNvSpPr/>
          <p:nvPr/>
        </p:nvSpPr>
        <p:spPr>
          <a:xfrm>
            <a:off x="6217920" y="2880360"/>
            <a:ext cx="5193792" cy="429768"/>
          </a:xfrm>
          <a:prstGeom prst="rect">
            <a:avLst/>
          </a:prstGeom>
          <a:solidFill>
            <a:schemeClr val="accent5"/>
          </a:solidFill>
          <a:ln w="12700">
            <a:solidFill>
              <a:srgbClr val="173D2C"/>
            </a:solidFill>
            <a:prstDash val="solid"/>
          </a:ln>
        </p:spPr>
      </p:sp>
      <p:sp>
        <p:nvSpPr>
          <p:cNvPr id="16" name="Text 12"/>
          <p:cNvSpPr txBox="1"/>
          <p:nvPr/>
        </p:nvSpPr>
        <p:spPr>
          <a:xfrm>
            <a:off x="6355080" y="2971800"/>
            <a:ext cx="4937760" cy="274320"/>
          </a:xfrm>
          <a:prstGeom prst="rect">
            <a:avLst/>
          </a:prstGeom>
          <a:noFill/>
          <a:ln/>
        </p:spPr>
        <p:txBody>
          <a:bodyPr wrap="square" lIns="0" tIns="0" rIns="0" bIns="0" rtlCol="0" anchor="t"/>
          <a:lstStyle/>
          <a:p>
            <a:pPr indent="0" marL="0">
              <a:buNone/>
            </a:pPr>
            <a:r>
              <a:rPr lang="en-US" sz="1200" b="1" dirty="0">
                <a:solidFill>
                  <a:schemeClr val="bg1"/>
                </a:solidFill>
                <a:latin typeface="Courier New" pitchFamily="34" charset="0"/>
                <a:ea typeface="Courier New" pitchFamily="34" charset="-122"/>
                <a:cs typeface="Courier New" pitchFamily="34" charset="-120"/>
              </a:rPr>
              <a:t>snapshot-dependencies  </a:t>
            </a:r>
            <a:pPr indent="0" marL="0">
              <a:buNone/>
            </a:pPr>
            <a:r>
              <a:rPr lang="en-US" sz="1200" dirty="0">
                <a:solidFill>
                  <a:schemeClr val="bg1"/>
                </a:solidFill>
              </a:rPr>
              <a:t>dependências SNAPSHOT</a:t>
            </a:r>
            <a:endParaRPr lang="en-US" sz="1400" dirty="0"/>
          </a:p>
        </p:txBody>
      </p:sp>
      <p:sp>
        <p:nvSpPr>
          <p:cNvPr id="17" name="Camada spring-boot-loader"/>
          <p:cNvSpPr/>
          <p:nvPr/>
        </p:nvSpPr>
        <p:spPr>
          <a:xfrm>
            <a:off x="6217920" y="3383280"/>
            <a:ext cx="5193792" cy="429768"/>
          </a:xfrm>
          <a:prstGeom prst="rect">
            <a:avLst/>
          </a:prstGeom>
          <a:solidFill>
            <a:schemeClr val="accent5"/>
          </a:solidFill>
          <a:ln w="12700">
            <a:solidFill>
              <a:srgbClr val="173D2C"/>
            </a:solidFill>
            <a:prstDash val="solid"/>
          </a:ln>
        </p:spPr>
      </p:sp>
      <p:sp>
        <p:nvSpPr>
          <p:cNvPr id="18" name="Text 14"/>
          <p:cNvSpPr txBox="1"/>
          <p:nvPr/>
        </p:nvSpPr>
        <p:spPr>
          <a:xfrm>
            <a:off x="6355080" y="3474720"/>
            <a:ext cx="4937760" cy="274320"/>
          </a:xfrm>
          <a:prstGeom prst="rect">
            <a:avLst/>
          </a:prstGeom>
          <a:noFill/>
          <a:ln/>
        </p:spPr>
        <p:txBody>
          <a:bodyPr wrap="square" lIns="0" tIns="0" rIns="0" bIns="0" rtlCol="0" anchor="t"/>
          <a:lstStyle/>
          <a:p>
            <a:pPr indent="0" marL="0">
              <a:buNone/>
            </a:pPr>
            <a:r>
              <a:rPr lang="en-US" sz="1200" b="1" dirty="0">
                <a:solidFill>
                  <a:schemeClr val="bg1"/>
                </a:solidFill>
                <a:latin typeface="Courier New" pitchFamily="34" charset="0"/>
                <a:ea typeface="Courier New" pitchFamily="34" charset="-122"/>
                <a:cs typeface="Courier New" pitchFamily="34" charset="-120"/>
              </a:rPr>
              <a:t>spring-boot-loader  </a:t>
            </a:r>
            <a:pPr indent="0" marL="0">
              <a:buNone/>
            </a:pPr>
            <a:r>
              <a:rPr lang="en-US" sz="1200" dirty="0">
                <a:solidFill>
                  <a:schemeClr val="bg1"/>
                </a:solidFill>
              </a:rPr>
              <a:t>inicializador do Spring Boot</a:t>
            </a:r>
            <a:endParaRPr lang="en-US" sz="1400" dirty="0"/>
          </a:p>
        </p:txBody>
      </p:sp>
      <p:sp>
        <p:nvSpPr>
          <p:cNvPr id="19" name="Camada dependencies"/>
          <p:cNvSpPr/>
          <p:nvPr/>
        </p:nvSpPr>
        <p:spPr>
          <a:xfrm>
            <a:off x="6217920" y="3886200"/>
            <a:ext cx="5193792" cy="429768"/>
          </a:xfrm>
          <a:prstGeom prst="rect">
            <a:avLst/>
          </a:prstGeom>
          <a:solidFill>
            <a:schemeClr val="accent3"/>
          </a:solidFill>
          <a:ln w="12700">
            <a:solidFill>
              <a:srgbClr val="173D2C"/>
            </a:solidFill>
            <a:prstDash val="solid"/>
          </a:ln>
        </p:spPr>
      </p:sp>
      <p:sp>
        <p:nvSpPr>
          <p:cNvPr id="20" name="Text 16"/>
          <p:cNvSpPr txBox="1"/>
          <p:nvPr/>
        </p:nvSpPr>
        <p:spPr>
          <a:xfrm>
            <a:off x="6355080" y="3977640"/>
            <a:ext cx="4937760" cy="274320"/>
          </a:xfrm>
          <a:prstGeom prst="rect">
            <a:avLst/>
          </a:prstGeom>
          <a:noFill/>
          <a:ln/>
        </p:spPr>
        <p:txBody>
          <a:bodyPr wrap="square" lIns="0" tIns="0" rIns="0" bIns="0" rtlCol="0" anchor="t"/>
          <a:lstStyle/>
          <a:p>
            <a:pPr indent="0" marL="0">
              <a:buNone/>
            </a:pPr>
            <a:r>
              <a:rPr lang="en-US" sz="1200" b="1" dirty="0">
                <a:solidFill>
                  <a:schemeClr val="bg1"/>
                </a:solidFill>
                <a:latin typeface="Courier New" pitchFamily="34" charset="0"/>
                <a:ea typeface="Courier New" pitchFamily="34" charset="-122"/>
                <a:cs typeface="Courier New" pitchFamily="34" charset="-120"/>
              </a:rPr>
              <a:t>dependencies  </a:t>
            </a:r>
            <a:pPr indent="0" marL="0">
              <a:buNone/>
            </a:pPr>
            <a:r>
              <a:rPr lang="en-US" sz="1200" dirty="0">
                <a:solidFill>
                  <a:schemeClr val="bg1"/>
                </a:solidFill>
              </a:rPr>
              <a:t>bibliotecas (mudam pouco)</a:t>
            </a:r>
            <a:endParaRPr lang="en-US" sz="1400" dirty="0"/>
          </a:p>
        </p:txBody>
      </p:sp>
      <p:sp>
        <p:nvSpPr>
          <p:cNvPr id="21" name="Text 17"/>
          <p:cNvSpPr txBox="1"/>
          <p:nvPr/>
        </p:nvSpPr>
        <p:spPr>
          <a:xfrm>
            <a:off x="6217920" y="4407408"/>
            <a:ext cx="5212080" cy="457200"/>
          </a:xfrm>
          <a:prstGeom prst="rect">
            <a:avLst/>
          </a:prstGeom>
          <a:noFill/>
          <a:ln/>
        </p:spPr>
        <p:txBody>
          <a:bodyPr wrap="square" lIns="0" tIns="0" rIns="0" bIns="0" rtlCol="0" anchor="t"/>
          <a:lstStyle/>
          <a:p>
            <a:pPr indent="0" marL="0">
              <a:buNone/>
            </a:pPr>
            <a:r>
              <a:rPr lang="en-US" sz="1250" dirty="0">
                <a:solidFill>
                  <a:schemeClr val="bg2"/>
                </a:solidFill>
              </a:rPr>
              <a:t>As camadas chegam da etapa 1 por COPY --from=build. Um deploy novo reenvia só a camada application.</a:t>
            </a:r>
            <a:endParaRPr lang="en-US" sz="1250" dirty="0"/>
          </a:p>
        </p:txBody>
      </p:sp>
      <p:sp>
        <p:nvSpPr>
          <p:cNvPr id="22" name="Usuário sem root"/>
          <p:cNvSpPr/>
          <p:nvPr/>
        </p:nvSpPr>
        <p:spPr>
          <a:xfrm>
            <a:off x="548640" y="5257800"/>
            <a:ext cx="566928" cy="566928"/>
          </a:xfrm>
          <a:prstGeom prst="ellipse">
            <a:avLst/>
          </a:prstGeom>
          <a:solidFill>
            <a:schemeClr val="accent1"/>
          </a:solidFill>
          <a:ln w="12700">
            <a:solidFill>
              <a:schemeClr val="accent1"/>
            </a:solidFill>
            <a:prstDash val="solid"/>
          </a:ln>
        </p:spPr>
      </p:sp>
      <p:pic>
        <p:nvPicPr>
          <p:cNvPr id="23" name="Usuário sem root (ícone)" descr="preencoded.png">    </p:cNvPr>
          <p:cNvPicPr>
            <a:picLocks noChangeAspect="1"/>
          </p:cNvPicPr>
          <p:nvPr/>
        </p:nvPicPr>
        <p:blipFill>
          <a:blip r:embed="rId3"/>
          <a:stretch>
            <a:fillRect/>
          </a:stretch>
        </p:blipFill>
        <p:spPr>
          <a:xfrm>
            <a:off x="690372" y="5399532"/>
            <a:ext cx="283464" cy="283464"/>
          </a:xfrm>
          <a:prstGeom prst="rect">
            <a:avLst/>
          </a:prstGeom>
        </p:spPr>
      </p:pic>
      <p:sp>
        <p:nvSpPr>
          <p:cNvPr id="24" name="Text 19"/>
          <p:cNvSpPr txBox="1"/>
          <p:nvPr/>
        </p:nvSpPr>
        <p:spPr>
          <a:xfrm>
            <a:off x="1234440" y="5266944"/>
            <a:ext cx="2057400" cy="822960"/>
          </a:xfrm>
          <a:prstGeom prst="rect">
            <a:avLst/>
          </a:prstGeom>
          <a:noFill/>
          <a:ln/>
        </p:spPr>
        <p:txBody>
          <a:bodyPr wrap="square" lIns="0" tIns="0" rIns="0" bIns="0" rtlCol="0" anchor="t"/>
          <a:lstStyle/>
          <a:p>
            <a:pPr indent="0" marL="0">
              <a:buNone/>
            </a:pPr>
            <a:r>
              <a:rPr lang="en-US" sz="1400" b="1" dirty="0">
                <a:solidFill>
                  <a:schemeClr val="tx1"/>
                </a:solidFill>
              </a:rPr>
              <a:t>Usuário sem root</a:t>
            </a:r>
            <a:endParaRPr lang="en-US" sz="1400" dirty="0"/>
          </a:p>
          <a:p>
            <a:pPr indent="0" marL="0">
              <a:buNone/>
            </a:pPr>
            <a:r>
              <a:rPr lang="en-US" sz="1250" dirty="0">
                <a:solidFill>
                  <a:schemeClr val="accent5"/>
                </a:solidFill>
              </a:rPr>
              <a:t>a aplicação roda como app</a:t>
            </a:r>
            <a:endParaRPr lang="en-US" sz="1400" dirty="0"/>
          </a:p>
        </p:txBody>
      </p:sp>
      <p:sp>
        <p:nvSpPr>
          <p:cNvPr id="25" name="HEALTHCHECK"/>
          <p:cNvSpPr/>
          <p:nvPr/>
        </p:nvSpPr>
        <p:spPr>
          <a:xfrm>
            <a:off x="3364992" y="5257800"/>
            <a:ext cx="566928" cy="566928"/>
          </a:xfrm>
          <a:prstGeom prst="ellipse">
            <a:avLst/>
          </a:prstGeom>
          <a:solidFill>
            <a:schemeClr val="accent1"/>
          </a:solidFill>
          <a:ln w="12700">
            <a:solidFill>
              <a:schemeClr val="accent1"/>
            </a:solidFill>
            <a:prstDash val="solid"/>
          </a:ln>
        </p:spPr>
      </p:sp>
      <p:pic>
        <p:nvPicPr>
          <p:cNvPr id="26" name="HEALTHCHECK (ícone)" descr="preencoded.png">    </p:cNvPr>
          <p:cNvPicPr>
            <a:picLocks noChangeAspect="1"/>
          </p:cNvPicPr>
          <p:nvPr/>
        </p:nvPicPr>
        <p:blipFill>
          <a:blip r:embed="rId4"/>
          <a:stretch>
            <a:fillRect/>
          </a:stretch>
        </p:blipFill>
        <p:spPr>
          <a:xfrm>
            <a:off x="3506724" y="5399532"/>
            <a:ext cx="283464" cy="283464"/>
          </a:xfrm>
          <a:prstGeom prst="rect">
            <a:avLst/>
          </a:prstGeom>
        </p:spPr>
      </p:pic>
      <p:sp>
        <p:nvSpPr>
          <p:cNvPr id="27" name="Text 21"/>
          <p:cNvSpPr txBox="1"/>
          <p:nvPr/>
        </p:nvSpPr>
        <p:spPr>
          <a:xfrm>
            <a:off x="4050792" y="5266944"/>
            <a:ext cx="2057400" cy="822960"/>
          </a:xfrm>
          <a:prstGeom prst="rect">
            <a:avLst/>
          </a:prstGeom>
          <a:noFill/>
          <a:ln/>
        </p:spPr>
        <p:txBody>
          <a:bodyPr wrap="square" lIns="0" tIns="0" rIns="0" bIns="0" rtlCol="0" anchor="t"/>
          <a:lstStyle/>
          <a:p>
            <a:pPr indent="0" marL="0">
              <a:buNone/>
            </a:pPr>
            <a:r>
              <a:rPr lang="en-US" sz="1400" b="1" dirty="0">
                <a:solidFill>
                  <a:schemeClr val="tx1"/>
                </a:solidFill>
              </a:rPr>
              <a:t>HEALTHCHECK</a:t>
            </a:r>
            <a:endParaRPr lang="en-US" sz="1400" dirty="0"/>
          </a:p>
          <a:p>
            <a:pPr indent="0" marL="0">
              <a:buNone/>
            </a:pPr>
            <a:r>
              <a:rPr lang="en-US" sz="1250" dirty="0">
                <a:solidFill>
                  <a:schemeClr val="accent5"/>
                </a:solidFill>
              </a:rPr>
              <a:t>liveness a cada 30 s</a:t>
            </a:r>
            <a:endParaRPr lang="en-US" sz="1400" dirty="0"/>
          </a:p>
        </p:txBody>
      </p:sp>
      <p:sp>
        <p:nvSpPr>
          <p:cNvPr id="28" name="JVM para 512 MB"/>
          <p:cNvSpPr/>
          <p:nvPr/>
        </p:nvSpPr>
        <p:spPr>
          <a:xfrm>
            <a:off x="6181344" y="5257800"/>
            <a:ext cx="566928" cy="566928"/>
          </a:xfrm>
          <a:prstGeom prst="ellipse">
            <a:avLst/>
          </a:prstGeom>
          <a:solidFill>
            <a:schemeClr val="accent1"/>
          </a:solidFill>
          <a:ln w="12700">
            <a:solidFill>
              <a:schemeClr val="accent1"/>
            </a:solidFill>
            <a:prstDash val="solid"/>
          </a:ln>
        </p:spPr>
      </p:sp>
      <p:pic>
        <p:nvPicPr>
          <p:cNvPr id="29" name="JVM para 512 MB (ícone)" descr="preencoded.png">    </p:cNvPr>
          <p:cNvPicPr>
            <a:picLocks noChangeAspect="1"/>
          </p:cNvPicPr>
          <p:nvPr/>
        </p:nvPicPr>
        <p:blipFill>
          <a:blip r:embed="rId5"/>
          <a:stretch>
            <a:fillRect/>
          </a:stretch>
        </p:blipFill>
        <p:spPr>
          <a:xfrm>
            <a:off x="6323076" y="5399532"/>
            <a:ext cx="283464" cy="283464"/>
          </a:xfrm>
          <a:prstGeom prst="rect">
            <a:avLst/>
          </a:prstGeom>
        </p:spPr>
      </p:pic>
      <p:sp>
        <p:nvSpPr>
          <p:cNvPr id="30" name="Text 23"/>
          <p:cNvSpPr txBox="1"/>
          <p:nvPr/>
        </p:nvSpPr>
        <p:spPr>
          <a:xfrm>
            <a:off x="6867144" y="5266944"/>
            <a:ext cx="2057400" cy="822960"/>
          </a:xfrm>
          <a:prstGeom prst="rect">
            <a:avLst/>
          </a:prstGeom>
          <a:noFill/>
          <a:ln/>
        </p:spPr>
        <p:txBody>
          <a:bodyPr wrap="square" lIns="0" tIns="0" rIns="0" bIns="0" rtlCol="0" anchor="t"/>
          <a:lstStyle/>
          <a:p>
            <a:pPr indent="0" marL="0">
              <a:buNone/>
            </a:pPr>
            <a:r>
              <a:rPr lang="en-US" sz="1400" b="1" dirty="0">
                <a:solidFill>
                  <a:schemeClr val="tx1"/>
                </a:solidFill>
              </a:rPr>
              <a:t>JVM para 512 MB</a:t>
            </a:r>
            <a:endParaRPr lang="en-US" sz="1400" dirty="0"/>
          </a:p>
          <a:p>
            <a:pPr indent="0" marL="0">
              <a:buNone/>
            </a:pPr>
            <a:r>
              <a:rPr lang="en-US" sz="1250" dirty="0">
                <a:solidFill>
                  <a:schemeClr val="accent5"/>
                </a:solidFill>
              </a:rPr>
              <a:t>heap 60%, GC serial, C1</a:t>
            </a:r>
            <a:endParaRPr lang="en-US" sz="1400" dirty="0"/>
          </a:p>
        </p:txBody>
      </p:sp>
      <p:sp>
        <p:nvSpPr>
          <p:cNvPr id="31" name="Desligamento gracioso"/>
          <p:cNvSpPr/>
          <p:nvPr/>
        </p:nvSpPr>
        <p:spPr>
          <a:xfrm>
            <a:off x="8997696" y="5257800"/>
            <a:ext cx="566928" cy="566928"/>
          </a:xfrm>
          <a:prstGeom prst="ellipse">
            <a:avLst/>
          </a:prstGeom>
          <a:solidFill>
            <a:schemeClr val="accent1"/>
          </a:solidFill>
          <a:ln w="12700">
            <a:solidFill>
              <a:schemeClr val="accent1"/>
            </a:solidFill>
            <a:prstDash val="solid"/>
          </a:ln>
        </p:spPr>
      </p:sp>
      <p:pic>
        <p:nvPicPr>
          <p:cNvPr id="32" name="Desligamento gracioso (ícone)" descr="preencoded.png">    </p:cNvPr>
          <p:cNvPicPr>
            <a:picLocks noChangeAspect="1"/>
          </p:cNvPicPr>
          <p:nvPr/>
        </p:nvPicPr>
        <p:blipFill>
          <a:blip r:embed="rId6"/>
          <a:stretch>
            <a:fillRect/>
          </a:stretch>
        </p:blipFill>
        <p:spPr>
          <a:xfrm>
            <a:off x="9139428" y="5399532"/>
            <a:ext cx="283464" cy="283464"/>
          </a:xfrm>
          <a:prstGeom prst="rect">
            <a:avLst/>
          </a:prstGeom>
        </p:spPr>
      </p:pic>
      <p:sp>
        <p:nvSpPr>
          <p:cNvPr id="33" name="Text 25"/>
          <p:cNvSpPr txBox="1"/>
          <p:nvPr/>
        </p:nvSpPr>
        <p:spPr>
          <a:xfrm>
            <a:off x="9683496" y="5266944"/>
            <a:ext cx="2057400" cy="822960"/>
          </a:xfrm>
          <a:prstGeom prst="rect">
            <a:avLst/>
          </a:prstGeom>
          <a:noFill/>
          <a:ln/>
        </p:spPr>
        <p:txBody>
          <a:bodyPr wrap="square" lIns="0" tIns="0" rIns="0" bIns="0" rtlCol="0" anchor="t"/>
          <a:lstStyle/>
          <a:p>
            <a:pPr indent="0" marL="0">
              <a:buNone/>
            </a:pPr>
            <a:r>
              <a:rPr lang="en-US" sz="1400" b="1" dirty="0">
                <a:solidFill>
                  <a:schemeClr val="tx1"/>
                </a:solidFill>
              </a:rPr>
              <a:t>Desligamento gracioso</a:t>
            </a:r>
            <a:endParaRPr lang="en-US" sz="1400" dirty="0"/>
          </a:p>
          <a:p>
            <a:pPr indent="0" marL="0">
              <a:buNone/>
            </a:pPr>
            <a:r>
              <a:rPr lang="en-US" sz="1250" dirty="0">
                <a:solidFill>
                  <a:schemeClr val="accent5"/>
                </a:solidFill>
              </a:rPr>
              <a:t>exec java + shutdown graceful</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Docker Compose: aplicação, banco, volumes e redes</a:t>
            </a:r>
            <a:endParaRPr lang="en-US" sz="3000" dirty="0"/>
          </a:p>
        </p:txBody>
      </p:sp>
      <p:sp>
        <p:nvSpPr>
          <p:cNvPr id="3" name="Rede frontend"/>
          <p:cNvSpPr/>
          <p:nvPr/>
        </p:nvSpPr>
        <p:spPr>
          <a:xfrm>
            <a:off x="548640" y="1371600"/>
            <a:ext cx="3291840" cy="4206240"/>
          </a:xfrm>
          <a:prstGeom prst="roundRect">
            <a:avLst>
              <a:gd name="adj" fmla="val 3333"/>
            </a:avLst>
          </a:prstGeom>
          <a:solidFill>
            <a:schemeClr val="bg2"/>
          </a:solidFill>
          <a:ln w="15875">
            <a:solidFill>
              <a:schemeClr val="accent3"/>
            </a:solidFill>
            <a:prstDash val="dash"/>
          </a:ln>
        </p:spPr>
      </p:sp>
      <p:sp>
        <p:nvSpPr>
          <p:cNvPr id="4" name="Text 2"/>
          <p:cNvSpPr txBox="1"/>
          <p:nvPr/>
        </p:nvSpPr>
        <p:spPr>
          <a:xfrm>
            <a:off x="731520" y="1481328"/>
            <a:ext cx="2926080" cy="320040"/>
          </a:xfrm>
          <a:prstGeom prst="rect">
            <a:avLst/>
          </a:prstGeom>
          <a:noFill/>
          <a:ln/>
        </p:spPr>
        <p:txBody>
          <a:bodyPr wrap="square" lIns="0" tIns="0" rIns="0" bIns="0" rtlCol="0" anchor="t"/>
          <a:lstStyle/>
          <a:p>
            <a:pPr indent="0" marL="0">
              <a:buNone/>
            </a:pPr>
            <a:r>
              <a:rPr lang="en-US" sz="1300" b="1" dirty="0">
                <a:solidFill>
                  <a:schemeClr val="accent3"/>
                </a:solidFill>
              </a:rPr>
              <a:t>rede frontend</a:t>
            </a:r>
            <a:endParaRPr lang="en-US" sz="1300" dirty="0"/>
          </a:p>
        </p:txBody>
      </p:sp>
      <p:sp>
        <p:nvSpPr>
          <p:cNvPr id="5" name="Rede backend"/>
          <p:cNvSpPr/>
          <p:nvPr/>
        </p:nvSpPr>
        <p:spPr>
          <a:xfrm>
            <a:off x="4343400" y="1371600"/>
            <a:ext cx="2834640" cy="4206240"/>
          </a:xfrm>
          <a:prstGeom prst="roundRect">
            <a:avLst>
              <a:gd name="adj" fmla="val 3871"/>
            </a:avLst>
          </a:prstGeom>
          <a:solidFill>
            <a:schemeClr val="bg2"/>
          </a:solidFill>
          <a:ln w="15875">
            <a:solidFill>
              <a:schemeClr val="accent2"/>
            </a:solidFill>
            <a:prstDash val="dash"/>
          </a:ln>
        </p:spPr>
      </p:sp>
      <p:sp>
        <p:nvSpPr>
          <p:cNvPr id="6" name="Text 4"/>
          <p:cNvSpPr txBox="1"/>
          <p:nvPr/>
        </p:nvSpPr>
        <p:spPr>
          <a:xfrm>
            <a:off x="4526280" y="1481328"/>
            <a:ext cx="2560320" cy="320040"/>
          </a:xfrm>
          <a:prstGeom prst="rect">
            <a:avLst/>
          </a:prstGeom>
          <a:noFill/>
          <a:ln/>
        </p:spPr>
        <p:txBody>
          <a:bodyPr wrap="square" lIns="0" tIns="0" rIns="0" bIns="0" rtlCol="0" anchor="t"/>
          <a:lstStyle/>
          <a:p>
            <a:pPr indent="0" marL="0">
              <a:buNone/>
            </a:pPr>
            <a:r>
              <a:rPr lang="en-US" sz="1300" b="1" dirty="0">
                <a:solidFill>
                  <a:schemeClr val="accent2"/>
                </a:solidFill>
              </a:rPr>
              <a:t>rede backend (internal)</a:t>
            </a:r>
            <a:endParaRPr lang="en-US" sz="1300" dirty="0"/>
          </a:p>
        </p:txBody>
      </p:sp>
      <p:sp>
        <p:nvSpPr>
          <p:cNvPr id="7" name="Serviço app"/>
          <p:cNvSpPr/>
          <p:nvPr/>
        </p:nvSpPr>
        <p:spPr>
          <a:xfrm>
            <a:off x="777240" y="1920240"/>
            <a:ext cx="2468880" cy="1188720"/>
          </a:xfrm>
          <a:prstGeom prst="roundRect">
            <a:avLst>
              <a:gd name="adj" fmla="val 7692"/>
            </a:avLst>
          </a:prstGeom>
          <a:solidFill>
            <a:schemeClr val="bg1"/>
          </a:solidFill>
          <a:ln w="12700">
            <a:solidFill>
              <a:srgbClr val="D9E1DC"/>
            </a:solidFill>
            <a:prstDash val="solid"/>
          </a:ln>
        </p:spPr>
      </p:sp>
      <p:sp>
        <p:nvSpPr>
          <p:cNvPr id="8" name="app"/>
          <p:cNvSpPr/>
          <p:nvPr/>
        </p:nvSpPr>
        <p:spPr>
          <a:xfrm>
            <a:off x="941832" y="2103120"/>
            <a:ext cx="566928" cy="566928"/>
          </a:xfrm>
          <a:prstGeom prst="ellipse">
            <a:avLst/>
          </a:prstGeom>
          <a:solidFill>
            <a:schemeClr val="accent1"/>
          </a:solidFill>
          <a:ln w="12700">
            <a:solidFill>
              <a:schemeClr val="accent1"/>
            </a:solidFill>
            <a:prstDash val="solid"/>
          </a:ln>
        </p:spPr>
      </p:sp>
      <p:pic>
        <p:nvPicPr>
          <p:cNvPr id="9" name="app (ícone)" descr="preencoded.png">    </p:cNvPr>
          <p:cNvPicPr>
            <a:picLocks noChangeAspect="1"/>
          </p:cNvPicPr>
          <p:nvPr/>
        </p:nvPicPr>
        <p:blipFill>
          <a:blip r:embed="rId1"/>
          <a:stretch>
            <a:fillRect/>
          </a:stretch>
        </p:blipFill>
        <p:spPr>
          <a:xfrm>
            <a:off x="1083564" y="2244852"/>
            <a:ext cx="283464" cy="283464"/>
          </a:xfrm>
          <a:prstGeom prst="rect">
            <a:avLst/>
          </a:prstGeom>
        </p:spPr>
      </p:pic>
      <p:sp>
        <p:nvSpPr>
          <p:cNvPr id="10" name="Text 7"/>
          <p:cNvSpPr txBox="1"/>
          <p:nvPr/>
        </p:nvSpPr>
        <p:spPr>
          <a:xfrm>
            <a:off x="1645920" y="2103120"/>
            <a:ext cx="1508760" cy="10515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app</a:t>
            </a:r>
            <a:endParaRPr lang="en-US" sz="1400" dirty="0"/>
          </a:p>
          <a:p>
            <a:pPr indent="0" marL="0">
              <a:buNone/>
            </a:pPr>
            <a:r>
              <a:rPr lang="en-US" sz="1200" dirty="0">
                <a:solidFill>
                  <a:schemeClr val="accent5"/>
                </a:solidFill>
              </a:rPr>
              <a:t>Spring Boot, porta 8080</a:t>
            </a:r>
            <a:endParaRPr lang="en-US" sz="1400" dirty="0"/>
          </a:p>
        </p:txBody>
      </p:sp>
      <p:sp>
        <p:nvSpPr>
          <p:cNvPr id="11" name="Serviço adminer"/>
          <p:cNvSpPr/>
          <p:nvPr/>
        </p:nvSpPr>
        <p:spPr>
          <a:xfrm>
            <a:off x="777240" y="4206240"/>
            <a:ext cx="2468880" cy="1188720"/>
          </a:xfrm>
          <a:prstGeom prst="roundRect">
            <a:avLst>
              <a:gd name="adj" fmla="val 7692"/>
            </a:avLst>
          </a:prstGeom>
          <a:solidFill>
            <a:schemeClr val="bg1"/>
          </a:solidFill>
          <a:ln w="12700">
            <a:solidFill>
              <a:srgbClr val="D9E1DC"/>
            </a:solidFill>
            <a:prstDash val="solid"/>
          </a:ln>
        </p:spPr>
      </p:sp>
      <p:sp>
        <p:nvSpPr>
          <p:cNvPr id="12" name="adminer"/>
          <p:cNvSpPr/>
          <p:nvPr/>
        </p:nvSpPr>
        <p:spPr>
          <a:xfrm>
            <a:off x="941832" y="4389120"/>
            <a:ext cx="566928" cy="566928"/>
          </a:xfrm>
          <a:prstGeom prst="ellipse">
            <a:avLst/>
          </a:prstGeom>
          <a:solidFill>
            <a:schemeClr val="accent5"/>
          </a:solidFill>
          <a:ln w="12700">
            <a:solidFill>
              <a:schemeClr val="accent5"/>
            </a:solidFill>
            <a:prstDash val="solid"/>
          </a:ln>
        </p:spPr>
      </p:sp>
      <p:pic>
        <p:nvPicPr>
          <p:cNvPr id="13" name="adminer (ícone)" descr="preencoded.png">    </p:cNvPr>
          <p:cNvPicPr>
            <a:picLocks noChangeAspect="1"/>
          </p:cNvPicPr>
          <p:nvPr/>
        </p:nvPicPr>
        <p:blipFill>
          <a:blip r:embed="rId2"/>
          <a:stretch>
            <a:fillRect/>
          </a:stretch>
        </p:blipFill>
        <p:spPr>
          <a:xfrm>
            <a:off x="1083564" y="4530852"/>
            <a:ext cx="283464" cy="283464"/>
          </a:xfrm>
          <a:prstGeom prst="rect">
            <a:avLst/>
          </a:prstGeom>
        </p:spPr>
      </p:pic>
      <p:sp>
        <p:nvSpPr>
          <p:cNvPr id="14" name="Text 10"/>
          <p:cNvSpPr txBox="1"/>
          <p:nvPr/>
        </p:nvSpPr>
        <p:spPr>
          <a:xfrm>
            <a:off x="1645920" y="4389120"/>
            <a:ext cx="1508760" cy="10515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adminer</a:t>
            </a:r>
            <a:endParaRPr lang="en-US" sz="1400" dirty="0"/>
          </a:p>
          <a:p>
            <a:pPr indent="0" marL="0">
              <a:buNone/>
            </a:pPr>
            <a:r>
              <a:rPr lang="en-US" sz="1200" dirty="0">
                <a:solidFill>
                  <a:schemeClr val="accent5"/>
                </a:solidFill>
              </a:rPr>
              <a:t>perfil tools, porta 8090</a:t>
            </a:r>
            <a:endParaRPr lang="en-US" sz="1400" dirty="0"/>
          </a:p>
        </p:txBody>
      </p:sp>
      <p:sp>
        <p:nvSpPr>
          <p:cNvPr id="15" name="Serviço db"/>
          <p:cNvSpPr/>
          <p:nvPr/>
        </p:nvSpPr>
        <p:spPr>
          <a:xfrm>
            <a:off x="4526280" y="1920240"/>
            <a:ext cx="2468880" cy="1188720"/>
          </a:xfrm>
          <a:prstGeom prst="roundRect">
            <a:avLst>
              <a:gd name="adj" fmla="val 7692"/>
            </a:avLst>
          </a:prstGeom>
          <a:solidFill>
            <a:schemeClr val="bg1"/>
          </a:solidFill>
          <a:ln w="12700">
            <a:solidFill>
              <a:srgbClr val="D9E1DC"/>
            </a:solidFill>
            <a:prstDash val="solid"/>
          </a:ln>
        </p:spPr>
      </p:sp>
      <p:sp>
        <p:nvSpPr>
          <p:cNvPr id="16" name="db"/>
          <p:cNvSpPr/>
          <p:nvPr/>
        </p:nvSpPr>
        <p:spPr>
          <a:xfrm>
            <a:off x="4690872" y="2103120"/>
            <a:ext cx="566928" cy="566928"/>
          </a:xfrm>
          <a:prstGeom prst="ellipse">
            <a:avLst/>
          </a:prstGeom>
          <a:solidFill>
            <a:schemeClr val="tx2"/>
          </a:solidFill>
          <a:ln w="12700">
            <a:solidFill>
              <a:schemeClr val="tx2"/>
            </a:solidFill>
            <a:prstDash val="solid"/>
          </a:ln>
        </p:spPr>
      </p:sp>
      <p:pic>
        <p:nvPicPr>
          <p:cNvPr id="17" name="db (ícone)" descr="preencoded.png">    </p:cNvPr>
          <p:cNvPicPr>
            <a:picLocks noChangeAspect="1"/>
          </p:cNvPicPr>
          <p:nvPr/>
        </p:nvPicPr>
        <p:blipFill>
          <a:blip r:embed="rId3"/>
          <a:stretch>
            <a:fillRect/>
          </a:stretch>
        </p:blipFill>
        <p:spPr>
          <a:xfrm>
            <a:off x="4832604" y="2244852"/>
            <a:ext cx="283464" cy="283464"/>
          </a:xfrm>
          <a:prstGeom prst="rect">
            <a:avLst/>
          </a:prstGeom>
        </p:spPr>
      </p:pic>
      <p:sp>
        <p:nvSpPr>
          <p:cNvPr id="18" name="Text 13"/>
          <p:cNvSpPr txBox="1"/>
          <p:nvPr/>
        </p:nvSpPr>
        <p:spPr>
          <a:xfrm>
            <a:off x="5394960" y="2103120"/>
            <a:ext cx="1508760" cy="10515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db</a:t>
            </a:r>
            <a:endParaRPr lang="en-US" sz="1400" dirty="0"/>
          </a:p>
          <a:p>
            <a:pPr indent="0" marL="0">
              <a:buNone/>
            </a:pPr>
            <a:r>
              <a:rPr lang="en-US" sz="1200" dirty="0">
                <a:solidFill>
                  <a:schemeClr val="accent5"/>
                </a:solidFill>
              </a:rPr>
              <a:t>PostgreSQL 17, sem porta exposta</a:t>
            </a:r>
            <a:endParaRPr lang="en-US" sz="1400" dirty="0"/>
          </a:p>
        </p:txBody>
      </p:sp>
      <p:sp>
        <p:nvSpPr>
          <p:cNvPr id="19" name="Shape 14"/>
          <p:cNvSpPr/>
          <p:nvPr/>
        </p:nvSpPr>
        <p:spPr>
          <a:xfrm>
            <a:off x="3246120" y="2514600"/>
            <a:ext cx="1280160" cy="914"/>
          </a:xfrm>
          <a:prstGeom prst="line">
            <a:avLst/>
          </a:prstGeom>
          <a:noFill/>
          <a:ln w="22225">
            <a:solidFill>
              <a:srgbClr val="4A5852"/>
            </a:solidFill>
            <a:prstDash val="solid"/>
            <a:tailEnd type="triangle"/>
          </a:ln>
        </p:spPr>
      </p:sp>
      <p:sp>
        <p:nvSpPr>
          <p:cNvPr id="20" name="Shape 15"/>
          <p:cNvSpPr/>
          <p:nvPr/>
        </p:nvSpPr>
        <p:spPr>
          <a:xfrm flipV="1">
            <a:off x="3246120" y="2926080"/>
            <a:ext cx="1280160" cy="1874520"/>
          </a:xfrm>
          <a:prstGeom prst="line">
            <a:avLst/>
          </a:prstGeom>
          <a:noFill/>
          <a:ln w="22225">
            <a:solidFill>
              <a:srgbClr val="4A5852"/>
            </a:solidFill>
            <a:prstDash val="solid"/>
            <a:tailEnd type="triangle"/>
          </a:ln>
        </p:spPr>
      </p:sp>
      <p:sp>
        <p:nvSpPr>
          <p:cNvPr id="21" name="Shape 16"/>
          <p:cNvSpPr/>
          <p:nvPr/>
        </p:nvSpPr>
        <p:spPr>
          <a:xfrm>
            <a:off x="2011680" y="3108960"/>
            <a:ext cx="914" cy="256032"/>
          </a:xfrm>
          <a:prstGeom prst="line">
            <a:avLst/>
          </a:prstGeom>
          <a:noFill/>
          <a:ln w="19050">
            <a:solidFill>
              <a:srgbClr val="4A5852"/>
            </a:solidFill>
            <a:prstDash val="solid"/>
          </a:ln>
        </p:spPr>
      </p:sp>
      <p:sp>
        <p:nvSpPr>
          <p:cNvPr id="22" name="Volume app-logs"/>
          <p:cNvSpPr/>
          <p:nvPr/>
        </p:nvSpPr>
        <p:spPr>
          <a:xfrm>
            <a:off x="1051560" y="3364992"/>
            <a:ext cx="1920240" cy="685800"/>
          </a:xfrm>
          <a:prstGeom prst="can">
            <a:avLst/>
          </a:prstGeom>
          <a:solidFill>
            <a:schemeClr val="accent4"/>
          </a:solidFill>
          <a:ln w="12700">
            <a:solidFill>
              <a:schemeClr val="accent4"/>
            </a:solidFill>
            <a:prstDash val="solid"/>
          </a:ln>
        </p:spPr>
      </p:sp>
      <p:sp>
        <p:nvSpPr>
          <p:cNvPr id="23" name="Text 18"/>
          <p:cNvSpPr txBox="1"/>
          <p:nvPr/>
        </p:nvSpPr>
        <p:spPr>
          <a:xfrm>
            <a:off x="1051560" y="3593592"/>
            <a:ext cx="1920240" cy="320040"/>
          </a:xfrm>
          <a:prstGeom prst="rect">
            <a:avLst/>
          </a:prstGeom>
          <a:noFill/>
          <a:ln/>
        </p:spPr>
        <p:txBody>
          <a:bodyPr wrap="square" lIns="0" tIns="0" rIns="0" bIns="0" rtlCol="0" anchor="t"/>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volume app-logs</a:t>
            </a:r>
            <a:endParaRPr lang="en-US" sz="1200" dirty="0"/>
          </a:p>
        </p:txBody>
      </p:sp>
      <p:sp>
        <p:nvSpPr>
          <p:cNvPr id="24" name="Volume pgdata"/>
          <p:cNvSpPr/>
          <p:nvPr/>
        </p:nvSpPr>
        <p:spPr>
          <a:xfrm>
            <a:off x="4800600" y="3794760"/>
            <a:ext cx="1920240" cy="1097280"/>
          </a:xfrm>
          <a:prstGeom prst="can">
            <a:avLst/>
          </a:prstGeom>
          <a:solidFill>
            <a:schemeClr val="accent4"/>
          </a:solidFill>
          <a:ln w="12700">
            <a:solidFill>
              <a:schemeClr val="accent4"/>
            </a:solidFill>
            <a:prstDash val="solid"/>
          </a:ln>
        </p:spPr>
      </p:sp>
      <p:sp>
        <p:nvSpPr>
          <p:cNvPr id="25" name="Text 20"/>
          <p:cNvSpPr txBox="1"/>
          <p:nvPr/>
        </p:nvSpPr>
        <p:spPr>
          <a:xfrm>
            <a:off x="4800600" y="4206240"/>
            <a:ext cx="1920240" cy="365760"/>
          </a:xfrm>
          <a:prstGeom prst="rect">
            <a:avLst/>
          </a:prstGeom>
          <a:noFill/>
          <a:ln/>
        </p:spPr>
        <p:txBody>
          <a:bodyPr wrap="square" lIns="0" tIns="0" rIns="0" bIns="0" rtlCol="0" anchor="t"/>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volume pgdata</a:t>
            </a:r>
            <a:endParaRPr lang="en-US" sz="1300" dirty="0"/>
          </a:p>
        </p:txBody>
      </p:sp>
      <p:sp>
        <p:nvSpPr>
          <p:cNvPr id="26" name="Text 21"/>
          <p:cNvSpPr txBox="1"/>
          <p:nvPr/>
        </p:nvSpPr>
        <p:spPr>
          <a:xfrm>
            <a:off x="548640" y="5715000"/>
            <a:ext cx="6629400" cy="594360"/>
          </a:xfrm>
          <a:prstGeom prst="rect">
            <a:avLst/>
          </a:prstGeom>
          <a:noFill/>
          <a:ln/>
        </p:spPr>
        <p:txBody>
          <a:bodyPr wrap="square" lIns="0" tIns="0" rIns="0" bIns="0" rtlCol="0" anchor="t"/>
          <a:lstStyle/>
          <a:p>
            <a:pPr indent="0" marL="0">
              <a:buNone/>
            </a:pPr>
            <a:r>
              <a:rPr lang="en-US" sz="1250" dirty="0">
                <a:solidFill>
                  <a:schemeClr val="accent5"/>
                </a:solidFill>
              </a:rPr>
              <a:t>Healthchecks: o app só sobe quando o db está saudável (depends_on: service_healthy) e fica pronto quando /actuator/health/readiness responde.</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543800" y="1371600"/>
          <a:ext cx="4096512" cy="914400"/>
        </p:xfrm>
        <a:graphic>
          <a:graphicData uri="http://schemas.openxmlformats.org/drawingml/2006/table">
            <a:tbl>
              <a:tblPr/>
              <a:tblGrid>
                <a:gridCol w="1188720"/>
                <a:gridCol w="2907792"/>
              </a:tblGrid>
              <a:tr h="0">
                <a:tc>
                  <a:txBody>
                    <a:bodyPr/>
                    <a:lstStyle/>
                    <a:p>
                      <a:pPr indent="0" marL="0">
                        <a:buNone/>
                      </a:pPr>
                      <a:r>
                        <a:rPr lang="en-US" sz="1300" b="1" dirty="0">
                          <a:solidFill>
                            <a:schemeClr val="tx2"/>
                          </a:solidFill>
                        </a:rPr>
                        <a:t>Serviços</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app, db e adminer (opcional)</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2"/>
                          </a:solidFill>
                        </a:rPr>
                        <a:t>Volumes</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pgdata (dados persistentes) e app-logs (arquivo de log)</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2"/>
                          </a:solidFill>
                        </a:rPr>
                        <a:t>Redes</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frontend com portas publicadas; backend interna, sem acesso externo</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2"/>
                          </a:solidFill>
                        </a:rPr>
                        <a:t>Variáveis</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arquivo .env (modelo .env.example); senha obrigatória</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2"/>
                          </a:solidFill>
                        </a:rPr>
                        <a:t>Ambientes</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 mesmo arquivo sobe staging (8081) e produção (8082) isolados com -p e --env-file</a:t>
                      </a:r>
                      <a:endParaRPr lang="en-US" sz="1300" dirty="0"/>
                    </a:p>
                  </a:txBody>
                  <a:tcPr marL="91440" marR="91440" marT="73152" marB="73152"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Comandos usados e imagem criada</a:t>
            </a:r>
            <a:endParaRPr lang="en-US" sz="3000" dirty="0"/>
          </a:p>
        </p:txBody>
      </p:sp>
      <p:sp>
        <p:nvSpPr>
          <p:cNvPr id="3" name="Terminal"/>
          <p:cNvSpPr/>
          <p:nvPr/>
        </p:nvSpPr>
        <p:spPr>
          <a:xfrm>
            <a:off x="548640" y="1325880"/>
            <a:ext cx="6675120" cy="4846320"/>
          </a:xfrm>
          <a:prstGeom prst="roundRect">
            <a:avLst>
              <a:gd name="adj" fmla="val 1887"/>
            </a:avLst>
          </a:prstGeom>
          <a:solidFill>
            <a:schemeClr val="tx1"/>
          </a:solidFill>
          <a:ln w="12700">
            <a:solidFill>
              <a:schemeClr val="tx1"/>
            </a:solidFill>
            <a:prstDash val="solid"/>
          </a:ln>
        </p:spPr>
      </p:sp>
      <p:sp>
        <p:nvSpPr>
          <p:cNvPr id="4" name="Text 2"/>
          <p:cNvSpPr txBox="1"/>
          <p:nvPr/>
        </p:nvSpPr>
        <p:spPr>
          <a:xfrm>
            <a:off x="777240" y="1554480"/>
            <a:ext cx="6309360" cy="4526280"/>
          </a:xfrm>
          <a:prstGeom prst="rect">
            <a:avLst/>
          </a:prstGeom>
          <a:noFill/>
          <a:ln/>
        </p:spPr>
        <p:txBody>
          <a:bodyPr wrap="square" lIns="0" tIns="0" rIns="0" bIns="0" rtlCol="0" anchor="t"/>
          <a:lstStyle/>
          <a:p>
            <a:pPr indent="0" marL="0">
              <a:spcAft>
                <a:spcPts val="400"/>
              </a:spcAft>
              <a:buNone/>
            </a:pPr>
            <a:r>
              <a:rPr lang="en-US" sz="1350" dirty="0">
                <a:solidFill>
                  <a:schemeClr val="accent4"/>
                </a:solidFill>
                <a:latin typeface="Courier New" pitchFamily="34" charset="0"/>
                <a:ea typeface="Courier New" pitchFamily="34" charset="-122"/>
                <a:cs typeface="Courier New" pitchFamily="34" charset="-120"/>
              </a:rPr>
              <a:t># construir a imagem</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docker build -t cidades-esg-inteligentes .</a:t>
            </a:r>
            <a:endParaRPr lang="en-US" sz="1350" dirty="0"/>
          </a:p>
          <a:p>
            <a:pPr indent="0" marL="0">
              <a:spcAft>
                <a:spcPts val="400"/>
              </a:spcAft>
              <a:buNone/>
            </a:pPr>
            <a:r>
              <a:rPr lang="en-US" sz="1350" dirty="0">
                <a:solidFill>
                  <a:schemeClr val="accent4"/>
                </a:solidFill>
                <a:latin typeface="Courier New" pitchFamily="34" charset="0"/>
                <a:ea typeface="Courier New" pitchFamily="34" charset="-122"/>
                <a:cs typeface="Courier New" pitchFamily="34" charset="-120"/>
              </a:rPr>
              <a:t># subir aplicação + PostgreSQL</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cp .env.example .env</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docker compose up -d --build</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docker compose ps</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docker compose logs -f app</a:t>
            </a:r>
            <a:endParaRPr lang="en-US" sz="1350" dirty="0"/>
          </a:p>
          <a:p>
            <a:pPr indent="0" marL="0">
              <a:spcAft>
                <a:spcPts val="400"/>
              </a:spcAft>
              <a:buNone/>
            </a:pPr>
            <a:r>
              <a:rPr lang="en-US" sz="1350" dirty="0">
                <a:solidFill>
                  <a:schemeClr val="accent4"/>
                </a:solidFill>
                <a:latin typeface="Courier New" pitchFamily="34" charset="0"/>
                <a:ea typeface="Courier New" pitchFamily="34" charset="-122"/>
                <a:cs typeface="Courier New" pitchFamily="34" charset="-120"/>
              </a:rPr>
              <a:t># testar a API de ponta a ponta</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bash scripts/smoke-test.sh \</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  http://localhost:8080 local --escrita</a:t>
            </a:r>
            <a:endParaRPr lang="en-US" sz="1350" dirty="0"/>
          </a:p>
          <a:p>
            <a:pPr indent="0" marL="0">
              <a:spcAft>
                <a:spcPts val="400"/>
              </a:spcAft>
              <a:buNone/>
            </a:pPr>
            <a:r>
              <a:rPr lang="en-US" sz="1350" dirty="0">
                <a:solidFill>
                  <a:schemeClr val="accent4"/>
                </a:solidFill>
                <a:latin typeface="Courier New" pitchFamily="34" charset="0"/>
                <a:ea typeface="Courier New" pitchFamily="34" charset="-122"/>
                <a:cs typeface="Courier New" pitchFamily="34" charset="-120"/>
              </a:rPr>
              <a:t># simular staging e produção lado a lado</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docker compose -p cidades-esg-staging --env-file .env \</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  --env-file envs/staging.env up -d --build</a:t>
            </a:r>
            <a:endParaRPr lang="en-US" sz="1350" dirty="0"/>
          </a:p>
          <a:p>
            <a:pPr indent="0" marL="0">
              <a:spcAft>
                <a:spcPts val="400"/>
              </a:spcAft>
              <a:buNone/>
            </a:pPr>
            <a:r>
              <a:rPr lang="en-US" sz="1350" dirty="0">
                <a:solidFill>
                  <a:schemeClr val="accent4"/>
                </a:solidFill>
                <a:latin typeface="Courier New" pitchFamily="34" charset="0"/>
                <a:ea typeface="Courier New" pitchFamily="34" charset="-122"/>
                <a:cs typeface="Courier New" pitchFamily="34" charset="-120"/>
              </a:rPr>
              <a:t># parar (com -v apaga os dados)</a:t>
            </a:r>
            <a:endParaRPr lang="en-US" sz="1350" dirty="0"/>
          </a:p>
          <a:p>
            <a:pPr indent="0" marL="0">
              <a:spcAft>
                <a:spcPts val="400"/>
              </a:spcAft>
              <a:buNone/>
            </a:pPr>
            <a:r>
              <a:rPr lang="en-US" sz="1350" dirty="0">
                <a:solidFill>
                  <a:schemeClr val="bg1"/>
                </a:solidFill>
                <a:latin typeface="Courier New" pitchFamily="34" charset="0"/>
                <a:ea typeface="Courier New" pitchFamily="34" charset="-122"/>
                <a:cs typeface="Courier New" pitchFamily="34" charset="-120"/>
              </a:rPr>
              <a:t>docker compose down -v</a:t>
            </a:r>
            <a:endParaRPr lang="en-US" sz="1350" dirty="0"/>
          </a:p>
        </p:txBody>
      </p:sp>
      <p:sp>
        <p:nvSpPr>
          <p:cNvPr id="5" name="Shape 3"/>
          <p:cNvSpPr/>
          <p:nvPr/>
        </p:nvSpPr>
        <p:spPr>
          <a:xfrm>
            <a:off x="7543800" y="1325880"/>
            <a:ext cx="4096512" cy="4846320"/>
          </a:xfrm>
          <a:prstGeom prst="roundRect">
            <a:avLst>
              <a:gd name="adj" fmla="val 2232"/>
            </a:avLst>
          </a:prstGeom>
          <a:solidFill>
            <a:schemeClr val="bg2"/>
          </a:solidFill>
          <a:ln w="12700">
            <a:solidFill>
              <a:schemeClr val="bg2"/>
            </a:solidFill>
            <a:prstDash val="solid"/>
          </a:ln>
        </p:spPr>
      </p:sp>
      <p:sp>
        <p:nvSpPr>
          <p:cNvPr id="6" name="Imagem"/>
          <p:cNvSpPr/>
          <p:nvPr/>
        </p:nvSpPr>
        <p:spPr>
          <a:xfrm>
            <a:off x="7772400" y="1554480"/>
            <a:ext cx="685800" cy="685800"/>
          </a:xfrm>
          <a:prstGeom prst="ellipse">
            <a:avLst/>
          </a:prstGeom>
          <a:solidFill>
            <a:schemeClr val="accent3"/>
          </a:solidFill>
          <a:ln w="12700">
            <a:solidFill>
              <a:schemeClr val="accent3"/>
            </a:solidFill>
            <a:prstDash val="solid"/>
          </a:ln>
        </p:spPr>
      </p:sp>
      <p:pic>
        <p:nvPicPr>
          <p:cNvPr id="7" name="Imagem (ícone)" descr="preencoded.png">    </p:cNvPr>
          <p:cNvPicPr>
            <a:picLocks noChangeAspect="1"/>
          </p:cNvPicPr>
          <p:nvPr/>
        </p:nvPicPr>
        <p:blipFill>
          <a:blip r:embed="rId1"/>
          <a:stretch>
            <a:fillRect/>
          </a:stretch>
        </p:blipFill>
        <p:spPr>
          <a:xfrm>
            <a:off x="7943850" y="1725930"/>
            <a:ext cx="342900" cy="342900"/>
          </a:xfrm>
          <a:prstGeom prst="rect">
            <a:avLst/>
          </a:prstGeom>
        </p:spPr>
      </p:pic>
      <p:sp>
        <p:nvSpPr>
          <p:cNvPr id="8" name="Text 5"/>
          <p:cNvSpPr txBox="1"/>
          <p:nvPr/>
        </p:nvSpPr>
        <p:spPr>
          <a:xfrm>
            <a:off x="8595360" y="1719072"/>
            <a:ext cx="2926080" cy="411480"/>
          </a:xfrm>
          <a:prstGeom prst="rect">
            <a:avLst/>
          </a:prstGeom>
          <a:noFill/>
          <a:ln/>
        </p:spPr>
        <p:txBody>
          <a:bodyPr wrap="square" lIns="0" tIns="0" rIns="0" bIns="0" rtlCol="0" anchor="t"/>
          <a:lstStyle/>
          <a:p>
            <a:pPr indent="0" marL="0">
              <a:buNone/>
            </a:pPr>
            <a:r>
              <a:rPr lang="en-US" sz="1700" b="1" dirty="0">
                <a:solidFill>
                  <a:schemeClr val="tx2"/>
                </a:solidFill>
              </a:rPr>
              <a:t>Imagem criada</a:t>
            </a:r>
            <a:endParaRPr lang="en-US" sz="1700" dirty="0"/>
          </a:p>
        </p:txBody>
      </p:sp>
      <p:sp>
        <p:nvSpPr>
          <p:cNvPr id="9" name="Text 6"/>
          <p:cNvSpPr txBox="1"/>
          <p:nvPr/>
        </p:nvSpPr>
        <p:spPr>
          <a:xfrm>
            <a:off x="7772400" y="2423160"/>
            <a:ext cx="3703320" cy="3657600"/>
          </a:xfrm>
          <a:prstGeom prst="rect">
            <a:avLst/>
          </a:prstGeom>
          <a:noFill/>
          <a:ln/>
        </p:spPr>
        <p:txBody>
          <a:bodyPr wrap="square" lIns="0" tIns="0" rIns="0" bIns="0" rtlCol="0" anchor="t"/>
          <a:lstStyle/>
          <a:p>
            <a:pPr indent="0" marL="0">
              <a:spcAft>
                <a:spcPts val="300"/>
              </a:spcAft>
              <a:buNone/>
            </a:pPr>
            <a:r>
              <a:rPr lang="en-US" sz="1350" b="1" dirty="0">
                <a:solidFill>
                  <a:schemeClr val="tx1"/>
                </a:solidFill>
              </a:rPr>
              <a:t>Registro</a:t>
            </a:r>
            <a:endParaRPr lang="en-US" sz="1350" dirty="0"/>
          </a:p>
          <a:p>
            <a:pPr indent="0" marL="0">
              <a:spcAft>
                <a:spcPts val="300"/>
              </a:spcAft>
              <a:buNone/>
            </a:pPr>
            <a:r>
              <a:rPr lang="en-US" sz="1200" dirty="0">
                <a:solidFill>
                  <a:schemeClr val="tx1"/>
                </a:solidFill>
                <a:latin typeface="Courier New" pitchFamily="34" charset="0"/>
                <a:ea typeface="Courier New" pitchFamily="34" charset="-122"/>
                <a:cs typeface="Courier New" pitchFamily="34" charset="-120"/>
              </a:rPr>
              <a:t>ghcr.io/&lt;usuario&gt;/&lt;repositorio&gt;</a:t>
            </a:r>
            <a:endParaRPr lang="en-US" sz="1350" dirty="0"/>
          </a:p>
          <a:p>
            <a:pPr indent="0" marL="0">
              <a:spcAft>
                <a:spcPts val="300"/>
              </a:spcAft>
              <a:buNone/>
            </a:pPr>
            <a:r>
              <a:rPr lang="en-US" sz="1350" b="1" dirty="0">
                <a:solidFill>
                  <a:schemeClr val="tx1"/>
                </a:solidFill>
              </a:rPr>
              <a:t>Tags</a:t>
            </a:r>
            <a:endParaRPr lang="en-US" sz="1350" dirty="0"/>
          </a:p>
          <a:p>
            <a:pPr indent="0" marL="0">
              <a:spcAft>
                <a:spcPts val="300"/>
              </a:spcAft>
              <a:buNone/>
            </a:pPr>
            <a:r>
              <a:rPr lang="en-US" sz="1350" dirty="0">
                <a:solidFill>
                  <a:schemeClr val="tx1"/>
                </a:solidFill>
              </a:rPr>
              <a:t>sha-&lt;commit&gt; (versão rastreável) e latest</a:t>
            </a:r>
            <a:endParaRPr lang="en-US" sz="1350" dirty="0"/>
          </a:p>
          <a:p>
            <a:pPr indent="0" marL="0">
              <a:spcAft>
                <a:spcPts val="300"/>
              </a:spcAft>
              <a:buNone/>
            </a:pPr>
            <a:r>
              <a:rPr lang="en-US" sz="1350" b="1" dirty="0">
                <a:solidFill>
                  <a:schemeClr val="tx1"/>
                </a:solidFill>
              </a:rPr>
              <a:t>Base</a:t>
            </a:r>
            <a:endParaRPr lang="en-US" sz="1350" dirty="0"/>
          </a:p>
          <a:p>
            <a:pPr indent="0" marL="0">
              <a:spcAft>
                <a:spcPts val="300"/>
              </a:spcAft>
              <a:buNone/>
            </a:pPr>
            <a:r>
              <a:rPr lang="en-US" sz="1200" dirty="0">
                <a:solidFill>
                  <a:schemeClr val="tx1"/>
                </a:solidFill>
                <a:latin typeface="Courier New" pitchFamily="34" charset="0"/>
                <a:ea typeface="Courier New" pitchFamily="34" charset="-122"/>
                <a:cs typeface="Courier New" pitchFamily="34" charset="-120"/>
              </a:rPr>
              <a:t>eclipse-temurin:21-jre-alpine</a:t>
            </a:r>
            <a:endParaRPr lang="en-US" sz="1350" dirty="0"/>
          </a:p>
          <a:p>
            <a:pPr indent="0" marL="0">
              <a:spcAft>
                <a:spcPts val="300"/>
              </a:spcAft>
              <a:buNone/>
            </a:pPr>
            <a:r>
              <a:rPr lang="en-US" sz="1350" b="1" dirty="0">
                <a:solidFill>
                  <a:schemeClr val="tx1"/>
                </a:solidFill>
              </a:rPr>
              <a:t>Execução</a:t>
            </a:r>
            <a:endParaRPr lang="en-US" sz="1350" dirty="0"/>
          </a:p>
          <a:p>
            <a:pPr indent="0" marL="0">
              <a:spcAft>
                <a:spcPts val="300"/>
              </a:spcAft>
              <a:buNone/>
            </a:pPr>
            <a:r>
              <a:rPr lang="en-US" sz="1350" dirty="0">
                <a:solidFill>
                  <a:schemeClr val="tx1"/>
                </a:solidFill>
              </a:rPr>
              <a:t>usuário app (sem root), porta 8080, health check em /actuator/health/liveness</a:t>
            </a:r>
            <a:endParaRPr lang="en-US" sz="1350" dirty="0"/>
          </a:p>
          <a:p>
            <a:pPr indent="0" marL="0">
              <a:spcAft>
                <a:spcPts val="300"/>
              </a:spcAft>
              <a:buNone/>
            </a:pPr>
            <a:r>
              <a:rPr lang="en-US" sz="1350" b="1" dirty="0">
                <a:solidFill>
                  <a:schemeClr val="tx1"/>
                </a:solidFill>
              </a:rPr>
              <a:t>Rastreabilidade</a:t>
            </a:r>
            <a:endParaRPr lang="en-US" sz="1350" dirty="0"/>
          </a:p>
          <a:p>
            <a:pPr indent="0" marL="0">
              <a:spcAft>
                <a:spcPts val="300"/>
              </a:spcAft>
              <a:buNone/>
            </a:pPr>
            <a:r>
              <a:rPr lang="en-US" sz="1350" dirty="0">
                <a:solidFill>
                  <a:schemeClr val="tx1"/>
                </a:solidFill>
              </a:rPr>
              <a:t>o commit vai para a imagem (APP_COMMIT) e aparece em /api/info</a:t>
            </a:r>
            <a:endParaRPr lang="en-US" sz="135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Pipeline em execução: visão geral e build</a:t>
            </a:r>
            <a:endParaRPr lang="en-US" sz="3000" dirty="0"/>
          </a:p>
        </p:txBody>
      </p:sp>
      <p:sp>
        <p:nvSpPr>
          <p:cNvPr id="3" name="Shape 1"/>
          <p:cNvSpPr/>
          <p:nvPr/>
        </p:nvSpPr>
        <p:spPr>
          <a:xfrm>
            <a:off x="548640" y="1645920"/>
            <a:ext cx="5367528" cy="3019235"/>
          </a:xfrm>
          <a:prstGeom prst="rect">
            <a:avLst/>
          </a:prstGeom>
          <a:solidFill>
            <a:schemeClr val="bg2"/>
          </a:solidFill>
          <a:ln w="12700">
            <a:solidFill>
              <a:srgbClr val="D9E1DC"/>
            </a:solidFill>
            <a:prstDash val="solid"/>
          </a:ln>
        </p:spPr>
      </p:sp>
      <p:pic>
        <p:nvPicPr>
          <p:cNvPr id="4" name="Print: Pipeline completo" descr="Pipeline completo">    </p:cNvPr>
          <p:cNvPicPr>
            <a:picLocks noChangeAspect="1"/>
          </p:cNvPicPr>
          <p:nvPr/>
        </p:nvPicPr>
        <p:blipFill>
          <a:blip r:embed="rId1"/>
          <a:stretch>
            <a:fillRect/>
          </a:stretch>
        </p:blipFill>
        <p:spPr>
          <a:xfrm>
            <a:off x="548640" y="1645920"/>
            <a:ext cx="5367528" cy="3019235"/>
          </a:xfrm>
          <a:prstGeom prst="rect">
            <a:avLst/>
          </a:prstGeom>
        </p:spPr>
      </p:pic>
      <p:sp>
        <p:nvSpPr>
          <p:cNvPr id="5" name="Text 2"/>
          <p:cNvSpPr txBox="1"/>
          <p:nvPr/>
        </p:nvSpPr>
        <p:spPr>
          <a:xfrm>
            <a:off x="548640"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Pipeline completo</a:t>
            </a:r>
            <a:endParaRPr lang="en-US" sz="1400" dirty="0"/>
          </a:p>
          <a:p>
            <a:pPr indent="0" marL="0">
              <a:buNone/>
            </a:pPr>
            <a:r>
              <a:rPr lang="en-US" sz="1300" dirty="0">
                <a:solidFill>
                  <a:schemeClr val="accent5"/>
                </a:solidFill>
              </a:rPr>
              <a:t>GitHub Actions: os cinco jobs concluídos em uma execução na main</a:t>
            </a:r>
            <a:endParaRPr lang="en-US" sz="1400" dirty="0"/>
          </a:p>
        </p:txBody>
      </p:sp>
      <p:sp>
        <p:nvSpPr>
          <p:cNvPr id="6" name="Shape 3"/>
          <p:cNvSpPr/>
          <p:nvPr/>
        </p:nvSpPr>
        <p:spPr>
          <a:xfrm>
            <a:off x="6272784" y="1645920"/>
            <a:ext cx="5367528" cy="3019235"/>
          </a:xfrm>
          <a:prstGeom prst="rect">
            <a:avLst/>
          </a:prstGeom>
          <a:solidFill>
            <a:schemeClr val="bg2"/>
          </a:solidFill>
          <a:ln w="12700">
            <a:solidFill>
              <a:srgbClr val="D9E1DC"/>
            </a:solidFill>
            <a:prstDash val="solid"/>
          </a:ln>
        </p:spPr>
      </p:sp>
      <p:pic>
        <p:nvPicPr>
          <p:cNvPr id="7" name="Print: Build" descr="Build">    </p:cNvPr>
          <p:cNvPicPr>
            <a:picLocks noChangeAspect="1"/>
          </p:cNvPicPr>
          <p:nvPr/>
        </p:nvPicPr>
        <p:blipFill>
          <a:blip r:embed="rId2"/>
          <a:stretch>
            <a:fillRect/>
          </a:stretch>
        </p:blipFill>
        <p:spPr>
          <a:xfrm>
            <a:off x="6272784" y="1645920"/>
            <a:ext cx="5367528" cy="3019235"/>
          </a:xfrm>
          <a:prstGeom prst="rect">
            <a:avLst/>
          </a:prstGeom>
        </p:spPr>
      </p:pic>
      <p:sp>
        <p:nvSpPr>
          <p:cNvPr id="8" name="Text 4"/>
          <p:cNvSpPr txBox="1"/>
          <p:nvPr/>
        </p:nvSpPr>
        <p:spPr>
          <a:xfrm>
            <a:off x="6272784"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Build</a:t>
            </a:r>
            <a:endParaRPr lang="en-US" sz="1400" dirty="0"/>
          </a:p>
          <a:p>
            <a:pPr indent="0" marL="0">
              <a:buNone/>
            </a:pPr>
            <a:r>
              <a:rPr lang="en-US" sz="1300" dirty="0">
                <a:solidFill>
                  <a:schemeClr val="accent5"/>
                </a:solidFill>
              </a:rPr>
              <a:t>Job Build: compilação com Maven e o JAR guardado como artefato</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Testes automatizados e validação com Docker</a:t>
            </a:r>
            <a:endParaRPr lang="en-US" sz="3000" dirty="0"/>
          </a:p>
        </p:txBody>
      </p:sp>
      <p:sp>
        <p:nvSpPr>
          <p:cNvPr id="3" name="Shape 1"/>
          <p:cNvSpPr/>
          <p:nvPr/>
        </p:nvSpPr>
        <p:spPr>
          <a:xfrm>
            <a:off x="548640" y="1645920"/>
            <a:ext cx="5367528" cy="3019235"/>
          </a:xfrm>
          <a:prstGeom prst="rect">
            <a:avLst/>
          </a:prstGeom>
          <a:solidFill>
            <a:schemeClr val="bg2"/>
          </a:solidFill>
          <a:ln w="12700">
            <a:solidFill>
              <a:srgbClr val="D9E1DC"/>
            </a:solidFill>
            <a:prstDash val="solid"/>
          </a:ln>
        </p:spPr>
      </p:sp>
      <p:pic>
        <p:nvPicPr>
          <p:cNvPr id="4" name="Print: Testes" descr="Testes">    </p:cNvPr>
          <p:cNvPicPr>
            <a:picLocks noChangeAspect="1"/>
          </p:cNvPicPr>
          <p:nvPr/>
        </p:nvPicPr>
        <p:blipFill>
          <a:blip r:embed="rId1"/>
          <a:stretch>
            <a:fillRect/>
          </a:stretch>
        </p:blipFill>
        <p:spPr>
          <a:xfrm>
            <a:off x="548640" y="1645920"/>
            <a:ext cx="5367528" cy="3019235"/>
          </a:xfrm>
          <a:prstGeom prst="rect">
            <a:avLst/>
          </a:prstGeom>
        </p:spPr>
      </p:pic>
      <p:sp>
        <p:nvSpPr>
          <p:cNvPr id="5" name="Text 2"/>
          <p:cNvSpPr txBox="1"/>
          <p:nvPr/>
        </p:nvSpPr>
        <p:spPr>
          <a:xfrm>
            <a:off x="548640"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Testes</a:t>
            </a:r>
            <a:endParaRPr lang="en-US" sz="1400" dirty="0"/>
          </a:p>
          <a:p>
            <a:pPr indent="0" marL="0">
              <a:buNone/>
            </a:pPr>
            <a:r>
              <a:rPr lang="en-US" sz="1300" dirty="0">
                <a:solidFill>
                  <a:schemeClr val="accent5"/>
                </a:solidFill>
              </a:rPr>
              <a:t>Relatório 'Resultado dos testes' e resumo de cobertura (JaCoCo)</a:t>
            </a:r>
            <a:endParaRPr lang="en-US" sz="1400" dirty="0"/>
          </a:p>
        </p:txBody>
      </p:sp>
      <p:sp>
        <p:nvSpPr>
          <p:cNvPr id="6" name="Shape 3"/>
          <p:cNvSpPr/>
          <p:nvPr/>
        </p:nvSpPr>
        <p:spPr>
          <a:xfrm>
            <a:off x="6272784" y="1645920"/>
            <a:ext cx="5367528" cy="3019235"/>
          </a:xfrm>
          <a:prstGeom prst="rect">
            <a:avLst/>
          </a:prstGeom>
          <a:solidFill>
            <a:schemeClr val="bg2"/>
          </a:solidFill>
          <a:ln w="12700">
            <a:solidFill>
              <a:srgbClr val="D9E1DC"/>
            </a:solidFill>
            <a:prstDash val="solid"/>
          </a:ln>
        </p:spPr>
      </p:sp>
      <p:pic>
        <p:nvPicPr>
          <p:cNvPr id="7" name="Print: Docker no CI" descr="Docker no CI">    </p:cNvPr>
          <p:cNvPicPr>
            <a:picLocks noChangeAspect="1"/>
          </p:cNvPicPr>
          <p:nvPr/>
        </p:nvPicPr>
        <p:blipFill>
          <a:blip r:embed="rId2"/>
          <a:stretch>
            <a:fillRect/>
          </a:stretch>
        </p:blipFill>
        <p:spPr>
          <a:xfrm>
            <a:off x="6272784" y="1645920"/>
            <a:ext cx="5367528" cy="3019235"/>
          </a:xfrm>
          <a:prstGeom prst="rect">
            <a:avLst/>
          </a:prstGeom>
        </p:spPr>
      </p:pic>
      <p:sp>
        <p:nvSpPr>
          <p:cNvPr id="8" name="Text 4"/>
          <p:cNvSpPr txBox="1"/>
          <p:nvPr/>
        </p:nvSpPr>
        <p:spPr>
          <a:xfrm>
            <a:off x="6272784"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Docker no CI</a:t>
            </a:r>
            <a:endParaRPr lang="en-US" sz="1400" dirty="0"/>
          </a:p>
          <a:p>
            <a:pPr indent="0" marL="0">
              <a:buNone/>
            </a:pPr>
            <a:r>
              <a:rPr lang="en-US" sz="1300" dirty="0">
                <a:solidFill>
                  <a:schemeClr val="accent5"/>
                </a:solidFill>
              </a:rPr>
              <a:t>Build da imagem, Compose com PostgreSQL e smoke tests aprovados</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Deploy em staging e aprovação para produção</a:t>
            </a:r>
            <a:endParaRPr lang="en-US" sz="3000" dirty="0"/>
          </a:p>
        </p:txBody>
      </p:sp>
      <p:sp>
        <p:nvSpPr>
          <p:cNvPr id="3" name="Shape 1"/>
          <p:cNvSpPr/>
          <p:nvPr/>
        </p:nvSpPr>
        <p:spPr>
          <a:xfrm>
            <a:off x="548640" y="1645920"/>
            <a:ext cx="5367528" cy="3019235"/>
          </a:xfrm>
          <a:prstGeom prst="rect">
            <a:avLst/>
          </a:prstGeom>
          <a:solidFill>
            <a:schemeClr val="bg2"/>
          </a:solidFill>
          <a:ln w="12700">
            <a:solidFill>
              <a:srgbClr val="D9E1DC"/>
            </a:solidFill>
            <a:prstDash val="solid"/>
          </a:ln>
        </p:spPr>
      </p:sp>
      <p:pic>
        <p:nvPicPr>
          <p:cNvPr id="4" name="Print: Deploy em staging" descr="Deploy em staging">    </p:cNvPr>
          <p:cNvPicPr>
            <a:picLocks noChangeAspect="1"/>
          </p:cNvPicPr>
          <p:nvPr/>
        </p:nvPicPr>
        <p:blipFill>
          <a:blip r:embed="rId1"/>
          <a:stretch>
            <a:fillRect/>
          </a:stretch>
        </p:blipFill>
        <p:spPr>
          <a:xfrm>
            <a:off x="548640" y="1645920"/>
            <a:ext cx="5367528" cy="3019235"/>
          </a:xfrm>
          <a:prstGeom prst="rect">
            <a:avLst/>
          </a:prstGeom>
        </p:spPr>
      </p:pic>
      <p:sp>
        <p:nvSpPr>
          <p:cNvPr id="5" name="Text 2"/>
          <p:cNvSpPr txBox="1"/>
          <p:nvPr/>
        </p:nvSpPr>
        <p:spPr>
          <a:xfrm>
            <a:off x="548640"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Deploy em staging</a:t>
            </a:r>
            <a:endParaRPr lang="en-US" sz="1400" dirty="0"/>
          </a:p>
          <a:p>
            <a:pPr indent="0" marL="0">
              <a:buNone/>
            </a:pPr>
            <a:r>
              <a:rPr lang="en-US" sz="1300" dirty="0">
                <a:solidFill>
                  <a:schemeClr val="accent5"/>
                </a:solidFill>
              </a:rPr>
              <a:t>Resumo do deploy com o commit publicado e os smoke tests</a:t>
            </a:r>
            <a:endParaRPr lang="en-US" sz="1400" dirty="0"/>
          </a:p>
        </p:txBody>
      </p:sp>
      <p:sp>
        <p:nvSpPr>
          <p:cNvPr id="6" name="Shape 3"/>
          <p:cNvSpPr/>
          <p:nvPr/>
        </p:nvSpPr>
        <p:spPr>
          <a:xfrm>
            <a:off x="6272784" y="1645920"/>
            <a:ext cx="5367528" cy="3019235"/>
          </a:xfrm>
          <a:prstGeom prst="rect">
            <a:avLst/>
          </a:prstGeom>
          <a:solidFill>
            <a:schemeClr val="bg2"/>
          </a:solidFill>
          <a:ln w="12700">
            <a:solidFill>
              <a:srgbClr val="D9E1DC"/>
            </a:solidFill>
            <a:prstDash val="solid"/>
          </a:ln>
        </p:spPr>
      </p:sp>
      <p:pic>
        <p:nvPicPr>
          <p:cNvPr id="7" name="Print: Aprovação" descr="Aprovação">    </p:cNvPr>
          <p:cNvPicPr>
            <a:picLocks noChangeAspect="1"/>
          </p:cNvPicPr>
          <p:nvPr/>
        </p:nvPicPr>
        <p:blipFill>
          <a:blip r:embed="rId2"/>
          <a:stretch>
            <a:fillRect/>
          </a:stretch>
        </p:blipFill>
        <p:spPr>
          <a:xfrm>
            <a:off x="6272784" y="1645920"/>
            <a:ext cx="5367528" cy="3019235"/>
          </a:xfrm>
          <a:prstGeom prst="rect">
            <a:avLst/>
          </a:prstGeom>
        </p:spPr>
      </p:pic>
      <p:sp>
        <p:nvSpPr>
          <p:cNvPr id="8" name="Text 4"/>
          <p:cNvSpPr txBox="1"/>
          <p:nvPr/>
        </p:nvSpPr>
        <p:spPr>
          <a:xfrm>
            <a:off x="6272784"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Aprovação</a:t>
            </a:r>
            <a:endParaRPr lang="en-US" sz="1400" dirty="0"/>
          </a:p>
          <a:p>
            <a:pPr indent="0" marL="0">
              <a:buNone/>
            </a:pPr>
            <a:r>
              <a:rPr lang="en-US" sz="1300" dirty="0">
                <a:solidFill>
                  <a:schemeClr val="accent5"/>
                </a:solidFill>
              </a:rPr>
              <a:t>Ambiente production aguardando a revisão de um integrante</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Deploy em produção e imagem publicada</a:t>
            </a:r>
            <a:endParaRPr lang="en-US" sz="3000" dirty="0"/>
          </a:p>
        </p:txBody>
      </p:sp>
      <p:sp>
        <p:nvSpPr>
          <p:cNvPr id="3" name="Shape 1"/>
          <p:cNvSpPr/>
          <p:nvPr/>
        </p:nvSpPr>
        <p:spPr>
          <a:xfrm>
            <a:off x="548640" y="1645920"/>
            <a:ext cx="5367528" cy="3019235"/>
          </a:xfrm>
          <a:prstGeom prst="rect">
            <a:avLst/>
          </a:prstGeom>
          <a:solidFill>
            <a:schemeClr val="bg2"/>
          </a:solidFill>
          <a:ln w="12700">
            <a:solidFill>
              <a:srgbClr val="D9E1DC"/>
            </a:solidFill>
            <a:prstDash val="solid"/>
          </a:ln>
        </p:spPr>
      </p:sp>
      <p:pic>
        <p:nvPicPr>
          <p:cNvPr id="4" name="Print: Deploy em produção" descr="Deploy em produção">    </p:cNvPr>
          <p:cNvPicPr>
            <a:picLocks noChangeAspect="1"/>
          </p:cNvPicPr>
          <p:nvPr/>
        </p:nvPicPr>
        <p:blipFill>
          <a:blip r:embed="rId1"/>
          <a:stretch>
            <a:fillRect/>
          </a:stretch>
        </p:blipFill>
        <p:spPr>
          <a:xfrm>
            <a:off x="548640" y="1645920"/>
            <a:ext cx="5367528" cy="3019235"/>
          </a:xfrm>
          <a:prstGeom prst="rect">
            <a:avLst/>
          </a:prstGeom>
        </p:spPr>
      </p:pic>
      <p:sp>
        <p:nvSpPr>
          <p:cNvPr id="5" name="Text 2"/>
          <p:cNvSpPr txBox="1"/>
          <p:nvPr/>
        </p:nvSpPr>
        <p:spPr>
          <a:xfrm>
            <a:off x="548640"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Deploy em produção</a:t>
            </a:r>
            <a:endParaRPr lang="en-US" sz="1400" dirty="0"/>
          </a:p>
          <a:p>
            <a:pPr indent="0" marL="0">
              <a:buNone/>
            </a:pPr>
            <a:r>
              <a:rPr lang="en-US" sz="1300" dirty="0">
                <a:solidFill>
                  <a:schemeClr val="accent5"/>
                </a:solidFill>
              </a:rPr>
              <a:t>Mesmo commit de staging publicado e verificado em produção</a:t>
            </a:r>
            <a:endParaRPr lang="en-US" sz="1400" dirty="0"/>
          </a:p>
        </p:txBody>
      </p:sp>
      <p:sp>
        <p:nvSpPr>
          <p:cNvPr id="6" name="Shape 3"/>
          <p:cNvSpPr/>
          <p:nvPr/>
        </p:nvSpPr>
        <p:spPr>
          <a:xfrm>
            <a:off x="6272784" y="1645920"/>
            <a:ext cx="5367528" cy="3019235"/>
          </a:xfrm>
          <a:prstGeom prst="rect">
            <a:avLst/>
          </a:prstGeom>
          <a:solidFill>
            <a:schemeClr val="bg2"/>
          </a:solidFill>
          <a:ln w="12700">
            <a:solidFill>
              <a:srgbClr val="D9E1DC"/>
            </a:solidFill>
            <a:prstDash val="solid"/>
          </a:ln>
        </p:spPr>
      </p:sp>
      <p:pic>
        <p:nvPicPr>
          <p:cNvPr id="7" name="Print: Imagem no GHCR" descr="Imagem no GHCR">    </p:cNvPr>
          <p:cNvPicPr>
            <a:picLocks noChangeAspect="1"/>
          </p:cNvPicPr>
          <p:nvPr/>
        </p:nvPicPr>
        <p:blipFill>
          <a:blip r:embed="rId2"/>
          <a:stretch>
            <a:fillRect/>
          </a:stretch>
        </p:blipFill>
        <p:spPr>
          <a:xfrm>
            <a:off x="6272784" y="1645920"/>
            <a:ext cx="5367528" cy="3019235"/>
          </a:xfrm>
          <a:prstGeom prst="rect">
            <a:avLst/>
          </a:prstGeom>
        </p:spPr>
      </p:pic>
      <p:sp>
        <p:nvSpPr>
          <p:cNvPr id="8" name="Text 4"/>
          <p:cNvSpPr txBox="1"/>
          <p:nvPr/>
        </p:nvSpPr>
        <p:spPr>
          <a:xfrm>
            <a:off x="6272784"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Imagem no GHCR</a:t>
            </a:r>
            <a:endParaRPr lang="en-US" sz="1400" dirty="0"/>
          </a:p>
          <a:p>
            <a:pPr indent="0" marL="0">
              <a:buNone/>
            </a:pPr>
            <a:r>
              <a:rPr lang="en-US" sz="1300" dirty="0">
                <a:solidFill>
                  <a:schemeClr val="accent5"/>
                </a:solidFill>
              </a:rPr>
              <a:t>Pacote com as tags sha-&lt;commit&gt; e latest</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Ambientes funcionando: staging e produção</a:t>
            </a:r>
            <a:endParaRPr lang="en-US" sz="3000" dirty="0"/>
          </a:p>
        </p:txBody>
      </p:sp>
      <p:sp>
        <p:nvSpPr>
          <p:cNvPr id="3" name="Shape 1"/>
          <p:cNvSpPr/>
          <p:nvPr/>
        </p:nvSpPr>
        <p:spPr>
          <a:xfrm>
            <a:off x="548640" y="1645920"/>
            <a:ext cx="5367528" cy="3019235"/>
          </a:xfrm>
          <a:prstGeom prst="rect">
            <a:avLst/>
          </a:prstGeom>
          <a:solidFill>
            <a:schemeClr val="bg2"/>
          </a:solidFill>
          <a:ln w="12700">
            <a:solidFill>
              <a:srgbClr val="D9E1DC"/>
            </a:solidFill>
            <a:prstDash val="solid"/>
          </a:ln>
        </p:spPr>
      </p:sp>
      <p:pic>
        <p:nvPicPr>
          <p:cNvPr id="4" name="Print: Staging" descr="Staging">    </p:cNvPr>
          <p:cNvPicPr>
            <a:picLocks noChangeAspect="1"/>
          </p:cNvPicPr>
          <p:nvPr/>
        </p:nvPicPr>
        <p:blipFill>
          <a:blip r:embed="rId1"/>
          <a:stretch>
            <a:fillRect/>
          </a:stretch>
        </p:blipFill>
        <p:spPr>
          <a:xfrm>
            <a:off x="548640" y="1645920"/>
            <a:ext cx="5367528" cy="3019235"/>
          </a:xfrm>
          <a:prstGeom prst="rect">
            <a:avLst/>
          </a:prstGeom>
        </p:spPr>
      </p:pic>
      <p:sp>
        <p:nvSpPr>
          <p:cNvPr id="5" name="Text 2"/>
          <p:cNvSpPr txBox="1"/>
          <p:nvPr/>
        </p:nvSpPr>
        <p:spPr>
          <a:xfrm>
            <a:off x="548640"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Staging</a:t>
            </a:r>
            <a:endParaRPr lang="en-US" sz="1400" dirty="0"/>
          </a:p>
          <a:p>
            <a:pPr indent="0" marL="0">
              <a:buNone/>
            </a:pPr>
            <a:r>
              <a:rPr lang="en-US" sz="1300" dirty="0">
                <a:solidFill>
                  <a:schemeClr val="accent5"/>
                </a:solidFill>
              </a:rPr>
              <a:t>Página inicial no Render: faixa amarela, versão e commit</a:t>
            </a:r>
            <a:endParaRPr lang="en-US" sz="1400" dirty="0"/>
          </a:p>
        </p:txBody>
      </p:sp>
      <p:sp>
        <p:nvSpPr>
          <p:cNvPr id="6" name="Shape 3"/>
          <p:cNvSpPr/>
          <p:nvPr/>
        </p:nvSpPr>
        <p:spPr>
          <a:xfrm>
            <a:off x="6272784" y="1645920"/>
            <a:ext cx="5367528" cy="3019235"/>
          </a:xfrm>
          <a:prstGeom prst="rect">
            <a:avLst/>
          </a:prstGeom>
          <a:solidFill>
            <a:schemeClr val="bg2"/>
          </a:solidFill>
          <a:ln w="12700">
            <a:solidFill>
              <a:srgbClr val="D9E1DC"/>
            </a:solidFill>
            <a:prstDash val="solid"/>
          </a:ln>
        </p:spPr>
      </p:sp>
      <p:pic>
        <p:nvPicPr>
          <p:cNvPr id="7" name="Print: Produção" descr="Produção">    </p:cNvPr>
          <p:cNvPicPr>
            <a:picLocks noChangeAspect="1"/>
          </p:cNvPicPr>
          <p:nvPr/>
        </p:nvPicPr>
        <p:blipFill>
          <a:blip r:embed="rId2"/>
          <a:stretch>
            <a:fillRect/>
          </a:stretch>
        </p:blipFill>
        <p:spPr>
          <a:xfrm>
            <a:off x="6272784" y="1645920"/>
            <a:ext cx="5367528" cy="3019235"/>
          </a:xfrm>
          <a:prstGeom prst="rect">
            <a:avLst/>
          </a:prstGeom>
        </p:spPr>
      </p:pic>
      <p:sp>
        <p:nvSpPr>
          <p:cNvPr id="8" name="Text 4"/>
          <p:cNvSpPr txBox="1"/>
          <p:nvPr/>
        </p:nvSpPr>
        <p:spPr>
          <a:xfrm>
            <a:off x="6272784"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Produção</a:t>
            </a:r>
            <a:endParaRPr lang="en-US" sz="1400" dirty="0"/>
          </a:p>
          <a:p>
            <a:pPr indent="0" marL="0">
              <a:buNone/>
            </a:pPr>
            <a:r>
              <a:rPr lang="en-US" sz="1300" dirty="0">
                <a:solidFill>
                  <a:schemeClr val="accent5"/>
                </a:solidFill>
              </a:rPr>
              <a:t>Página inicial no Render: faixa verde, versão e commit</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Infraestrutura no Render e execução local</a:t>
            </a:r>
            <a:endParaRPr lang="en-US" sz="3000" dirty="0"/>
          </a:p>
        </p:txBody>
      </p:sp>
      <p:sp>
        <p:nvSpPr>
          <p:cNvPr id="3" name="Shape 1"/>
          <p:cNvSpPr/>
          <p:nvPr/>
        </p:nvSpPr>
        <p:spPr>
          <a:xfrm>
            <a:off x="548640" y="1645920"/>
            <a:ext cx="5367528" cy="3019235"/>
          </a:xfrm>
          <a:prstGeom prst="rect">
            <a:avLst/>
          </a:prstGeom>
          <a:solidFill>
            <a:schemeClr val="bg2"/>
          </a:solidFill>
          <a:ln w="12700">
            <a:solidFill>
              <a:srgbClr val="D9E1DC"/>
            </a:solidFill>
            <a:prstDash val="solid"/>
          </a:ln>
        </p:spPr>
      </p:sp>
      <p:pic>
        <p:nvPicPr>
          <p:cNvPr id="4" name="Print: Render" descr="Render">    </p:cNvPr>
          <p:cNvPicPr>
            <a:picLocks noChangeAspect="1"/>
          </p:cNvPicPr>
          <p:nvPr/>
        </p:nvPicPr>
        <p:blipFill>
          <a:blip r:embed="rId1"/>
          <a:stretch>
            <a:fillRect/>
          </a:stretch>
        </p:blipFill>
        <p:spPr>
          <a:xfrm>
            <a:off x="548640" y="1645920"/>
            <a:ext cx="5367528" cy="3019235"/>
          </a:xfrm>
          <a:prstGeom prst="rect">
            <a:avLst/>
          </a:prstGeom>
        </p:spPr>
      </p:pic>
      <p:sp>
        <p:nvSpPr>
          <p:cNvPr id="5" name="Text 2"/>
          <p:cNvSpPr txBox="1"/>
          <p:nvPr/>
        </p:nvSpPr>
        <p:spPr>
          <a:xfrm>
            <a:off x="548640"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Render</a:t>
            </a:r>
            <a:endParaRPr lang="en-US" sz="1400" dirty="0"/>
          </a:p>
          <a:p>
            <a:pPr indent="0" marL="0">
              <a:buNone/>
            </a:pPr>
            <a:r>
              <a:rPr lang="en-US" sz="1300" dirty="0">
                <a:solidFill>
                  <a:schemeClr val="accent5"/>
                </a:solidFill>
              </a:rPr>
              <a:t>Serviços de staging e produção e o banco PostgreSQL</a:t>
            </a:r>
            <a:endParaRPr lang="en-US" sz="1400" dirty="0"/>
          </a:p>
        </p:txBody>
      </p:sp>
      <p:sp>
        <p:nvSpPr>
          <p:cNvPr id="6" name="Shape 3"/>
          <p:cNvSpPr/>
          <p:nvPr/>
        </p:nvSpPr>
        <p:spPr>
          <a:xfrm>
            <a:off x="6272784" y="1645920"/>
            <a:ext cx="5367528" cy="3019235"/>
          </a:xfrm>
          <a:prstGeom prst="rect">
            <a:avLst/>
          </a:prstGeom>
          <a:solidFill>
            <a:schemeClr val="bg2"/>
          </a:solidFill>
          <a:ln w="12700">
            <a:solidFill>
              <a:srgbClr val="D9E1DC"/>
            </a:solidFill>
            <a:prstDash val="solid"/>
          </a:ln>
        </p:spPr>
      </p:sp>
      <p:pic>
        <p:nvPicPr>
          <p:cNvPr id="7" name="Print: Docker Compose local" descr="Docker Compose local">    </p:cNvPr>
          <p:cNvPicPr>
            <a:picLocks noChangeAspect="1"/>
          </p:cNvPicPr>
          <p:nvPr/>
        </p:nvPicPr>
        <p:blipFill>
          <a:blip r:embed="rId2"/>
          <a:stretch>
            <a:fillRect/>
          </a:stretch>
        </p:blipFill>
        <p:spPr>
          <a:xfrm>
            <a:off x="6272784" y="1645920"/>
            <a:ext cx="5367528" cy="3019235"/>
          </a:xfrm>
          <a:prstGeom prst="rect">
            <a:avLst/>
          </a:prstGeom>
        </p:spPr>
      </p:pic>
      <p:sp>
        <p:nvSpPr>
          <p:cNvPr id="8" name="Text 4"/>
          <p:cNvSpPr txBox="1"/>
          <p:nvPr/>
        </p:nvSpPr>
        <p:spPr>
          <a:xfrm>
            <a:off x="6272784" y="4848035"/>
            <a:ext cx="5367528" cy="1005840"/>
          </a:xfrm>
          <a:prstGeom prst="rect">
            <a:avLst/>
          </a:prstGeom>
          <a:noFill/>
          <a:ln/>
        </p:spPr>
        <p:txBody>
          <a:bodyPr wrap="square" lIns="0" tIns="0" rIns="0" bIns="0" rtlCol="0" anchor="t"/>
          <a:lstStyle/>
          <a:p>
            <a:pPr indent="0" marL="0">
              <a:buNone/>
            </a:pPr>
            <a:r>
              <a:rPr lang="en-US" sz="1600" b="1" dirty="0">
                <a:solidFill>
                  <a:schemeClr val="tx2"/>
                </a:solidFill>
              </a:rPr>
              <a:t>Docker Compose local</a:t>
            </a:r>
            <a:endParaRPr lang="en-US" sz="1400" dirty="0"/>
          </a:p>
          <a:p>
            <a:pPr indent="0" marL="0">
              <a:buNone/>
            </a:pPr>
            <a:r>
              <a:rPr lang="en-US" sz="1300" dirty="0">
                <a:solidFill>
                  <a:schemeClr val="accent5"/>
                </a:solidFill>
              </a:rPr>
              <a:t>docker compose ps com app e db saudáveis</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Desafios encontrados e como resolvemos</a:t>
            </a:r>
            <a:endParaRPr lang="en-US" sz="3000" dirty="0"/>
          </a:p>
        </p:txBody>
      </p:sp>
      <p:sp>
        <p:nvSpPr>
          <p:cNvPr id="3" name="Shape 1"/>
          <p:cNvSpPr/>
          <p:nvPr/>
        </p:nvSpPr>
        <p:spPr>
          <a:xfrm>
            <a:off x="548640" y="1371600"/>
            <a:ext cx="3538728" cy="2194560"/>
          </a:xfrm>
          <a:prstGeom prst="roundRect">
            <a:avLst>
              <a:gd name="adj" fmla="val 4167"/>
            </a:avLst>
          </a:prstGeom>
          <a:solidFill>
            <a:schemeClr val="bg2"/>
          </a:solidFill>
          <a:ln w="12700">
            <a:solidFill>
              <a:schemeClr val="bg2"/>
            </a:solidFill>
            <a:prstDash val="solid"/>
          </a:ln>
        </p:spPr>
      </p:sp>
      <p:sp>
        <p:nvSpPr>
          <p:cNvPr id="4" name="Só 1 banco gratuito no Render"/>
          <p:cNvSpPr/>
          <p:nvPr/>
        </p:nvSpPr>
        <p:spPr>
          <a:xfrm>
            <a:off x="777240" y="1600200"/>
            <a:ext cx="640080" cy="640080"/>
          </a:xfrm>
          <a:prstGeom prst="ellipse">
            <a:avLst/>
          </a:prstGeom>
          <a:solidFill>
            <a:schemeClr val="accent1"/>
          </a:solidFill>
          <a:ln w="12700">
            <a:solidFill>
              <a:schemeClr val="accent1"/>
            </a:solidFill>
            <a:prstDash val="solid"/>
          </a:ln>
        </p:spPr>
      </p:sp>
      <p:pic>
        <p:nvPicPr>
          <p:cNvPr id="5" name="Só 1 banco gratuito no Render (ícone)" descr="preencoded.png">    </p:cNvPr>
          <p:cNvPicPr>
            <a:picLocks noChangeAspect="1"/>
          </p:cNvPicPr>
          <p:nvPr/>
        </p:nvPicPr>
        <p:blipFill>
          <a:blip r:embed="rId1"/>
          <a:stretch>
            <a:fillRect/>
          </a:stretch>
        </p:blipFill>
        <p:spPr>
          <a:xfrm>
            <a:off x="937260" y="1760220"/>
            <a:ext cx="320040" cy="320040"/>
          </a:xfrm>
          <a:prstGeom prst="rect">
            <a:avLst/>
          </a:prstGeom>
        </p:spPr>
      </p:pic>
      <p:sp>
        <p:nvSpPr>
          <p:cNvPr id="6" name="Text 3"/>
          <p:cNvSpPr txBox="1"/>
          <p:nvPr/>
        </p:nvSpPr>
        <p:spPr>
          <a:xfrm>
            <a:off x="1554480" y="1645920"/>
            <a:ext cx="2377440" cy="594360"/>
          </a:xfrm>
          <a:prstGeom prst="rect">
            <a:avLst/>
          </a:prstGeom>
          <a:noFill/>
          <a:ln/>
        </p:spPr>
        <p:txBody>
          <a:bodyPr wrap="square" lIns="0" tIns="0" rIns="0" bIns="0" rtlCol="0" anchor="ctr"/>
          <a:lstStyle/>
          <a:p>
            <a:pPr indent="0" marL="0">
              <a:buNone/>
            </a:pPr>
            <a:r>
              <a:rPr lang="en-US" sz="1550" b="1" dirty="0">
                <a:solidFill>
                  <a:schemeClr val="tx2"/>
                </a:solidFill>
              </a:rPr>
              <a:t>Só 1 banco gratuito no Render</a:t>
            </a:r>
            <a:endParaRPr lang="en-US" sz="1550" dirty="0"/>
          </a:p>
        </p:txBody>
      </p:sp>
      <p:sp>
        <p:nvSpPr>
          <p:cNvPr id="7" name="Text 4"/>
          <p:cNvSpPr txBox="1"/>
          <p:nvPr/>
        </p:nvSpPr>
        <p:spPr>
          <a:xfrm>
            <a:off x="777240" y="2423160"/>
            <a:ext cx="3108960" cy="1051560"/>
          </a:xfrm>
          <a:prstGeom prst="rect">
            <a:avLst/>
          </a:prstGeom>
          <a:noFill/>
          <a:ln/>
        </p:spPr>
        <p:txBody>
          <a:bodyPr wrap="square" lIns="0" tIns="0" rIns="0" bIns="0" rtlCol="0" anchor="t"/>
          <a:lstStyle/>
          <a:p>
            <a:pPr indent="0" marL="0">
              <a:buNone/>
            </a:pPr>
            <a:r>
              <a:rPr lang="en-US" sz="1500" dirty="0">
                <a:solidFill>
                  <a:schemeClr val="tx1"/>
                </a:solidFill>
              </a:rPr>
              <a:t>Cada ambiente usa um schema próprio (DB_SCHEMA), criado e migrado pelo Flyway.</a:t>
            </a:r>
            <a:endParaRPr lang="en-US" sz="1500" dirty="0"/>
          </a:p>
        </p:txBody>
      </p:sp>
      <p:sp>
        <p:nvSpPr>
          <p:cNvPr id="8" name="Shape 5"/>
          <p:cNvSpPr/>
          <p:nvPr/>
        </p:nvSpPr>
        <p:spPr>
          <a:xfrm>
            <a:off x="4325112" y="1371600"/>
            <a:ext cx="3538728" cy="2194560"/>
          </a:xfrm>
          <a:prstGeom prst="roundRect">
            <a:avLst>
              <a:gd name="adj" fmla="val 4167"/>
            </a:avLst>
          </a:prstGeom>
          <a:solidFill>
            <a:schemeClr val="bg2"/>
          </a:solidFill>
          <a:ln w="12700">
            <a:solidFill>
              <a:schemeClr val="bg2"/>
            </a:solidFill>
            <a:prstDash val="solid"/>
          </a:ln>
        </p:spPr>
      </p:sp>
      <p:sp>
        <p:nvSpPr>
          <p:cNvPr id="9" name="Produção igual a staging"/>
          <p:cNvSpPr/>
          <p:nvPr/>
        </p:nvSpPr>
        <p:spPr>
          <a:xfrm>
            <a:off x="4553712" y="1600200"/>
            <a:ext cx="640080" cy="640080"/>
          </a:xfrm>
          <a:prstGeom prst="ellipse">
            <a:avLst/>
          </a:prstGeom>
          <a:solidFill>
            <a:schemeClr val="accent1"/>
          </a:solidFill>
          <a:ln w="12700">
            <a:solidFill>
              <a:schemeClr val="accent1"/>
            </a:solidFill>
            <a:prstDash val="solid"/>
          </a:ln>
        </p:spPr>
      </p:sp>
      <p:pic>
        <p:nvPicPr>
          <p:cNvPr id="10" name="Produção igual a staging (ícone)" descr="preencoded.png">    </p:cNvPr>
          <p:cNvPicPr>
            <a:picLocks noChangeAspect="1"/>
          </p:cNvPicPr>
          <p:nvPr/>
        </p:nvPicPr>
        <p:blipFill>
          <a:blip r:embed="rId2"/>
          <a:stretch>
            <a:fillRect/>
          </a:stretch>
        </p:blipFill>
        <p:spPr>
          <a:xfrm>
            <a:off x="4713732" y="1760220"/>
            <a:ext cx="320040" cy="320040"/>
          </a:xfrm>
          <a:prstGeom prst="rect">
            <a:avLst/>
          </a:prstGeom>
        </p:spPr>
      </p:pic>
      <p:sp>
        <p:nvSpPr>
          <p:cNvPr id="11" name="Text 7"/>
          <p:cNvSpPr txBox="1"/>
          <p:nvPr/>
        </p:nvSpPr>
        <p:spPr>
          <a:xfrm>
            <a:off x="5330952" y="1645920"/>
            <a:ext cx="2377440" cy="594360"/>
          </a:xfrm>
          <a:prstGeom prst="rect">
            <a:avLst/>
          </a:prstGeom>
          <a:noFill/>
          <a:ln/>
        </p:spPr>
        <p:txBody>
          <a:bodyPr wrap="square" lIns="0" tIns="0" rIns="0" bIns="0" rtlCol="0" anchor="ctr"/>
          <a:lstStyle/>
          <a:p>
            <a:pPr indent="0" marL="0">
              <a:buNone/>
            </a:pPr>
            <a:r>
              <a:rPr lang="en-US" sz="1550" b="1" dirty="0">
                <a:solidFill>
                  <a:schemeClr val="tx2"/>
                </a:solidFill>
              </a:rPr>
              <a:t>Produção igual a staging</a:t>
            </a:r>
            <a:endParaRPr lang="en-US" sz="1550" dirty="0"/>
          </a:p>
        </p:txBody>
      </p:sp>
      <p:sp>
        <p:nvSpPr>
          <p:cNvPr id="12" name="Text 8"/>
          <p:cNvSpPr txBox="1"/>
          <p:nvPr/>
        </p:nvSpPr>
        <p:spPr>
          <a:xfrm>
            <a:off x="4553712" y="2423160"/>
            <a:ext cx="3108960" cy="1051560"/>
          </a:xfrm>
          <a:prstGeom prst="rect">
            <a:avLst/>
          </a:prstGeom>
          <a:noFill/>
          <a:ln/>
        </p:spPr>
        <p:txBody>
          <a:bodyPr wrap="square" lIns="0" tIns="0" rIns="0" bIns="0" rtlCol="0" anchor="t"/>
          <a:lstStyle/>
          <a:p>
            <a:pPr indent="0" marL="0">
              <a:buNone/>
            </a:pPr>
            <a:r>
              <a:rPr lang="en-US" sz="1500" dirty="0">
                <a:solidFill>
                  <a:schemeClr val="tx1"/>
                </a:solidFill>
              </a:rPr>
              <a:t>O mesmo commit vai para os dois deploy hooks (ref=&lt;sha&gt;).</a:t>
            </a:r>
            <a:endParaRPr lang="en-US" sz="1500" dirty="0"/>
          </a:p>
        </p:txBody>
      </p:sp>
      <p:sp>
        <p:nvSpPr>
          <p:cNvPr id="13" name="Shape 9"/>
          <p:cNvSpPr/>
          <p:nvPr/>
        </p:nvSpPr>
        <p:spPr>
          <a:xfrm>
            <a:off x="8101584" y="1371600"/>
            <a:ext cx="3538728" cy="2194560"/>
          </a:xfrm>
          <a:prstGeom prst="roundRect">
            <a:avLst>
              <a:gd name="adj" fmla="val 4167"/>
            </a:avLst>
          </a:prstGeom>
          <a:solidFill>
            <a:schemeClr val="bg2"/>
          </a:solidFill>
          <a:ln w="12700">
            <a:solidFill>
              <a:schemeClr val="bg2"/>
            </a:solidFill>
            <a:prstDash val="solid"/>
          </a:ln>
        </p:spPr>
      </p:sp>
      <p:sp>
        <p:nvSpPr>
          <p:cNvPr id="14" name="Saber quando o deploy terminou"/>
          <p:cNvSpPr/>
          <p:nvPr/>
        </p:nvSpPr>
        <p:spPr>
          <a:xfrm>
            <a:off x="8330184" y="1600200"/>
            <a:ext cx="640080" cy="640080"/>
          </a:xfrm>
          <a:prstGeom prst="ellipse">
            <a:avLst/>
          </a:prstGeom>
          <a:solidFill>
            <a:schemeClr val="accent1"/>
          </a:solidFill>
          <a:ln w="12700">
            <a:solidFill>
              <a:schemeClr val="accent1"/>
            </a:solidFill>
            <a:prstDash val="solid"/>
          </a:ln>
        </p:spPr>
      </p:sp>
      <p:pic>
        <p:nvPicPr>
          <p:cNvPr id="15" name="Saber quando o deploy terminou (ícone)" descr="preencoded.png">    </p:cNvPr>
          <p:cNvPicPr>
            <a:picLocks noChangeAspect="1"/>
          </p:cNvPicPr>
          <p:nvPr/>
        </p:nvPicPr>
        <p:blipFill>
          <a:blip r:embed="rId3"/>
          <a:stretch>
            <a:fillRect/>
          </a:stretch>
        </p:blipFill>
        <p:spPr>
          <a:xfrm>
            <a:off x="8490204" y="1760220"/>
            <a:ext cx="320040" cy="320040"/>
          </a:xfrm>
          <a:prstGeom prst="rect">
            <a:avLst/>
          </a:prstGeom>
        </p:spPr>
      </p:pic>
      <p:sp>
        <p:nvSpPr>
          <p:cNvPr id="16" name="Text 11"/>
          <p:cNvSpPr txBox="1"/>
          <p:nvPr/>
        </p:nvSpPr>
        <p:spPr>
          <a:xfrm>
            <a:off x="9107424" y="1645920"/>
            <a:ext cx="2377440" cy="594360"/>
          </a:xfrm>
          <a:prstGeom prst="rect">
            <a:avLst/>
          </a:prstGeom>
          <a:noFill/>
          <a:ln/>
        </p:spPr>
        <p:txBody>
          <a:bodyPr wrap="square" lIns="0" tIns="0" rIns="0" bIns="0" rtlCol="0" anchor="ctr"/>
          <a:lstStyle/>
          <a:p>
            <a:pPr indent="0" marL="0">
              <a:buNone/>
            </a:pPr>
            <a:r>
              <a:rPr lang="en-US" sz="1550" b="1" dirty="0">
                <a:solidFill>
                  <a:schemeClr val="tx2"/>
                </a:solidFill>
              </a:rPr>
              <a:t>Saber quando o deploy terminou</a:t>
            </a:r>
            <a:endParaRPr lang="en-US" sz="1550" dirty="0"/>
          </a:p>
        </p:txBody>
      </p:sp>
      <p:sp>
        <p:nvSpPr>
          <p:cNvPr id="17" name="Text 12"/>
          <p:cNvSpPr txBox="1"/>
          <p:nvPr/>
        </p:nvSpPr>
        <p:spPr>
          <a:xfrm>
            <a:off x="8330184" y="2423160"/>
            <a:ext cx="3108960" cy="1051560"/>
          </a:xfrm>
          <a:prstGeom prst="rect">
            <a:avLst/>
          </a:prstGeom>
          <a:noFill/>
          <a:ln/>
        </p:spPr>
        <p:txBody>
          <a:bodyPr wrap="square" lIns="0" tIns="0" rIns="0" bIns="0" rtlCol="0" anchor="t"/>
          <a:lstStyle/>
          <a:p>
            <a:pPr indent="0" marL="0">
              <a:buNone/>
            </a:pPr>
            <a:r>
              <a:rPr lang="en-US" sz="1500" dirty="0">
                <a:solidFill>
                  <a:schemeClr val="tx1"/>
                </a:solidFill>
              </a:rPr>
              <a:t>O pipeline consulta /api/info até o commit novo responder, com tempo limite.</a:t>
            </a:r>
            <a:endParaRPr lang="en-US" sz="1500" dirty="0"/>
          </a:p>
        </p:txBody>
      </p:sp>
      <p:sp>
        <p:nvSpPr>
          <p:cNvPr id="18" name="Shape 13"/>
          <p:cNvSpPr/>
          <p:nvPr/>
        </p:nvSpPr>
        <p:spPr>
          <a:xfrm>
            <a:off x="548640" y="3794760"/>
            <a:ext cx="3538728" cy="2194560"/>
          </a:xfrm>
          <a:prstGeom prst="roundRect">
            <a:avLst>
              <a:gd name="adj" fmla="val 4167"/>
            </a:avLst>
          </a:prstGeom>
          <a:solidFill>
            <a:schemeClr val="bg2"/>
          </a:solidFill>
          <a:ln w="12700">
            <a:solidFill>
              <a:schemeClr val="bg2"/>
            </a:solidFill>
            <a:prstDash val="solid"/>
          </a:ln>
        </p:spPr>
      </p:sp>
      <p:sp>
        <p:nvSpPr>
          <p:cNvPr id="19" name="512 MB e 0,1 CPU"/>
          <p:cNvSpPr/>
          <p:nvPr/>
        </p:nvSpPr>
        <p:spPr>
          <a:xfrm>
            <a:off x="777240" y="4023360"/>
            <a:ext cx="640080" cy="640080"/>
          </a:xfrm>
          <a:prstGeom prst="ellipse">
            <a:avLst/>
          </a:prstGeom>
          <a:solidFill>
            <a:schemeClr val="accent1"/>
          </a:solidFill>
          <a:ln w="12700">
            <a:solidFill>
              <a:schemeClr val="accent1"/>
            </a:solidFill>
            <a:prstDash val="solid"/>
          </a:ln>
        </p:spPr>
      </p:sp>
      <p:pic>
        <p:nvPicPr>
          <p:cNvPr id="20" name="512 MB e 0,1 CPU (ícone)" descr="preencoded.png">    </p:cNvPr>
          <p:cNvPicPr>
            <a:picLocks noChangeAspect="1"/>
          </p:cNvPicPr>
          <p:nvPr/>
        </p:nvPicPr>
        <p:blipFill>
          <a:blip r:embed="rId4"/>
          <a:stretch>
            <a:fillRect/>
          </a:stretch>
        </p:blipFill>
        <p:spPr>
          <a:xfrm>
            <a:off x="937260" y="4183380"/>
            <a:ext cx="320040" cy="320040"/>
          </a:xfrm>
          <a:prstGeom prst="rect">
            <a:avLst/>
          </a:prstGeom>
        </p:spPr>
      </p:pic>
      <p:sp>
        <p:nvSpPr>
          <p:cNvPr id="21" name="Text 15"/>
          <p:cNvSpPr txBox="1"/>
          <p:nvPr/>
        </p:nvSpPr>
        <p:spPr>
          <a:xfrm>
            <a:off x="1554480" y="4069080"/>
            <a:ext cx="2377440" cy="594360"/>
          </a:xfrm>
          <a:prstGeom prst="rect">
            <a:avLst/>
          </a:prstGeom>
          <a:noFill/>
          <a:ln/>
        </p:spPr>
        <p:txBody>
          <a:bodyPr wrap="square" lIns="0" tIns="0" rIns="0" bIns="0" rtlCol="0" anchor="ctr"/>
          <a:lstStyle/>
          <a:p>
            <a:pPr indent="0" marL="0">
              <a:buNone/>
            </a:pPr>
            <a:r>
              <a:rPr lang="en-US" sz="1550" b="1" dirty="0">
                <a:solidFill>
                  <a:schemeClr val="tx2"/>
                </a:solidFill>
              </a:rPr>
              <a:t>512 MB e 0,1 CPU</a:t>
            </a:r>
            <a:endParaRPr lang="en-US" sz="1550" dirty="0"/>
          </a:p>
        </p:txBody>
      </p:sp>
      <p:sp>
        <p:nvSpPr>
          <p:cNvPr id="22" name="Text 16"/>
          <p:cNvSpPr txBox="1"/>
          <p:nvPr/>
        </p:nvSpPr>
        <p:spPr>
          <a:xfrm>
            <a:off x="777240" y="4846320"/>
            <a:ext cx="3108960" cy="1051560"/>
          </a:xfrm>
          <a:prstGeom prst="rect">
            <a:avLst/>
          </a:prstGeom>
          <a:noFill/>
          <a:ln/>
        </p:spPr>
        <p:txBody>
          <a:bodyPr wrap="square" lIns="0" tIns="0" rIns="0" bIns="0" rtlCol="0" anchor="t"/>
          <a:lstStyle/>
          <a:p>
            <a:pPr indent="0" marL="0">
              <a:buNone/>
            </a:pPr>
            <a:r>
              <a:rPr lang="en-US" sz="1500" dirty="0">
                <a:solidFill>
                  <a:schemeClr val="tx1"/>
                </a:solidFill>
              </a:rPr>
              <a:t>JVM ajustada para container, pool de conexões pequeno e imagem JRE Alpine.</a:t>
            </a:r>
            <a:endParaRPr lang="en-US" sz="1500" dirty="0"/>
          </a:p>
        </p:txBody>
      </p:sp>
      <p:sp>
        <p:nvSpPr>
          <p:cNvPr id="23" name="Shape 17"/>
          <p:cNvSpPr/>
          <p:nvPr/>
        </p:nvSpPr>
        <p:spPr>
          <a:xfrm>
            <a:off x="4325112" y="3794760"/>
            <a:ext cx="3538728" cy="2194560"/>
          </a:xfrm>
          <a:prstGeom prst="roundRect">
            <a:avLst>
              <a:gd name="adj" fmla="val 4167"/>
            </a:avLst>
          </a:prstGeom>
          <a:solidFill>
            <a:schemeClr val="bg2"/>
          </a:solidFill>
          <a:ln w="12700">
            <a:solidFill>
              <a:schemeClr val="bg2"/>
            </a:solidFill>
            <a:prstDash val="solid"/>
          </a:ln>
        </p:spPr>
      </p:sp>
      <p:sp>
        <p:nvSpPr>
          <p:cNvPr id="24" name="Testar com o banco real"/>
          <p:cNvSpPr/>
          <p:nvPr/>
        </p:nvSpPr>
        <p:spPr>
          <a:xfrm>
            <a:off x="4553712" y="4023360"/>
            <a:ext cx="640080" cy="640080"/>
          </a:xfrm>
          <a:prstGeom prst="ellipse">
            <a:avLst/>
          </a:prstGeom>
          <a:solidFill>
            <a:schemeClr val="accent1"/>
          </a:solidFill>
          <a:ln w="12700">
            <a:solidFill>
              <a:schemeClr val="accent1"/>
            </a:solidFill>
            <a:prstDash val="solid"/>
          </a:ln>
        </p:spPr>
      </p:sp>
      <p:pic>
        <p:nvPicPr>
          <p:cNvPr id="25" name="Testar com o banco real (ícone)" descr="preencoded.png">    </p:cNvPr>
          <p:cNvPicPr>
            <a:picLocks noChangeAspect="1"/>
          </p:cNvPicPr>
          <p:nvPr/>
        </p:nvPicPr>
        <p:blipFill>
          <a:blip r:embed="rId5"/>
          <a:stretch>
            <a:fillRect/>
          </a:stretch>
        </p:blipFill>
        <p:spPr>
          <a:xfrm>
            <a:off x="4713732" y="4183380"/>
            <a:ext cx="320040" cy="320040"/>
          </a:xfrm>
          <a:prstGeom prst="rect">
            <a:avLst/>
          </a:prstGeom>
        </p:spPr>
      </p:pic>
      <p:sp>
        <p:nvSpPr>
          <p:cNvPr id="26" name="Text 19"/>
          <p:cNvSpPr txBox="1"/>
          <p:nvPr/>
        </p:nvSpPr>
        <p:spPr>
          <a:xfrm>
            <a:off x="5330952" y="4069080"/>
            <a:ext cx="2377440" cy="594360"/>
          </a:xfrm>
          <a:prstGeom prst="rect">
            <a:avLst/>
          </a:prstGeom>
          <a:noFill/>
          <a:ln/>
        </p:spPr>
        <p:txBody>
          <a:bodyPr wrap="square" lIns="0" tIns="0" rIns="0" bIns="0" rtlCol="0" anchor="ctr"/>
          <a:lstStyle/>
          <a:p>
            <a:pPr indent="0" marL="0">
              <a:buNone/>
            </a:pPr>
            <a:r>
              <a:rPr lang="en-US" sz="1550" b="1" dirty="0">
                <a:solidFill>
                  <a:schemeClr val="tx2"/>
                </a:solidFill>
              </a:rPr>
              <a:t>Testar com o banco real</a:t>
            </a:r>
            <a:endParaRPr lang="en-US" sz="1550" dirty="0"/>
          </a:p>
        </p:txBody>
      </p:sp>
      <p:sp>
        <p:nvSpPr>
          <p:cNvPr id="27" name="Text 20"/>
          <p:cNvSpPr txBox="1"/>
          <p:nvPr/>
        </p:nvSpPr>
        <p:spPr>
          <a:xfrm>
            <a:off x="4553712" y="4846320"/>
            <a:ext cx="3108960" cy="1051560"/>
          </a:xfrm>
          <a:prstGeom prst="rect">
            <a:avLst/>
          </a:prstGeom>
          <a:noFill/>
          <a:ln/>
        </p:spPr>
        <p:txBody>
          <a:bodyPr wrap="square" lIns="0" tIns="0" rIns="0" bIns="0" rtlCol="0" anchor="t"/>
          <a:lstStyle/>
          <a:p>
            <a:pPr indent="0" marL="0">
              <a:buNone/>
            </a:pPr>
            <a:r>
              <a:rPr lang="en-US" sz="1500" dirty="0">
                <a:solidFill>
                  <a:schemeClr val="tx1"/>
                </a:solidFill>
              </a:rPr>
              <a:t>PostgreSQL como service container nos testes e Compose com smoke tests no CI.</a:t>
            </a:r>
            <a:endParaRPr lang="en-US" sz="1500" dirty="0"/>
          </a:p>
        </p:txBody>
      </p:sp>
      <p:sp>
        <p:nvSpPr>
          <p:cNvPr id="28" name="Shape 21"/>
          <p:cNvSpPr/>
          <p:nvPr/>
        </p:nvSpPr>
        <p:spPr>
          <a:xfrm>
            <a:off x="8101584" y="3794760"/>
            <a:ext cx="3538728" cy="2194560"/>
          </a:xfrm>
          <a:prstGeom prst="roundRect">
            <a:avLst>
              <a:gd name="adj" fmla="val 4167"/>
            </a:avLst>
          </a:prstGeom>
          <a:solidFill>
            <a:schemeClr val="bg2"/>
          </a:solidFill>
          <a:ln w="12700">
            <a:solidFill>
              <a:schemeClr val="bg2"/>
            </a:solidFill>
            <a:prstDash val="solid"/>
          </a:ln>
        </p:spPr>
      </p:sp>
      <p:sp>
        <p:nvSpPr>
          <p:cNvPr id="29" name="Segredos fora do código"/>
          <p:cNvSpPr/>
          <p:nvPr/>
        </p:nvSpPr>
        <p:spPr>
          <a:xfrm>
            <a:off x="8330184" y="4023360"/>
            <a:ext cx="640080" cy="640080"/>
          </a:xfrm>
          <a:prstGeom prst="ellipse">
            <a:avLst/>
          </a:prstGeom>
          <a:solidFill>
            <a:schemeClr val="accent1"/>
          </a:solidFill>
          <a:ln w="12700">
            <a:solidFill>
              <a:schemeClr val="accent1"/>
            </a:solidFill>
            <a:prstDash val="solid"/>
          </a:ln>
        </p:spPr>
      </p:sp>
      <p:pic>
        <p:nvPicPr>
          <p:cNvPr id="30" name="Segredos fora do código (ícone)" descr="preencoded.png">    </p:cNvPr>
          <p:cNvPicPr>
            <a:picLocks noChangeAspect="1"/>
          </p:cNvPicPr>
          <p:nvPr/>
        </p:nvPicPr>
        <p:blipFill>
          <a:blip r:embed="rId6"/>
          <a:stretch>
            <a:fillRect/>
          </a:stretch>
        </p:blipFill>
        <p:spPr>
          <a:xfrm>
            <a:off x="8490204" y="4183380"/>
            <a:ext cx="320040" cy="320040"/>
          </a:xfrm>
          <a:prstGeom prst="rect">
            <a:avLst/>
          </a:prstGeom>
        </p:spPr>
      </p:pic>
      <p:sp>
        <p:nvSpPr>
          <p:cNvPr id="31" name="Text 23"/>
          <p:cNvSpPr txBox="1"/>
          <p:nvPr/>
        </p:nvSpPr>
        <p:spPr>
          <a:xfrm>
            <a:off x="9107424" y="4069080"/>
            <a:ext cx="2377440" cy="594360"/>
          </a:xfrm>
          <a:prstGeom prst="rect">
            <a:avLst/>
          </a:prstGeom>
          <a:noFill/>
          <a:ln/>
        </p:spPr>
        <p:txBody>
          <a:bodyPr wrap="square" lIns="0" tIns="0" rIns="0" bIns="0" rtlCol="0" anchor="ctr"/>
          <a:lstStyle/>
          <a:p>
            <a:pPr indent="0" marL="0">
              <a:buNone/>
            </a:pPr>
            <a:r>
              <a:rPr lang="en-US" sz="1550" b="1" dirty="0">
                <a:solidFill>
                  <a:schemeClr val="tx2"/>
                </a:solidFill>
              </a:rPr>
              <a:t>Segredos fora do código</a:t>
            </a:r>
            <a:endParaRPr lang="en-US" sz="1550" dirty="0"/>
          </a:p>
        </p:txBody>
      </p:sp>
      <p:sp>
        <p:nvSpPr>
          <p:cNvPr id="32" name="Text 24"/>
          <p:cNvSpPr txBox="1"/>
          <p:nvPr/>
        </p:nvSpPr>
        <p:spPr>
          <a:xfrm>
            <a:off x="8330184" y="4846320"/>
            <a:ext cx="3108960" cy="1051560"/>
          </a:xfrm>
          <a:prstGeom prst="rect">
            <a:avLst/>
          </a:prstGeom>
          <a:noFill/>
          <a:ln/>
        </p:spPr>
        <p:txBody>
          <a:bodyPr wrap="square" lIns="0" tIns="0" rIns="0" bIns="0" rtlCol="0" anchor="t"/>
          <a:lstStyle/>
          <a:p>
            <a:pPr indent="0" marL="0">
              <a:buNone/>
            </a:pPr>
            <a:r>
              <a:rPr lang="en-US" sz="1500" dirty="0">
                <a:solidFill>
                  <a:schemeClr val="tx1"/>
                </a:solidFill>
              </a:rPr>
              <a:t>GitHub Secrets e Variables, .env fora do Git e senha do banco injetada pelo Render.</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777240"/>
          </a:xfrm>
          <a:prstGeom prst="rect">
            <a:avLst/>
          </a:prstGeom>
          <a:noFill/>
          <a:ln/>
        </p:spPr>
        <p:txBody>
          <a:bodyPr wrap="square" lIns="0" tIns="0" rIns="0" bIns="0" rtlCol="0" anchor="ctr"/>
          <a:lstStyle/>
          <a:p>
            <a:pPr algn="l" indent="0" marL="0">
              <a:buNone/>
            </a:pPr>
            <a:r>
              <a:rPr lang="en-US" sz="3000" b="1" dirty="0">
                <a:solidFill>
                  <a:schemeClr val="tx2"/>
                </a:solidFill>
              </a:rPr>
              <a:t>Checklist de entrega</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863840" cy="914400"/>
        </p:xfrm>
        <a:graphic>
          <a:graphicData uri="http://schemas.openxmlformats.org/drawingml/2006/table">
            <a:tbl>
              <a:tblPr/>
              <a:tblGrid>
                <a:gridCol w="6766560"/>
                <a:gridCol w="1097280"/>
              </a:tblGrid>
              <a:tr h="566928">
                <a:tc>
                  <a:txBody>
                    <a:bodyPr/>
                    <a:lstStyle/>
                    <a:p>
                      <a:pPr indent="0" marL="0">
                        <a:buNone/>
                      </a:pPr>
                      <a:r>
                        <a:rPr lang="en-US" sz="1500" b="1" dirty="0">
                          <a:solidFill>
                            <a:schemeClr val="bg1"/>
                          </a:solidFill>
                        </a:rPr>
                        <a:t>Item</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rPr>
                        <a:t>OK</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tx2"/>
                    </a:solidFill>
                  </a:tcPr>
                </a:tc>
              </a:tr>
              <a:tr h="566928">
                <a:tc>
                  <a:txBody>
                    <a:bodyPr/>
                    <a:lstStyle/>
                    <a:p>
                      <a:pPr indent="0" marL="0">
                        <a:buNone/>
                      </a:pPr>
                      <a:r>
                        <a:rPr lang="en-US" sz="1500" dirty="0">
                          <a:solidFill>
                            <a:schemeClr val="tx1"/>
                          </a:solidFill>
                        </a:rPr>
                        <a:t>Projeto compactado em .ZIP com estrutura organizada</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Dockerfile funcional</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docker-compose.yml ou arquivos Kubernetes</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Pipeline com etapas de build, teste e deploy</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README.md com instruções e prints</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Documentação técnica com evidências (PDF ou PPT)</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accent1"/>
                          </a:solidFill>
                        </a:rPr>
                        <a:t>✓</a:t>
                      </a:r>
                      <a:endParaRPr lang="en-US" sz="18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Deploy realizado nos ambientes staging e produção</a:t>
                      </a:r>
                      <a:endParaRPr lang="en-US" sz="15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c>
                  <a:txBody>
                    <a:bodyPr/>
                    <a:lstStyle/>
                    <a:p>
                      <a:pPr algn="ctr" indent="0" marL="0">
                        <a:buNone/>
                      </a:pPr>
                      <a:r>
                        <a:rPr lang="en-US" sz="1800" b="1" dirty="0">
                          <a:solidFill>
                            <a:schemeClr val="accent1"/>
                          </a:solidFill>
                        </a:rPr>
                        <a:t>✓</a:t>
                      </a:r>
                      <a:endParaRPr lang="en-US" sz="1800" dirty="0"/>
                    </a:p>
                  </a:txBody>
                  <a:tcPr marL="137160" marR="137160" marT="54864" marB="54864" anchor="ctr">
                    <a:lnL w="9525" cap="flat" cmpd="sng" algn="ctr">
                      <a:solidFill>
                        <a:srgbClr val="D9E1DC"/>
                      </a:solidFill>
                      <a:prstDash val="solid"/>
                      <a:round/>
                      <a:headEnd type="none" w="med" len="med"/>
                      <a:tailEnd type="none" w="med" len="med"/>
                    </a:lnL>
                    <a:lnR w="9525" cap="flat" cmpd="sng" algn="ctr">
                      <a:solidFill>
                        <a:srgbClr val="D9E1DC"/>
                      </a:solidFill>
                      <a:prstDash val="solid"/>
                      <a:round/>
                      <a:headEnd type="none" w="med" len="med"/>
                      <a:tailEnd type="none" w="med" len="med"/>
                    </a:lnR>
                    <a:lnT w="9525" cap="flat" cmpd="sng" algn="ctr">
                      <a:solidFill>
                        <a:srgbClr val="D9E1DC"/>
                      </a:solidFill>
                      <a:prstDash val="solid"/>
                      <a:round/>
                      <a:headEnd type="none" w="med" len="med"/>
                      <a:tailEnd type="none" w="med" len="med"/>
                    </a:lnT>
                    <a:lnB w="9525" cap="flat" cmpd="sng" algn="ctr">
                      <a:solidFill>
                        <a:srgbClr val="D9E1DC"/>
                      </a:solidFill>
                      <a:prstDash val="solid"/>
                      <a:round/>
                      <a:headEnd type="none" w="med" len="med"/>
                      <a:tailEnd type="none" w="med" len="med"/>
                    </a:lnB>
                    <a:solidFill>
                      <a:schemeClr val="bg2"/>
                    </a:solidFill>
                  </a:tcPr>
                </a:tc>
              </a:tr>
            </a:tbl>
          </a:graphicData>
        </a:graphic>
      </p:graphicFrame>
      <p:sp>
        <p:nvSpPr>
          <p:cNvPr id="4" name="Entrega completa"/>
          <p:cNvSpPr/>
          <p:nvPr/>
        </p:nvSpPr>
        <p:spPr>
          <a:xfrm>
            <a:off x="9189720" y="2148840"/>
            <a:ext cx="1828800" cy="1828800"/>
          </a:xfrm>
          <a:prstGeom prst="ellipse">
            <a:avLst/>
          </a:prstGeom>
          <a:solidFill>
            <a:schemeClr val="accent1"/>
          </a:solidFill>
          <a:ln w="12700">
            <a:solidFill>
              <a:schemeClr val="accent1"/>
            </a:solidFill>
            <a:prstDash val="solid"/>
          </a:ln>
        </p:spPr>
      </p:sp>
      <p:pic>
        <p:nvPicPr>
          <p:cNvPr id="5" name="Entrega completa (ícone)" descr="preencoded.png">    </p:cNvPr>
          <p:cNvPicPr>
            <a:picLocks noChangeAspect="1"/>
          </p:cNvPicPr>
          <p:nvPr/>
        </p:nvPicPr>
        <p:blipFill>
          <a:blip r:embed="rId1"/>
          <a:stretch>
            <a:fillRect/>
          </a:stretch>
        </p:blipFill>
        <p:spPr>
          <a:xfrm>
            <a:off x="9646920" y="2606040"/>
            <a:ext cx="914400" cy="914400"/>
          </a:xfrm>
          <a:prstGeom prst="rect">
            <a:avLst/>
          </a:prstGeom>
        </p:spPr>
      </p:pic>
      <p:sp>
        <p:nvSpPr>
          <p:cNvPr id="6" name="Text 2"/>
          <p:cNvSpPr txBox="1"/>
          <p:nvPr/>
        </p:nvSpPr>
        <p:spPr>
          <a:xfrm>
            <a:off x="8732520" y="4160520"/>
            <a:ext cx="2743200" cy="457200"/>
          </a:xfrm>
          <a:prstGeom prst="rect">
            <a:avLst/>
          </a:prstGeom>
          <a:noFill/>
          <a:ln/>
        </p:spPr>
        <p:txBody>
          <a:bodyPr wrap="square" lIns="0" tIns="0" rIns="0" bIns="0" rtlCol="0" anchor="t"/>
          <a:lstStyle/>
          <a:p>
            <a:pPr algn="ctr" indent="0" marL="0">
              <a:buNone/>
            </a:pPr>
            <a:r>
              <a:rPr lang="en-US" sz="2200" b="1" dirty="0">
                <a:solidFill>
                  <a:schemeClr val="tx2"/>
                </a:solidFill>
              </a:rPr>
              <a:t>7 de 7 itens</a:t>
            </a:r>
            <a:endParaRPr lang="en-US" sz="2200" dirty="0"/>
          </a:p>
        </p:txBody>
      </p:sp>
      <p:sp>
        <p:nvSpPr>
          <p:cNvPr id="7" name="Text 3"/>
          <p:cNvSpPr txBox="1"/>
          <p:nvPr/>
        </p:nvSpPr>
        <p:spPr>
          <a:xfrm>
            <a:off x="8732520" y="4663440"/>
            <a:ext cx="2743200" cy="731520"/>
          </a:xfrm>
          <a:prstGeom prst="rect">
            <a:avLst/>
          </a:prstGeom>
          <a:noFill/>
          <a:ln/>
        </p:spPr>
        <p:txBody>
          <a:bodyPr wrap="square" lIns="0" tIns="0" rIns="0" bIns="0" rtlCol="0" anchor="t"/>
          <a:lstStyle/>
          <a:p>
            <a:pPr algn="ctr" indent="0" marL="0">
              <a:buNone/>
            </a:pPr>
            <a:r>
              <a:rPr lang="en-US" sz="1300" dirty="0">
                <a:solidFill>
                  <a:schemeClr val="accent5"/>
                </a:solidFill>
              </a:rPr>
              <a:t>Arquivos no .zip, README com prints e esta documentação</a:t>
            </a:r>
            <a:endParaRPr lang="en-US" sz="13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5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85800" y="640080"/>
            <a:ext cx="10789920" cy="914400"/>
          </a:xfrm>
          <a:prstGeom prst="rect">
            <a:avLst/>
          </a:prstGeom>
          <a:noFill/>
          <a:ln/>
        </p:spPr>
        <p:txBody>
          <a:bodyPr wrap="square" lIns="0" tIns="0" rIns="0" bIns="0" rtlCol="0" anchor="ctr"/>
          <a:lstStyle/>
          <a:p>
            <a:pPr algn="l" indent="0" marL="0">
              <a:buNone/>
            </a:pPr>
            <a:r>
              <a:rPr lang="en-US" sz="3600" b="1" dirty="0">
                <a:solidFill>
                  <a:schemeClr val="bg1"/>
                </a:solidFill>
              </a:rPr>
              <a:t>Links do projeto</a:t>
            </a:r>
            <a:endParaRPr lang="en-US" sz="3600" dirty="0"/>
          </a:p>
        </p:txBody>
      </p:sp>
      <p:sp>
        <p:nvSpPr>
          <p:cNvPr id="3" name="Repositório"/>
          <p:cNvSpPr/>
          <p:nvPr/>
        </p:nvSpPr>
        <p:spPr>
          <a:xfrm>
            <a:off x="685800" y="1828800"/>
            <a:ext cx="658368" cy="658368"/>
          </a:xfrm>
          <a:prstGeom prst="ellipse">
            <a:avLst/>
          </a:prstGeom>
          <a:solidFill>
            <a:schemeClr val="accent1"/>
          </a:solidFill>
          <a:ln w="12700">
            <a:solidFill>
              <a:schemeClr val="accent1"/>
            </a:solidFill>
            <a:prstDash val="solid"/>
          </a:ln>
        </p:spPr>
      </p:sp>
      <p:pic>
        <p:nvPicPr>
          <p:cNvPr id="4" name="Repositório (ícone)" descr="preencoded.png">    </p:cNvPr>
          <p:cNvPicPr>
            <a:picLocks noChangeAspect="1"/>
          </p:cNvPicPr>
          <p:nvPr/>
        </p:nvPicPr>
        <p:blipFill>
          <a:blip r:embed="rId1"/>
          <a:stretch>
            <a:fillRect/>
          </a:stretch>
        </p:blipFill>
        <p:spPr>
          <a:xfrm>
            <a:off x="850392" y="1993392"/>
            <a:ext cx="329184" cy="329184"/>
          </a:xfrm>
          <a:prstGeom prst="rect">
            <a:avLst/>
          </a:prstGeom>
        </p:spPr>
      </p:pic>
      <p:sp>
        <p:nvSpPr>
          <p:cNvPr id="5" name="Text 2"/>
          <p:cNvSpPr txBox="1"/>
          <p:nvPr/>
        </p:nvSpPr>
        <p:spPr>
          <a:xfrm>
            <a:off x="1554480" y="1810512"/>
            <a:ext cx="6858000" cy="777240"/>
          </a:xfrm>
          <a:prstGeom prst="rect">
            <a:avLst/>
          </a:prstGeom>
          <a:noFill/>
          <a:ln/>
        </p:spPr>
        <p:txBody>
          <a:bodyPr wrap="square" lIns="0" tIns="0" rIns="0" bIns="0" rtlCol="0" anchor="t"/>
          <a:lstStyle/>
          <a:p>
            <a:pPr indent="0" marL="0">
              <a:buNone/>
            </a:pPr>
            <a:r>
              <a:rPr lang="en-US" sz="1800" b="1" dirty="0">
                <a:solidFill>
                  <a:schemeClr val="accent4"/>
                </a:solidFill>
              </a:rPr>
              <a:t>Repositório</a:t>
            </a:r>
            <a:endParaRPr lang="en-US" sz="1400" dirty="0"/>
          </a:p>
          <a:p>
            <a:pPr indent="0" marL="0">
              <a:buNone/>
            </a:pPr>
            <a:r>
              <a:rPr lang="en-US" sz="1500" dirty="0">
                <a:solidFill>
                  <a:schemeClr val="bg1"/>
                </a:solidFill>
                <a:latin typeface="Courier New" pitchFamily="34" charset="0"/>
                <a:ea typeface="Courier New" pitchFamily="34" charset="-122"/>
                <a:cs typeface="Courier New" pitchFamily="34" charset="-120"/>
              </a:rPr>
              <a:t>https://github.com/[PREENCHER]</a:t>
            </a:r>
            <a:endParaRPr lang="en-US" sz="1400" dirty="0"/>
          </a:p>
        </p:txBody>
      </p:sp>
      <p:sp>
        <p:nvSpPr>
          <p:cNvPr id="6" name="Staging"/>
          <p:cNvSpPr/>
          <p:nvPr/>
        </p:nvSpPr>
        <p:spPr>
          <a:xfrm>
            <a:off x="685800" y="2788920"/>
            <a:ext cx="658368" cy="658368"/>
          </a:xfrm>
          <a:prstGeom prst="ellipse">
            <a:avLst/>
          </a:prstGeom>
          <a:solidFill>
            <a:schemeClr val="accent1"/>
          </a:solidFill>
          <a:ln w="12700">
            <a:solidFill>
              <a:schemeClr val="accent1"/>
            </a:solidFill>
            <a:prstDash val="solid"/>
          </a:ln>
        </p:spPr>
      </p:sp>
      <p:pic>
        <p:nvPicPr>
          <p:cNvPr id="7" name="Staging (ícone)" descr="preencoded.png">    </p:cNvPr>
          <p:cNvPicPr>
            <a:picLocks noChangeAspect="1"/>
          </p:cNvPicPr>
          <p:nvPr/>
        </p:nvPicPr>
        <p:blipFill>
          <a:blip r:embed="rId2"/>
          <a:stretch>
            <a:fillRect/>
          </a:stretch>
        </p:blipFill>
        <p:spPr>
          <a:xfrm>
            <a:off x="850392" y="2953512"/>
            <a:ext cx="329184" cy="329184"/>
          </a:xfrm>
          <a:prstGeom prst="rect">
            <a:avLst/>
          </a:prstGeom>
        </p:spPr>
      </p:pic>
      <p:sp>
        <p:nvSpPr>
          <p:cNvPr id="8" name="Text 4"/>
          <p:cNvSpPr txBox="1"/>
          <p:nvPr/>
        </p:nvSpPr>
        <p:spPr>
          <a:xfrm>
            <a:off x="1554480" y="2770632"/>
            <a:ext cx="6858000" cy="777240"/>
          </a:xfrm>
          <a:prstGeom prst="rect">
            <a:avLst/>
          </a:prstGeom>
          <a:noFill/>
          <a:ln/>
        </p:spPr>
        <p:txBody>
          <a:bodyPr wrap="square" lIns="0" tIns="0" rIns="0" bIns="0" rtlCol="0" anchor="t"/>
          <a:lstStyle/>
          <a:p>
            <a:pPr indent="0" marL="0">
              <a:buNone/>
            </a:pPr>
            <a:r>
              <a:rPr lang="en-US" sz="1800" b="1" dirty="0">
                <a:solidFill>
                  <a:schemeClr val="accent4"/>
                </a:solidFill>
              </a:rPr>
              <a:t>Staging</a:t>
            </a:r>
            <a:endParaRPr lang="en-US" sz="1400" dirty="0"/>
          </a:p>
          <a:p>
            <a:pPr indent="0" marL="0">
              <a:buNone/>
            </a:pPr>
            <a:r>
              <a:rPr lang="en-US" sz="1500" dirty="0">
                <a:solidFill>
                  <a:schemeClr val="bg1"/>
                </a:solidFill>
                <a:latin typeface="Courier New" pitchFamily="34" charset="0"/>
                <a:ea typeface="Courier New" pitchFamily="34" charset="-122"/>
                <a:cs typeface="Courier New" pitchFamily="34" charset="-120"/>
              </a:rPr>
              <a:t>https://[PREENCHER].onrender.com</a:t>
            </a:r>
            <a:endParaRPr lang="en-US" sz="1400" dirty="0"/>
          </a:p>
        </p:txBody>
      </p:sp>
      <p:sp>
        <p:nvSpPr>
          <p:cNvPr id="9" name="Produção"/>
          <p:cNvSpPr/>
          <p:nvPr/>
        </p:nvSpPr>
        <p:spPr>
          <a:xfrm>
            <a:off x="685800" y="3749040"/>
            <a:ext cx="658368" cy="658368"/>
          </a:xfrm>
          <a:prstGeom prst="ellipse">
            <a:avLst/>
          </a:prstGeom>
          <a:solidFill>
            <a:schemeClr val="accent1"/>
          </a:solidFill>
          <a:ln w="12700">
            <a:solidFill>
              <a:schemeClr val="accent1"/>
            </a:solidFill>
            <a:prstDash val="solid"/>
          </a:ln>
        </p:spPr>
      </p:sp>
      <p:pic>
        <p:nvPicPr>
          <p:cNvPr id="10" name="Produção (ícone)" descr="preencoded.png">    </p:cNvPr>
          <p:cNvPicPr>
            <a:picLocks noChangeAspect="1"/>
          </p:cNvPicPr>
          <p:nvPr/>
        </p:nvPicPr>
        <p:blipFill>
          <a:blip r:embed="rId3"/>
          <a:stretch>
            <a:fillRect/>
          </a:stretch>
        </p:blipFill>
        <p:spPr>
          <a:xfrm>
            <a:off x="850392" y="3913632"/>
            <a:ext cx="329184" cy="329184"/>
          </a:xfrm>
          <a:prstGeom prst="rect">
            <a:avLst/>
          </a:prstGeom>
        </p:spPr>
      </p:pic>
      <p:sp>
        <p:nvSpPr>
          <p:cNvPr id="11" name="Text 6"/>
          <p:cNvSpPr txBox="1"/>
          <p:nvPr/>
        </p:nvSpPr>
        <p:spPr>
          <a:xfrm>
            <a:off x="1554480" y="3730752"/>
            <a:ext cx="6858000" cy="777240"/>
          </a:xfrm>
          <a:prstGeom prst="rect">
            <a:avLst/>
          </a:prstGeom>
          <a:noFill/>
          <a:ln/>
        </p:spPr>
        <p:txBody>
          <a:bodyPr wrap="square" lIns="0" tIns="0" rIns="0" bIns="0" rtlCol="0" anchor="t"/>
          <a:lstStyle/>
          <a:p>
            <a:pPr indent="0" marL="0">
              <a:buNone/>
            </a:pPr>
            <a:r>
              <a:rPr lang="en-US" sz="1800" b="1" dirty="0">
                <a:solidFill>
                  <a:schemeClr val="accent4"/>
                </a:solidFill>
              </a:rPr>
              <a:t>Produção</a:t>
            </a:r>
            <a:endParaRPr lang="en-US" sz="1400" dirty="0"/>
          </a:p>
          <a:p>
            <a:pPr indent="0" marL="0">
              <a:buNone/>
            </a:pPr>
            <a:r>
              <a:rPr lang="en-US" sz="1500" dirty="0">
                <a:solidFill>
                  <a:schemeClr val="bg1"/>
                </a:solidFill>
                <a:latin typeface="Courier New" pitchFamily="34" charset="0"/>
                <a:ea typeface="Courier New" pitchFamily="34" charset="-122"/>
                <a:cs typeface="Courier New" pitchFamily="34" charset="-120"/>
              </a:rPr>
              <a:t>https://[PREENCHER].onrender.com</a:t>
            </a:r>
            <a:endParaRPr lang="en-US" sz="1400" dirty="0"/>
          </a:p>
        </p:txBody>
      </p:sp>
      <p:sp>
        <p:nvSpPr>
          <p:cNvPr id="12" name="Swagger"/>
          <p:cNvSpPr/>
          <p:nvPr/>
        </p:nvSpPr>
        <p:spPr>
          <a:xfrm>
            <a:off x="685800" y="4709160"/>
            <a:ext cx="658368" cy="658368"/>
          </a:xfrm>
          <a:prstGeom prst="ellipse">
            <a:avLst/>
          </a:prstGeom>
          <a:solidFill>
            <a:schemeClr val="accent1"/>
          </a:solidFill>
          <a:ln w="12700">
            <a:solidFill>
              <a:schemeClr val="accent1"/>
            </a:solidFill>
            <a:prstDash val="solid"/>
          </a:ln>
        </p:spPr>
      </p:sp>
      <p:pic>
        <p:nvPicPr>
          <p:cNvPr id="13" name="Swagger (ícone)" descr="preencoded.png">    </p:cNvPr>
          <p:cNvPicPr>
            <a:picLocks noChangeAspect="1"/>
          </p:cNvPicPr>
          <p:nvPr/>
        </p:nvPicPr>
        <p:blipFill>
          <a:blip r:embed="rId4"/>
          <a:stretch>
            <a:fillRect/>
          </a:stretch>
        </p:blipFill>
        <p:spPr>
          <a:xfrm>
            <a:off x="850392" y="4873752"/>
            <a:ext cx="329184" cy="329184"/>
          </a:xfrm>
          <a:prstGeom prst="rect">
            <a:avLst/>
          </a:prstGeom>
        </p:spPr>
      </p:pic>
      <p:sp>
        <p:nvSpPr>
          <p:cNvPr id="14" name="Text 8"/>
          <p:cNvSpPr txBox="1"/>
          <p:nvPr/>
        </p:nvSpPr>
        <p:spPr>
          <a:xfrm>
            <a:off x="1554480" y="4690872"/>
            <a:ext cx="6858000" cy="777240"/>
          </a:xfrm>
          <a:prstGeom prst="rect">
            <a:avLst/>
          </a:prstGeom>
          <a:noFill/>
          <a:ln/>
        </p:spPr>
        <p:txBody>
          <a:bodyPr wrap="square" lIns="0" tIns="0" rIns="0" bIns="0" rtlCol="0" anchor="t"/>
          <a:lstStyle/>
          <a:p>
            <a:pPr indent="0" marL="0">
              <a:buNone/>
            </a:pPr>
            <a:r>
              <a:rPr lang="en-US" sz="1800" b="1" dirty="0">
                <a:solidFill>
                  <a:schemeClr val="accent4"/>
                </a:solidFill>
              </a:rPr>
              <a:t>Swagger</a:t>
            </a:r>
            <a:endParaRPr lang="en-US" sz="1400" dirty="0"/>
          </a:p>
          <a:p>
            <a:pPr indent="0" marL="0">
              <a:buNone/>
            </a:pPr>
            <a:r>
              <a:rPr lang="en-US" sz="1500" dirty="0">
                <a:solidFill>
                  <a:schemeClr val="bg1"/>
                </a:solidFill>
                <a:latin typeface="Courier New" pitchFamily="34" charset="0"/>
                <a:ea typeface="Courier New" pitchFamily="34" charset="-122"/>
                <a:cs typeface="Courier New" pitchFamily="34" charset="-120"/>
              </a:rPr>
              <a:t>&lt;url-do-ambiente&gt;/swagger-ui.html</a:t>
            </a:r>
            <a:endParaRPr lang="en-US" sz="1400" dirty="0"/>
          </a:p>
        </p:txBody>
      </p:sp>
      <p:sp>
        <p:nvSpPr>
          <p:cNvPr id="15" name="Text 9"/>
          <p:cNvSpPr txBox="1"/>
          <p:nvPr/>
        </p:nvSpPr>
        <p:spPr>
          <a:xfrm>
            <a:off x="7863840" y="4206240"/>
            <a:ext cx="3840480" cy="1645920"/>
          </a:xfrm>
          <a:prstGeom prst="rect">
            <a:avLst/>
          </a:prstGeom>
          <a:noFill/>
          <a:ln/>
        </p:spPr>
        <p:txBody>
          <a:bodyPr wrap="square" lIns="0" tIns="0" rIns="0" bIns="0" rtlCol="0" anchor="t"/>
          <a:lstStyle/>
          <a:p>
            <a:pPr algn="r" indent="0" marL="0">
              <a:buNone/>
            </a:pPr>
            <a:r>
              <a:rPr lang="en-US" sz="4000" b="1" dirty="0">
                <a:solidFill>
                  <a:schemeClr val="bg1"/>
                </a:solidFill>
              </a:rPr>
              <a:t>Obrigado!</a:t>
            </a:r>
            <a:endParaRPr lang="en-US" sz="1400" dirty="0"/>
          </a:p>
          <a:p>
            <a:pPr algn="r" indent="0" marL="0">
              <a:buNone/>
            </a:pPr>
            <a:r>
              <a:rPr lang="en-US" sz="1600" dirty="0">
                <a:solidFill>
                  <a:schemeClr val="bg2"/>
                </a:solidFill>
              </a:rPr>
              <a:t>Julha Almeida Araujo, RM 562697</a:t>
            </a:r>
            <a:endParaRPr lang="en-US" sz="1400" dirty="0"/>
          </a:p>
          <a:p>
            <a:pPr algn="r" indent="0" marL="0">
              <a:buNone/>
            </a:pPr>
            <a:r>
              <a:rPr lang="en-US" sz="1600" dirty="0">
                <a:solidFill>
                  <a:schemeClr val="bg2"/>
                </a:solidFill>
              </a:rPr>
              <a:t>Walter Seixas Nogueira, RM 565533</a:t>
            </a:r>
            <a:endParaRPr lang="en-US" sz="1400" dirty="0"/>
          </a:p>
        </p:txBody>
      </p:sp>
    </p:spTree>
  </p:cSld>
  <p:clrMapOvr>
    <a:masterClrMapping/>
  </p:clrMapOvr>
</p:sld>
</file>

<file path=ppt/theme/theme1.xml><?xml version="1.0" encoding="utf-8"?>
<a:theme xmlns:a="http://schemas.openxmlformats.org/drawingml/2006/main" name="Cidades ESG">
  <a:themeElements>
    <a:clrScheme name="Cidades ESG">
      <a:dk1>
        <a:srgbClr val="18241E"/>
      </a:dk1>
      <a:lt1>
        <a:srgbClr val="FFFFFF"/>
      </a:lt1>
      <a:dk2>
        <a:srgbClr val="173D2C"/>
      </a:dk2>
      <a:lt2>
        <a:srgbClr val="F3F6F4"/>
      </a:lt2>
      <a:accent1>
        <a:srgbClr val="2E8A57"/>
      </a:accent1>
      <a:accent2>
        <a:srgbClr val="C98A17"/>
      </a:accent2>
      <a:accent3>
        <a:srgbClr val="2F62B3"/>
      </a:accent3>
      <a:accent4>
        <a:srgbClr val="F2B632"/>
      </a:accent4>
      <a:accent5>
        <a:srgbClr val="4A5852"/>
      </a:accent5>
      <a:accent6>
        <a:srgbClr val="D9E1DC"/>
      </a:accent6>
      <a:hlink>
        <a:srgbClr val="2F62B3"/>
      </a:hlink>
      <a:folHlink>
        <a:srgbClr val="4A5852"/>
      </a:folHlink>
    </a:clrScheme>
    <a:fontScheme name="Cidades ES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Cidades ESG Inteligentes - Documentação técnica de DevOps</dc:title>
  <dc:subject>Pipeline CI/CD, Docker e deploy em staging e produção</dc:subject>
  <dc:creator>Julha Almeida Araujo e Walter Seixas Nogueira</dc:creator>
  <cp:lastModifiedBy>Julha Almeida Araujo e Walter Seixas Nogueira</cp:lastModifiedBy>
  <cp:revision>1</cp:revision>
  <dcterms:created xsi:type="dcterms:W3CDTF">2026-10-07T00:39:12Z</dcterms:created>
  <dcterms:modified xsi:type="dcterms:W3CDTF">2026-10-07T00:39:12Z</dcterms:modified>
</cp:coreProperties>
</file>